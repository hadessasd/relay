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8" r:id="rId4"/>
  </p:sldMasterIdLst>
  <p:notesMasterIdLst>
    <p:notesMasterId r:id="rId30"/>
  </p:notesMasterIdLst>
  <p:handoutMasterIdLst>
    <p:handoutMasterId r:id="rId31"/>
  </p:handoutMasterIdLst>
  <p:sldIdLst>
    <p:sldId id="256" r:id="rId5"/>
    <p:sldId id="259" r:id="rId6"/>
    <p:sldId id="271" r:id="rId7"/>
    <p:sldId id="272" r:id="rId8"/>
    <p:sldId id="273" r:id="rId9"/>
    <p:sldId id="274" r:id="rId10"/>
    <p:sldId id="279" r:id="rId11"/>
    <p:sldId id="275" r:id="rId12"/>
    <p:sldId id="276" r:id="rId13"/>
    <p:sldId id="277" r:id="rId14"/>
    <p:sldId id="278" r:id="rId15"/>
    <p:sldId id="292" r:id="rId16"/>
    <p:sldId id="283" r:id="rId17"/>
    <p:sldId id="284" r:id="rId18"/>
    <p:sldId id="285" r:id="rId19"/>
    <p:sldId id="286" r:id="rId20"/>
    <p:sldId id="293" r:id="rId21"/>
    <p:sldId id="287" r:id="rId22"/>
    <p:sldId id="295" r:id="rId23"/>
    <p:sldId id="294" r:id="rId24"/>
    <p:sldId id="288" r:id="rId25"/>
    <p:sldId id="289" r:id="rId26"/>
    <p:sldId id="290" r:id="rId27"/>
    <p:sldId id="291" r:id="rId28"/>
    <p:sldId id="264" r:id="rId29"/>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CC"/>
    <a:srgbClr val="CCECFF"/>
    <a:srgbClr val="FFA3A3"/>
    <a:srgbClr val="FFD961"/>
    <a:srgbClr val="0024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 dt="2026-08-27T06:12:25.438"/>
    <p1510:client id="{22A45F8D-EB79-D608-A646-A919AF56413B}" v="7" dt="2026-08-27T06:11:59.333"/>
    <p1510:client id="{42970614-B8EA-D5EA-8348-7246F41DE8FA}" v="10" dt="2026-08-27T06:47:47.490"/>
  </p1510:revLst>
</p1510:revInfo>
</file>

<file path=ppt/tableStyles.xml><?xml version="1.0" encoding="utf-8"?>
<a:tblStyleLst xmlns:a="http://schemas.openxmlformats.org/drawingml/2006/main" def="{0505E3EF-67EA-436B-97B2-0124C06EBD24}">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B969E9E-5433-364A-AE80-1AEC5AC7B265}"/>
              </a:ext>
            </a:extLst>
          </p:cNvPr>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solidFill>
                <a:srgbClr val="00249C"/>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3" name="Date Placeholder 2">
            <a:extLst>
              <a:ext uri="{FF2B5EF4-FFF2-40B4-BE49-F238E27FC236}">
                <a16:creationId xmlns:a16="http://schemas.microsoft.com/office/drawing/2014/main" id="{17FB94F6-AD3A-DE43-A130-ABEDB7411373}"/>
              </a:ext>
            </a:extLst>
          </p:cNvPr>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A4057279-2CEF-B646-900B-3D01BA9036F1}" type="datetimeFigureOut">
              <a:rPr lang="en-US" smtClean="0">
                <a:solidFill>
                  <a:srgbClr val="00249C"/>
                </a:solidFill>
                <a:latin typeface="Arial" panose="020B0604020202020204" pitchFamily="34" charset="0"/>
                <a:cs typeface="Arial" panose="020B0604020202020204" pitchFamily="34" charset="0"/>
              </a:rPr>
              <a:t>9/21/2026</a:t>
            </a:fld>
            <a:endParaRPr lang="en-US">
              <a:solidFill>
                <a:srgbClr val="00249C"/>
              </a:solidFill>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C7623312-A5A2-1A4D-85A9-CEEBEFBCC7FB}"/>
              </a:ext>
            </a:extLst>
          </p:cNvPr>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solidFill>
                <a:srgbClr val="00249C"/>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D3B48DEE-CFA9-F64D-A0B6-2206F0F80A9A}"/>
              </a:ext>
            </a:extLst>
          </p:cNvPr>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72104271-2E06-FD46-BD0C-7CEC57662AAF}" type="slidenum">
              <a:rPr lang="en-US" smtClean="0">
                <a:solidFill>
                  <a:srgbClr val="00249C"/>
                </a:solidFill>
                <a:latin typeface="Arial" panose="020B0604020202020204" pitchFamily="34" charset="0"/>
                <a:cs typeface="Arial" panose="020B0604020202020204" pitchFamily="34" charset="0"/>
              </a:rPr>
              <a:t>‹#›</a:t>
            </a:fld>
            <a:endParaRPr lang="en-US">
              <a:solidFill>
                <a:srgbClr val="00249C"/>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46169130"/>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27T06:48:31.79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7401 15310 0 0 0,'7'-64'0'0'0,"2"-99"0"0"0,0-105 0 0 0,-3-71 0 0 0,-1-28 0 0 0,-15 10 0 0 0,-33 44 0 0 0,-40 57 0 0 0,-35 56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27T06:48:31.79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14407 1720 0 0 0,'0'0'0'0'0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27T06:48:31.79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14592 1667 0 0 0,'0'0'0'0'0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27T06:48:31.80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14790 1918 0 0 0,'0'0'0'0'0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27T06:48:31.80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14856 1852 0 0 0,'0'0'0'0'0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27T06:48:31.80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14340 2090 0 0 0,'0'0'0'0'0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27T06:48:31.80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12029 11284 0 0 0,'-17'64'0'0'0,"-5"38"0"0"0,0 18 0 0 0,2 6 0 0 0,3 2 0 0 0,5 2 0 0 0,5 3 0 0 0,3 5 0 0 0,2 10 0 0 0,2 14 0 0 0,4 15 0 0 0,1 12 0 0 0,0 8 0 0 0,0 10 0 0 0,-2 0 0 0 0,-2-8 0 0 0,0-11 0 0 0,-7-14 0 0 0,-6-23 0 0 0,-5-27 0 0 0,-2-28 0 0 0,2-27 0 0 0,17-25 0 0 0,22-20 0 0 0,28-14 0 0 0,25-13 0 0 0,27-18 0 0 0,29-20 0 0 0,21-16 0 0 0,13-11 0 0 0,6-12 0 0 0,-5-6 0 0 0,-2-14 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27T06:48:31.80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4749 9323 3932 0 0,'10'0'0'0'0,"11"0"0"0"0,4-7 0 0 0,-2-12 0 0 0,-1-16 0 0 0,-1-20 0 0 0,-1-13 0 0 0,3-12 0 0 0,-30 85 0 0 0,-6 41 0 0 0,2 7 0 0 0,3-17 0 0 0,6-27 0 0 0,7-32 0 0 0,6-25 0 0 0,8-23 0 0 0,3-11 0 0 0,6-9 0 0 0,4-3 0 0 0,4 2 0 0 0,2 3 0 0 0,1 2 0 0 0,2 7 0 0 0,-1 3 0 0 0,1 5 0 0 0,-1 4 0 0 0,0 1 0 0 0,0 1 0 0 0,0 2 0 0 0,-1 2 0 0 0,1 4 0 0 0,-1 3 0 0 0,1 3 0 0 0,0 1 0 0 0,-1 5 0 0 0,1 4 0 0 0,-4 6 0 0 0,-5 9 0 0 0,-3 6 0 0 0,-4 6 0 0 0,-2 6 0 0 0,-6 7 0 0 0,-4 9 0 0 0,-2 5 0 0 0,-2 8 0 0 0,-3 10 0 0 0,-5 14 0 0 0,-6 16 0 0 0,-6 15 0 0 0,-4 18 0 0 0,-2 13 0 0 0,-2 6 0 0 0,-4 4 0 0 0,-2 2 0 0 0,1-2 0 0 0,1-4 0 0 0,5-7 0 0 0,1-9 0 0 0,5-13 0 0 0,4-14 0 0 0,4-16 0 0 0,3-10 0 0 0,1-29 0 0 0,1-10 0 0 0,1-3 0 0 0,0 6 0 0 0,3 1 0 0 0,1-4 0 0 0,3-6 0 0 0,-7 4 0 0 0,1 2 0 0 0,-1-3 0 0 0,3-6 0 0 0,0-4 0 0 0,8-5 0 0 0,3-7 0 0 0,4-9 0 0 0,-15 20 0 0 0,-2 9 0 0 0,2-3 0 0 0,5-10 0 0 0,6-17 0 0 0,8-16 0 0 0,10-17 0 0 0,6-14 0 0 0,-27 53 0 0 0,-8 17 0 0 0,4-7 0 0 0,8-17 0 0 0,11-20 0 0 0,8-16 0 0 0,9-11 0 0 0,2-11 0 0 0,-29 58 0 0 0,-11 21 0 0 0,3-5 0 0 0,7-16 0 0 0,11-20 0 0 0,11-21 0 0 0,9-11 0 0 0,7-6 0 0 0,4 0 0 0 0,-1 5 0 0 0,0 7 0 0 0,0 6 0 0 0,-6 12 0 0 0,-5 14 0 0 0,-7 10 0 0 0,-7 12 0 0 0,-5 6 0 0 0,-1 7 0 0 0,-1 5 0 0 0,-2 3 0 0 0,-1 2 0 0 0,-4 6 0 0 0,-6 4 0 0 0,-8 4 0 0 0,-11 0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a:solidFill>
            <a:schemeClr val="bg1"/>
          </a:solidFill>
        </p:spPr>
        <p:txBody>
          <a:bodyPr vert="horz" lIns="91440" tIns="45720" rIns="91440" bIns="45720" rtlCol="0"/>
          <a:lstStyle>
            <a:lvl1pPr algn="l">
              <a:defRPr sz="1200" b="0" i="0">
                <a:solidFill>
                  <a:srgbClr val="00249C"/>
                </a:solidFill>
                <a:latin typeface="Arial" panose="020B0604020202020204" pitchFamily="34" charset="0"/>
                <a:cs typeface="Arial" panose="020B0604020202020204" pitchFamily="34" charset="0"/>
              </a:defRPr>
            </a:lvl1pPr>
          </a:lstStyle>
          <a:p>
            <a:endParaRPr lang="en-US"/>
          </a:p>
        </p:txBody>
      </p:sp>
      <p:sp>
        <p:nvSpPr>
          <p:cNvPr id="3" name="Date Placeholder 2"/>
          <p:cNvSpPr>
            <a:spLocks noGrp="1"/>
          </p:cNvSpPr>
          <p:nvPr>
            <p:ph type="dt" idx="1"/>
          </p:nvPr>
        </p:nvSpPr>
        <p:spPr>
          <a:xfrm>
            <a:off x="5179484" y="0"/>
            <a:ext cx="3962400" cy="344091"/>
          </a:xfrm>
          <a:prstGeom prst="rect">
            <a:avLst/>
          </a:prstGeom>
          <a:solidFill>
            <a:schemeClr val="bg1"/>
          </a:solidFill>
        </p:spPr>
        <p:txBody>
          <a:bodyPr vert="horz" lIns="91440" tIns="45720" rIns="91440" bIns="45720" rtlCol="0"/>
          <a:lstStyle>
            <a:lvl1pPr algn="r">
              <a:defRPr sz="1200" b="0" i="0">
                <a:solidFill>
                  <a:srgbClr val="00249C"/>
                </a:solidFill>
                <a:latin typeface="Arial" panose="020B0604020202020204" pitchFamily="34" charset="0"/>
                <a:cs typeface="Arial" panose="020B0604020202020204" pitchFamily="34" charset="0"/>
              </a:defRPr>
            </a:lvl1pPr>
          </a:lstStyle>
          <a:p>
            <a:fld id="{26555DB0-BC7F-2748-B071-F07DB245AC5C}" type="datetimeFigureOut">
              <a:rPr lang="en-US" smtClean="0"/>
              <a:pPr/>
              <a:t>9/21/2026</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492698"/>
            <a:ext cx="7315200" cy="270033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a:solidFill>
            <a:schemeClr val="bg1"/>
          </a:solidFill>
        </p:spPr>
        <p:txBody>
          <a:bodyPr vert="horz" lIns="91440" tIns="45720" rIns="91440" bIns="45720" rtlCol="0" anchor="b"/>
          <a:lstStyle>
            <a:lvl1pPr algn="l">
              <a:defRPr sz="1200">
                <a:solidFill>
                  <a:srgbClr val="00249C"/>
                </a:solidFill>
                <a:latin typeface="Arial" panose="020B0604020202020204" pitchFamily="34" charset="0"/>
                <a:cs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a:solidFill>
            <a:schemeClr val="bg1"/>
          </a:solidFill>
        </p:spPr>
        <p:txBody>
          <a:bodyPr vert="horz" lIns="91440" tIns="45720" rIns="91440" bIns="45720" rtlCol="0" anchor="b"/>
          <a:lstStyle>
            <a:lvl1pPr algn="r">
              <a:defRPr sz="1200" b="0" i="0">
                <a:solidFill>
                  <a:srgbClr val="00249C"/>
                </a:solidFill>
                <a:latin typeface="Arial" panose="020B0604020202020204" pitchFamily="34" charset="0"/>
                <a:cs typeface="Arial" panose="020B0604020202020204" pitchFamily="34" charset="0"/>
              </a:defRPr>
            </a:lvl1pPr>
          </a:lstStyle>
          <a:p>
            <a:fld id="{57753AD3-AB46-6045-9BA1-BBC278F09B8C}" type="slidenum">
              <a:rPr lang="en-US" smtClean="0"/>
              <a:pPr/>
              <a:t>‹#›</a:t>
            </a:fld>
            <a:endParaRPr lang="en-US"/>
          </a:p>
        </p:txBody>
      </p:sp>
    </p:spTree>
    <p:extLst>
      <p:ext uri="{BB962C8B-B14F-4D97-AF65-F5344CB8AC3E}">
        <p14:creationId xmlns:p14="http://schemas.microsoft.com/office/powerpoint/2010/main" val="1655833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rgbClr val="00249C"/>
        </a:solidFill>
        <a:latin typeface="Arial" panose="020B0604020202020204" pitchFamily="34" charset="0"/>
        <a:ea typeface="+mn-ea"/>
        <a:cs typeface="Arial" panose="020B0604020202020204" pitchFamily="34" charset="0"/>
      </a:defRPr>
    </a:lvl1pPr>
    <a:lvl2pPr marL="457200" algn="l" defTabSz="914400" rtl="0" eaLnBrk="1" latinLnBrk="0" hangingPunct="1">
      <a:defRPr sz="1200" kern="1200">
        <a:solidFill>
          <a:srgbClr val="00249C"/>
        </a:solidFill>
        <a:latin typeface="Arial" panose="020B0604020202020204" pitchFamily="34" charset="0"/>
        <a:ea typeface="+mn-ea"/>
        <a:cs typeface="Arial" panose="020B0604020202020204" pitchFamily="34" charset="0"/>
      </a:defRPr>
    </a:lvl2pPr>
    <a:lvl3pPr marL="914400" algn="l" defTabSz="914400" rtl="0" eaLnBrk="1" latinLnBrk="0" hangingPunct="1">
      <a:defRPr sz="1200" kern="1200">
        <a:solidFill>
          <a:srgbClr val="00249C"/>
        </a:solidFill>
        <a:latin typeface="Arial" panose="020B0604020202020204" pitchFamily="34" charset="0"/>
        <a:ea typeface="+mn-ea"/>
        <a:cs typeface="Arial" panose="020B0604020202020204" pitchFamily="34" charset="0"/>
      </a:defRPr>
    </a:lvl3pPr>
    <a:lvl4pPr marL="1371600" algn="l" defTabSz="914400" rtl="0" eaLnBrk="1" latinLnBrk="0" hangingPunct="1">
      <a:defRPr sz="1200" kern="1200">
        <a:solidFill>
          <a:srgbClr val="00249C"/>
        </a:solidFill>
        <a:latin typeface="Arial" panose="020B0604020202020204" pitchFamily="34" charset="0"/>
        <a:ea typeface="+mn-ea"/>
        <a:cs typeface="Arial" panose="020B0604020202020204" pitchFamily="34" charset="0"/>
      </a:defRPr>
    </a:lvl4pPr>
    <a:lvl5pPr marL="1828800" algn="l" defTabSz="914400" rtl="0" eaLnBrk="1" latinLnBrk="0" hangingPunct="1">
      <a:defRPr sz="1200" kern="1200">
        <a:solidFill>
          <a:srgbClr val="00249C"/>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4.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4.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4.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7.jpeg"/><Relationship Id="rId1" Type="http://schemas.openxmlformats.org/officeDocument/2006/relationships/slideMaster" Target="../slideMasters/slideMaster1.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evider Slides for Sessio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70734C94-E5A8-F84D-A000-4D877B9CC8C2}"/>
              </a:ext>
            </a:extLst>
          </p:cNvPr>
          <p:cNvSpPr>
            <a:spLocks noGrp="1"/>
          </p:cNvSpPr>
          <p:nvPr>
            <p:ph type="ctrTitle" hasCustomPrompt="1"/>
          </p:nvPr>
        </p:nvSpPr>
        <p:spPr>
          <a:xfrm>
            <a:off x="957273" y="3713060"/>
            <a:ext cx="9143999" cy="1006475"/>
          </a:xfrm>
          <a:prstGeom prst="rect">
            <a:avLst/>
          </a:prstGeom>
        </p:spPr>
        <p:txBody>
          <a:bodyPr anchor="t" anchorCtr="0"/>
          <a:lstStyle>
            <a:lvl1pPr algn="l">
              <a:defRPr sz="4500" b="1">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Session title style</a:t>
            </a:r>
          </a:p>
        </p:txBody>
      </p:sp>
      <p:pic>
        <p:nvPicPr>
          <p:cNvPr id="25" name="Graphic 24">
            <a:extLst>
              <a:ext uri="{FF2B5EF4-FFF2-40B4-BE49-F238E27FC236}">
                <a16:creationId xmlns:a16="http://schemas.microsoft.com/office/drawing/2014/main" id="{4E4DC168-AD7A-524E-9D94-2B3F22C5AB1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88949" y="2051"/>
            <a:ext cx="236191" cy="6858000"/>
          </a:xfrm>
          <a:prstGeom prst="rect">
            <a:avLst/>
          </a:prstGeom>
        </p:spPr>
      </p:pic>
      <p:pic>
        <p:nvPicPr>
          <p:cNvPr id="26" name="Graphic 25">
            <a:extLst>
              <a:ext uri="{FF2B5EF4-FFF2-40B4-BE49-F238E27FC236}">
                <a16:creationId xmlns:a16="http://schemas.microsoft.com/office/drawing/2014/main" id="{8421EEAF-DF6B-B045-AEFE-F3CF6D659E5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50206" y="250603"/>
            <a:ext cx="313679" cy="329298"/>
          </a:xfrm>
          <a:prstGeom prst="rect">
            <a:avLst/>
          </a:prstGeom>
        </p:spPr>
      </p:pic>
      <p:sp>
        <p:nvSpPr>
          <p:cNvPr id="28" name="Text Placeholder 27">
            <a:extLst>
              <a:ext uri="{FF2B5EF4-FFF2-40B4-BE49-F238E27FC236}">
                <a16:creationId xmlns:a16="http://schemas.microsoft.com/office/drawing/2014/main" id="{65C43E3D-0D26-234A-9592-5DAA63D12695}"/>
              </a:ext>
            </a:extLst>
          </p:cNvPr>
          <p:cNvSpPr>
            <a:spLocks noGrp="1"/>
          </p:cNvSpPr>
          <p:nvPr>
            <p:ph type="body" sz="quarter" idx="10" hasCustomPrompt="1"/>
          </p:nvPr>
        </p:nvSpPr>
        <p:spPr>
          <a:xfrm>
            <a:off x="957263" y="2962275"/>
            <a:ext cx="8056562" cy="395288"/>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500">
                <a:solidFill>
                  <a:schemeClr val="accent6"/>
                </a:solidFill>
              </a:defRPr>
            </a:lvl1pPr>
          </a:lstStyle>
          <a:p>
            <a:pPr lvl="0"/>
            <a:r>
              <a:rPr lang="en-US"/>
              <a:t>Click to edit Session Details</a:t>
            </a:r>
          </a:p>
          <a:p>
            <a:pPr lvl="0"/>
            <a:endParaRPr lang="en-AE"/>
          </a:p>
        </p:txBody>
      </p:sp>
    </p:spTree>
    <p:extLst>
      <p:ext uri="{BB962C8B-B14F-4D97-AF65-F5344CB8AC3E}">
        <p14:creationId xmlns:p14="http://schemas.microsoft.com/office/powerpoint/2010/main" val="2719560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and Title for the Presentation#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Date Placeholder 8">
            <a:extLst>
              <a:ext uri="{FF2B5EF4-FFF2-40B4-BE49-F238E27FC236}">
                <a16:creationId xmlns:a16="http://schemas.microsoft.com/office/drawing/2014/main" id="{2CFC90AB-DF59-D34A-9818-151D5C1D9CEE}"/>
              </a:ext>
            </a:extLst>
          </p:cNvPr>
          <p:cNvSpPr>
            <a:spLocks noGrp="1"/>
          </p:cNvSpPr>
          <p:nvPr>
            <p:ph type="dt" sz="half" idx="10"/>
          </p:nvPr>
        </p:nvSpPr>
        <p:spPr>
          <a:xfrm>
            <a:off x="955675" y="5981617"/>
            <a:ext cx="3138522" cy="365125"/>
          </a:xfrm>
        </p:spPr>
        <p:txBody>
          <a:bodyPr/>
          <a:lstStyle>
            <a:lvl1pPr>
              <a:defRPr sz="1500">
                <a:solidFill>
                  <a:schemeClr val="bg2"/>
                </a:solidFill>
              </a:defRPr>
            </a:lvl1pPr>
          </a:lstStyle>
          <a:p>
            <a:fld id="{9FB76777-9218-4188-BD26-CF1E318BE795}" type="datetime2">
              <a:rPr lang="en-US" smtClean="0"/>
              <a:pPr/>
              <a:t>Monday, September 21, 2026</a:t>
            </a:fld>
            <a:endParaRPr lang="en-AE"/>
          </a:p>
        </p:txBody>
      </p:sp>
      <p:pic>
        <p:nvPicPr>
          <p:cNvPr id="7" name="Graphic 6">
            <a:extLst>
              <a:ext uri="{FF2B5EF4-FFF2-40B4-BE49-F238E27FC236}">
                <a16:creationId xmlns:a16="http://schemas.microsoft.com/office/drawing/2014/main" id="{E0A69106-6879-3A4D-A621-50E8110948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84844" y="351663"/>
            <a:ext cx="3713566" cy="634596"/>
          </a:xfrm>
          <a:prstGeom prst="rect">
            <a:avLst/>
          </a:prstGeom>
        </p:spPr>
      </p:pic>
      <p:sp>
        <p:nvSpPr>
          <p:cNvPr id="8" name="Subtitle 2">
            <a:extLst>
              <a:ext uri="{FF2B5EF4-FFF2-40B4-BE49-F238E27FC236}">
                <a16:creationId xmlns:a16="http://schemas.microsoft.com/office/drawing/2014/main" id="{D8643B33-FF74-2B49-B6EB-01409F1D0D7F}"/>
              </a:ext>
            </a:extLst>
          </p:cNvPr>
          <p:cNvSpPr>
            <a:spLocks noGrp="1"/>
          </p:cNvSpPr>
          <p:nvPr>
            <p:ph type="subTitle" idx="1"/>
          </p:nvPr>
        </p:nvSpPr>
        <p:spPr>
          <a:xfrm>
            <a:off x="955675" y="3945603"/>
            <a:ext cx="9144000" cy="536329"/>
          </a:xfrm>
          <a:prstGeom prst="rect">
            <a:avLst/>
          </a:prstGeom>
        </p:spPr>
        <p:txBody>
          <a:bodyPr/>
          <a:lstStyle>
            <a:lvl1pPr marL="0" indent="0" algn="l">
              <a:buNone/>
              <a:defRPr sz="2500">
                <a:solidFill>
                  <a:schemeClr val="bg1">
                    <a:lumMod val="40000"/>
                    <a:lumOff val="60000"/>
                  </a:schemeClr>
                </a:solidFill>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3" name="Graphic 12">
            <a:extLst>
              <a:ext uri="{FF2B5EF4-FFF2-40B4-BE49-F238E27FC236}">
                <a16:creationId xmlns:a16="http://schemas.microsoft.com/office/drawing/2014/main" id="{8EF5330E-32F1-7B42-BB39-B2FFE8F8788D}"/>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9516979" y="775699"/>
            <a:ext cx="2675021" cy="315139"/>
          </a:xfrm>
          <a:prstGeom prst="rect">
            <a:avLst/>
          </a:prstGeom>
        </p:spPr>
      </p:pic>
      <p:sp>
        <p:nvSpPr>
          <p:cNvPr id="14" name="Title 3">
            <a:extLst>
              <a:ext uri="{FF2B5EF4-FFF2-40B4-BE49-F238E27FC236}">
                <a16:creationId xmlns:a16="http://schemas.microsoft.com/office/drawing/2014/main" id="{591BC0ED-3260-F844-B525-B5B4D2CC78D0}"/>
              </a:ext>
            </a:extLst>
          </p:cNvPr>
          <p:cNvSpPr>
            <a:spLocks noGrp="1"/>
          </p:cNvSpPr>
          <p:nvPr>
            <p:ph type="title" hasCustomPrompt="1"/>
          </p:nvPr>
        </p:nvSpPr>
        <p:spPr>
          <a:xfrm>
            <a:off x="955675" y="3126852"/>
            <a:ext cx="9144000" cy="818751"/>
          </a:xfrm>
        </p:spPr>
        <p:txBody>
          <a:bodyPr anchor="t" anchorCtr="0"/>
          <a:lstStyle>
            <a:lvl1pPr algn="l">
              <a:defRPr>
                <a:solidFill>
                  <a:schemeClr val="bg2"/>
                </a:solidFill>
              </a:defRPr>
            </a:lvl1pPr>
          </a:lstStyle>
          <a:p>
            <a:r>
              <a:rPr lang="en-US"/>
              <a:t>Click to edit master title style</a:t>
            </a:r>
          </a:p>
        </p:txBody>
      </p:sp>
    </p:spTree>
    <p:extLst>
      <p:ext uri="{BB962C8B-B14F-4D97-AF65-F5344CB8AC3E}">
        <p14:creationId xmlns:p14="http://schemas.microsoft.com/office/powerpoint/2010/main" val="3133075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over and Title for the Presentation#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Subtitle 2">
            <a:extLst>
              <a:ext uri="{FF2B5EF4-FFF2-40B4-BE49-F238E27FC236}">
                <a16:creationId xmlns:a16="http://schemas.microsoft.com/office/drawing/2014/main" id="{E9241090-81F5-3947-93CB-6896CF7F94E5}"/>
              </a:ext>
            </a:extLst>
          </p:cNvPr>
          <p:cNvSpPr>
            <a:spLocks noGrp="1"/>
          </p:cNvSpPr>
          <p:nvPr>
            <p:ph type="subTitle" idx="1" hasCustomPrompt="1"/>
          </p:nvPr>
        </p:nvSpPr>
        <p:spPr>
          <a:xfrm>
            <a:off x="536339" y="5106074"/>
            <a:ext cx="6971077" cy="698499"/>
          </a:xfrm>
        </p:spPr>
        <p:txBody>
          <a:bodyPr>
            <a:noAutofit/>
          </a:bodyPr>
          <a:lstStyle>
            <a:lvl1pPr marL="0" indent="0" algn="l">
              <a:buNone/>
              <a:defRPr sz="20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12" name="Title 3">
            <a:extLst>
              <a:ext uri="{FF2B5EF4-FFF2-40B4-BE49-F238E27FC236}">
                <a16:creationId xmlns:a16="http://schemas.microsoft.com/office/drawing/2014/main" id="{06DB1578-413F-2C4E-9D70-BBE3D7A5DBD3}"/>
              </a:ext>
            </a:extLst>
          </p:cNvPr>
          <p:cNvSpPr>
            <a:spLocks noGrp="1"/>
          </p:cNvSpPr>
          <p:nvPr>
            <p:ph type="title" hasCustomPrompt="1"/>
          </p:nvPr>
        </p:nvSpPr>
        <p:spPr>
          <a:xfrm>
            <a:off x="536339" y="3607860"/>
            <a:ext cx="5298020" cy="1498214"/>
          </a:xfrm>
        </p:spPr>
        <p:txBody>
          <a:bodyPr/>
          <a:lstStyle>
            <a:lvl1pPr algn="l">
              <a:defRPr>
                <a:solidFill>
                  <a:schemeClr val="tx1"/>
                </a:solidFill>
              </a:defRPr>
            </a:lvl1pPr>
          </a:lstStyle>
          <a:p>
            <a:r>
              <a:rPr lang="en-US"/>
              <a:t>Click to edit master title</a:t>
            </a:r>
          </a:p>
        </p:txBody>
      </p:sp>
      <p:pic>
        <p:nvPicPr>
          <p:cNvPr id="3" name="Graphic 2">
            <a:extLst>
              <a:ext uri="{FF2B5EF4-FFF2-40B4-BE49-F238E27FC236}">
                <a16:creationId xmlns:a16="http://schemas.microsoft.com/office/drawing/2014/main" id="{7B5CCC4E-CABB-0A42-9BDE-60480B081EF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865202" y="927260"/>
            <a:ext cx="3362305" cy="773864"/>
          </a:xfrm>
          <a:prstGeom prst="rect">
            <a:avLst/>
          </a:prstGeom>
        </p:spPr>
      </p:pic>
      <p:sp>
        <p:nvSpPr>
          <p:cNvPr id="10" name="Date Placeholder 8">
            <a:extLst>
              <a:ext uri="{FF2B5EF4-FFF2-40B4-BE49-F238E27FC236}">
                <a16:creationId xmlns:a16="http://schemas.microsoft.com/office/drawing/2014/main" id="{2CFC90AB-DF59-D34A-9818-151D5C1D9CEE}"/>
              </a:ext>
            </a:extLst>
          </p:cNvPr>
          <p:cNvSpPr>
            <a:spLocks noGrp="1"/>
          </p:cNvSpPr>
          <p:nvPr>
            <p:ph type="dt" sz="half" idx="10"/>
          </p:nvPr>
        </p:nvSpPr>
        <p:spPr>
          <a:xfrm>
            <a:off x="536339" y="6029515"/>
            <a:ext cx="3138522" cy="365125"/>
          </a:xfrm>
        </p:spPr>
        <p:txBody>
          <a:bodyPr/>
          <a:lstStyle>
            <a:lvl1pPr>
              <a:defRPr sz="1500">
                <a:solidFill>
                  <a:schemeClr val="accent6">
                    <a:lumMod val="75000"/>
                    <a:lumOff val="25000"/>
                  </a:schemeClr>
                </a:solidFill>
              </a:defRPr>
            </a:lvl1pPr>
          </a:lstStyle>
          <a:p>
            <a:fld id="{9FB76777-9218-4188-BD26-CF1E318BE795}" type="datetime2">
              <a:rPr lang="en-US" smtClean="0"/>
              <a:pPr/>
              <a:t>Monday, September 21, 2026</a:t>
            </a:fld>
            <a:endParaRPr lang="en-AE"/>
          </a:p>
        </p:txBody>
      </p:sp>
      <p:pic>
        <p:nvPicPr>
          <p:cNvPr id="2" name="Graphic 1">
            <a:extLst>
              <a:ext uri="{FF2B5EF4-FFF2-40B4-BE49-F238E27FC236}">
                <a16:creationId xmlns:a16="http://schemas.microsoft.com/office/drawing/2014/main" id="{D866411B-E8FB-84B0-2D85-1A8A4A8B6CCF}"/>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4868" y="506876"/>
            <a:ext cx="2053825" cy="190169"/>
          </a:xfrm>
          <a:prstGeom prst="rect">
            <a:avLst/>
          </a:prstGeom>
        </p:spPr>
      </p:pic>
    </p:spTree>
    <p:extLst>
      <p:ext uri="{BB962C8B-B14F-4D97-AF65-F5344CB8AC3E}">
        <p14:creationId xmlns:p14="http://schemas.microsoft.com/office/powerpoint/2010/main" val="1995310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ver and Title for the Presentation#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Subtitle 2">
            <a:extLst>
              <a:ext uri="{FF2B5EF4-FFF2-40B4-BE49-F238E27FC236}">
                <a16:creationId xmlns:a16="http://schemas.microsoft.com/office/drawing/2014/main" id="{E9241090-81F5-3947-93CB-6896CF7F94E5}"/>
              </a:ext>
            </a:extLst>
          </p:cNvPr>
          <p:cNvSpPr>
            <a:spLocks noGrp="1"/>
          </p:cNvSpPr>
          <p:nvPr>
            <p:ph type="subTitle" idx="1" hasCustomPrompt="1"/>
          </p:nvPr>
        </p:nvSpPr>
        <p:spPr>
          <a:xfrm>
            <a:off x="536339" y="5106074"/>
            <a:ext cx="6971077" cy="698499"/>
          </a:xfrm>
        </p:spPr>
        <p:txBody>
          <a:bodyPr>
            <a:noAutofit/>
          </a:bodyPr>
          <a:lstStyle>
            <a:lvl1pPr marL="0" indent="0" algn="l">
              <a:buNone/>
              <a:defRPr sz="20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12" name="Title 3">
            <a:extLst>
              <a:ext uri="{FF2B5EF4-FFF2-40B4-BE49-F238E27FC236}">
                <a16:creationId xmlns:a16="http://schemas.microsoft.com/office/drawing/2014/main" id="{06DB1578-413F-2C4E-9D70-BBE3D7A5DBD3}"/>
              </a:ext>
            </a:extLst>
          </p:cNvPr>
          <p:cNvSpPr>
            <a:spLocks noGrp="1"/>
          </p:cNvSpPr>
          <p:nvPr>
            <p:ph type="title" hasCustomPrompt="1"/>
          </p:nvPr>
        </p:nvSpPr>
        <p:spPr>
          <a:xfrm>
            <a:off x="536339" y="3607860"/>
            <a:ext cx="5298020" cy="1498214"/>
          </a:xfrm>
        </p:spPr>
        <p:txBody>
          <a:bodyPr/>
          <a:lstStyle>
            <a:lvl1pPr algn="l">
              <a:defRPr>
                <a:solidFill>
                  <a:schemeClr val="tx1"/>
                </a:solidFill>
              </a:defRPr>
            </a:lvl1pPr>
          </a:lstStyle>
          <a:p>
            <a:r>
              <a:rPr lang="en-US"/>
              <a:t>Click to edit master title style</a:t>
            </a:r>
          </a:p>
        </p:txBody>
      </p:sp>
      <p:pic>
        <p:nvPicPr>
          <p:cNvPr id="3" name="Graphic 2">
            <a:extLst>
              <a:ext uri="{FF2B5EF4-FFF2-40B4-BE49-F238E27FC236}">
                <a16:creationId xmlns:a16="http://schemas.microsoft.com/office/drawing/2014/main" id="{7B5CCC4E-CABB-0A42-9BDE-60480B081EF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058490" y="1061074"/>
            <a:ext cx="3362305" cy="773864"/>
          </a:xfrm>
          <a:prstGeom prst="rect">
            <a:avLst/>
          </a:prstGeom>
        </p:spPr>
      </p:pic>
      <p:pic>
        <p:nvPicPr>
          <p:cNvPr id="9" name="Graphic 8">
            <a:extLst>
              <a:ext uri="{FF2B5EF4-FFF2-40B4-BE49-F238E27FC236}">
                <a16:creationId xmlns:a16="http://schemas.microsoft.com/office/drawing/2014/main" id="{7A731196-02F0-084E-A879-3A3165CDCFDF}"/>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0" y="645922"/>
            <a:ext cx="2645701" cy="315139"/>
          </a:xfrm>
          <a:prstGeom prst="rect">
            <a:avLst/>
          </a:prstGeom>
        </p:spPr>
      </p:pic>
      <p:sp>
        <p:nvSpPr>
          <p:cNvPr id="10" name="Date Placeholder 8">
            <a:extLst>
              <a:ext uri="{FF2B5EF4-FFF2-40B4-BE49-F238E27FC236}">
                <a16:creationId xmlns:a16="http://schemas.microsoft.com/office/drawing/2014/main" id="{2CFC90AB-DF59-D34A-9818-151D5C1D9CEE}"/>
              </a:ext>
            </a:extLst>
          </p:cNvPr>
          <p:cNvSpPr>
            <a:spLocks noGrp="1"/>
          </p:cNvSpPr>
          <p:nvPr>
            <p:ph type="dt" sz="half" idx="10"/>
          </p:nvPr>
        </p:nvSpPr>
        <p:spPr>
          <a:xfrm>
            <a:off x="536339" y="6029515"/>
            <a:ext cx="3138522" cy="365125"/>
          </a:xfrm>
        </p:spPr>
        <p:txBody>
          <a:bodyPr/>
          <a:lstStyle>
            <a:lvl1pPr>
              <a:defRPr sz="1500">
                <a:solidFill>
                  <a:schemeClr val="accent6">
                    <a:lumMod val="75000"/>
                    <a:lumOff val="25000"/>
                  </a:schemeClr>
                </a:solidFill>
              </a:defRPr>
            </a:lvl1pPr>
          </a:lstStyle>
          <a:p>
            <a:fld id="{9FB76777-9218-4188-BD26-CF1E318BE795}" type="datetime2">
              <a:rPr lang="en-US" smtClean="0"/>
              <a:pPr/>
              <a:t>Monday, September 21, 2026</a:t>
            </a:fld>
            <a:endParaRPr lang="en-AE"/>
          </a:p>
        </p:txBody>
      </p:sp>
    </p:spTree>
    <p:extLst>
      <p:ext uri="{BB962C8B-B14F-4D97-AF65-F5344CB8AC3E}">
        <p14:creationId xmlns:p14="http://schemas.microsoft.com/office/powerpoint/2010/main" val="3786211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over and Title for the Presentation#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Date Placeholder 8">
            <a:extLst>
              <a:ext uri="{FF2B5EF4-FFF2-40B4-BE49-F238E27FC236}">
                <a16:creationId xmlns:a16="http://schemas.microsoft.com/office/drawing/2014/main" id="{2CFC90AB-DF59-D34A-9818-151D5C1D9CEE}"/>
              </a:ext>
            </a:extLst>
          </p:cNvPr>
          <p:cNvSpPr>
            <a:spLocks noGrp="1"/>
          </p:cNvSpPr>
          <p:nvPr>
            <p:ph type="dt" sz="half" idx="10"/>
          </p:nvPr>
        </p:nvSpPr>
        <p:spPr>
          <a:xfrm>
            <a:off x="956140" y="6029515"/>
            <a:ext cx="3138522" cy="365125"/>
          </a:xfrm>
        </p:spPr>
        <p:txBody>
          <a:bodyPr/>
          <a:lstStyle>
            <a:lvl1pPr>
              <a:defRPr sz="1500">
                <a:solidFill>
                  <a:schemeClr val="bg2"/>
                </a:solidFill>
              </a:defRPr>
            </a:lvl1pPr>
          </a:lstStyle>
          <a:p>
            <a:fld id="{9FB76777-9218-4188-BD26-CF1E318BE795}" type="datetime2">
              <a:rPr lang="en-US" smtClean="0"/>
              <a:pPr/>
              <a:t>Monday, September 21, 2026</a:t>
            </a:fld>
            <a:endParaRPr lang="en-AE"/>
          </a:p>
        </p:txBody>
      </p:sp>
      <p:pic>
        <p:nvPicPr>
          <p:cNvPr id="7" name="Graphic 6">
            <a:extLst>
              <a:ext uri="{FF2B5EF4-FFF2-40B4-BE49-F238E27FC236}">
                <a16:creationId xmlns:a16="http://schemas.microsoft.com/office/drawing/2014/main" id="{194BA4BA-37FC-574C-900D-E42453AEA51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7263" y="2371959"/>
            <a:ext cx="4078511" cy="938705"/>
          </a:xfrm>
          <a:prstGeom prst="rect">
            <a:avLst/>
          </a:prstGeom>
        </p:spPr>
      </p:pic>
      <p:sp>
        <p:nvSpPr>
          <p:cNvPr id="8" name="Title 1">
            <a:extLst>
              <a:ext uri="{FF2B5EF4-FFF2-40B4-BE49-F238E27FC236}">
                <a16:creationId xmlns:a16="http://schemas.microsoft.com/office/drawing/2014/main" id="{81495BEB-EE01-9F40-B42D-981879D2A4C3}"/>
              </a:ext>
            </a:extLst>
          </p:cNvPr>
          <p:cNvSpPr>
            <a:spLocks noGrp="1"/>
          </p:cNvSpPr>
          <p:nvPr>
            <p:ph type="ctrTitle"/>
          </p:nvPr>
        </p:nvSpPr>
        <p:spPr>
          <a:xfrm>
            <a:off x="957273" y="3853125"/>
            <a:ext cx="9143999" cy="660171"/>
          </a:xfrm>
          <a:prstGeom prst="rect">
            <a:avLst/>
          </a:prstGeom>
        </p:spPr>
        <p:txBody>
          <a:bodyPr anchor="t" anchorCtr="0"/>
          <a:lstStyle>
            <a:lvl1pPr algn="l">
              <a:defRPr sz="4500" b="1">
                <a:solidFill>
                  <a:schemeClr val="bg2"/>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p>
        </p:txBody>
      </p:sp>
      <p:pic>
        <p:nvPicPr>
          <p:cNvPr id="13" name="Graphic 12">
            <a:extLst>
              <a:ext uri="{FF2B5EF4-FFF2-40B4-BE49-F238E27FC236}">
                <a16:creationId xmlns:a16="http://schemas.microsoft.com/office/drawing/2014/main" id="{A0FB12DA-53D5-A041-A382-0D8BFE86F8C7}"/>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9516979" y="775699"/>
            <a:ext cx="2675021" cy="315139"/>
          </a:xfrm>
          <a:prstGeom prst="rect">
            <a:avLst/>
          </a:prstGeom>
        </p:spPr>
      </p:pic>
      <p:sp>
        <p:nvSpPr>
          <p:cNvPr id="14" name="Subtitle 2">
            <a:extLst>
              <a:ext uri="{FF2B5EF4-FFF2-40B4-BE49-F238E27FC236}">
                <a16:creationId xmlns:a16="http://schemas.microsoft.com/office/drawing/2014/main" id="{33EBC9D1-1DA5-1B44-9266-C53077B3DFFA}"/>
              </a:ext>
            </a:extLst>
          </p:cNvPr>
          <p:cNvSpPr>
            <a:spLocks noGrp="1"/>
          </p:cNvSpPr>
          <p:nvPr>
            <p:ph type="subTitle" idx="1"/>
          </p:nvPr>
        </p:nvSpPr>
        <p:spPr>
          <a:xfrm>
            <a:off x="956140" y="4519428"/>
            <a:ext cx="9144000" cy="536329"/>
          </a:xfrm>
          <a:prstGeom prst="rect">
            <a:avLst/>
          </a:prstGeom>
        </p:spPr>
        <p:txBody>
          <a:bodyPr/>
          <a:lstStyle>
            <a:lvl1pPr marL="0" indent="0" algn="l">
              <a:buNone/>
              <a:defRPr sz="2500">
                <a:solidFill>
                  <a:schemeClr val="bg1">
                    <a:lumMod val="40000"/>
                    <a:lumOff val="60000"/>
                  </a:schemeClr>
                </a:solidFill>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051230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Slide  Option#1 with Image">
    <p:bg>
      <p:bgPr>
        <a:solidFill>
          <a:schemeClr val="bg2"/>
        </a:solidFill>
        <a:effectLst/>
      </p:bgPr>
    </p:bg>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26908BEE-A825-DA40-9969-1B02C84DEF7A}"/>
              </a:ext>
            </a:extLst>
          </p:cNvPr>
          <p:cNvSpPr>
            <a:spLocks noGrp="1"/>
          </p:cNvSpPr>
          <p:nvPr>
            <p:ph type="title" hasCustomPrompt="1"/>
          </p:nvPr>
        </p:nvSpPr>
        <p:spPr>
          <a:xfrm>
            <a:off x="704800" y="1207003"/>
            <a:ext cx="5874026" cy="557061"/>
          </a:xfrm>
        </p:spPr>
        <p:txBody>
          <a:bodyPr anchor="t">
            <a:normAutofit/>
          </a:bodyPr>
          <a:lstStyle>
            <a:lvl1pPr>
              <a:defRPr sz="3000">
                <a:solidFill>
                  <a:schemeClr val="tx1"/>
                </a:solidFill>
              </a:defRPr>
            </a:lvl1pPr>
          </a:lstStyle>
          <a:p>
            <a:r>
              <a:rPr lang="en-US"/>
              <a:t>Click to edit title style</a:t>
            </a:r>
          </a:p>
        </p:txBody>
      </p:sp>
      <p:sp>
        <p:nvSpPr>
          <p:cNvPr id="6" name="Subtitle 2">
            <a:extLst>
              <a:ext uri="{FF2B5EF4-FFF2-40B4-BE49-F238E27FC236}">
                <a16:creationId xmlns:a16="http://schemas.microsoft.com/office/drawing/2014/main" id="{B6746524-6D09-2F49-8A69-4823C3DCCD24}"/>
              </a:ext>
            </a:extLst>
          </p:cNvPr>
          <p:cNvSpPr>
            <a:spLocks noGrp="1"/>
          </p:cNvSpPr>
          <p:nvPr>
            <p:ph type="subTitle" idx="1" hasCustomPrompt="1"/>
          </p:nvPr>
        </p:nvSpPr>
        <p:spPr>
          <a:xfrm>
            <a:off x="5390087" y="314797"/>
            <a:ext cx="6120159" cy="315424"/>
          </a:xfrm>
        </p:spPr>
        <p:txBody>
          <a:bodyPr>
            <a:noAutofit/>
          </a:bodyPr>
          <a:lstStyle>
            <a:lvl1pPr marL="0" indent="0" algn="r">
              <a:buNone/>
              <a:defRPr sz="12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Presentation Title</a:t>
            </a:r>
          </a:p>
        </p:txBody>
      </p:sp>
      <p:sp>
        <p:nvSpPr>
          <p:cNvPr id="7" name="Slide Number Placeholder 6">
            <a:extLst>
              <a:ext uri="{FF2B5EF4-FFF2-40B4-BE49-F238E27FC236}">
                <a16:creationId xmlns:a16="http://schemas.microsoft.com/office/drawing/2014/main" id="{03FFED15-3BC1-9A47-85CA-5740A1734EB2}"/>
              </a:ext>
            </a:extLst>
          </p:cNvPr>
          <p:cNvSpPr txBox="1">
            <a:spLocks/>
          </p:cNvSpPr>
          <p:nvPr userDrawn="1"/>
        </p:nvSpPr>
        <p:spPr>
          <a:xfrm>
            <a:off x="11377612" y="248602"/>
            <a:ext cx="814388" cy="365125"/>
          </a:xfrm>
          <a:prstGeom prst="rect">
            <a:avLst/>
          </a:prstGeom>
          <a:noFill/>
        </p:spPr>
        <p:txBody>
          <a:bodyPr vert="horz" lIns="91440" tIns="45720" rIns="91440" bIns="45720" rtlCol="0" anchor="ctr"/>
          <a:lstStyle>
            <a:defPPr>
              <a:defRPr lang="en-US"/>
            </a:defPPr>
            <a:lvl1pPr marL="0" algn="ctr" defTabSz="914400" rtl="0" eaLnBrk="1" latinLnBrk="0" hangingPunct="1">
              <a:defRPr sz="1600" b="0" i="0" kern="1200">
                <a:solidFill>
                  <a:schemeClr val="bg1"/>
                </a:solidFill>
                <a:latin typeface="Tahoma" panose="020B0604030504040204" pitchFamily="34" charset="0"/>
                <a:ea typeface="Tahoma" panose="020B0604030504040204" pitchFamily="34" charset="0"/>
                <a:cs typeface="Tahom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91C39B3-71BA-C04A-8F90-02179B3D98C0}" type="slidenum">
              <a:rPr lang="en-US" smtClean="0"/>
              <a:pPr/>
              <a:t>‹#›</a:t>
            </a:fld>
            <a:endParaRPr lang="en-US"/>
          </a:p>
        </p:txBody>
      </p:sp>
      <p:pic>
        <p:nvPicPr>
          <p:cNvPr id="9" name="Graphic 8">
            <a:extLst>
              <a:ext uri="{FF2B5EF4-FFF2-40B4-BE49-F238E27FC236}">
                <a16:creationId xmlns:a16="http://schemas.microsoft.com/office/drawing/2014/main" id="{5893B466-AD85-BF49-A335-E853DA6FB0A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001500" y="306705"/>
            <a:ext cx="177800" cy="248920"/>
          </a:xfrm>
          <a:prstGeom prst="rect">
            <a:avLst/>
          </a:prstGeom>
        </p:spPr>
      </p:pic>
      <p:pic>
        <p:nvPicPr>
          <p:cNvPr id="12" name="Graphic 11">
            <a:extLst>
              <a:ext uri="{FF2B5EF4-FFF2-40B4-BE49-F238E27FC236}">
                <a16:creationId xmlns:a16="http://schemas.microsoft.com/office/drawing/2014/main" id="{35B54686-6941-2541-B096-11C08B1BDEA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88949" y="2051"/>
            <a:ext cx="236191" cy="6858000"/>
          </a:xfrm>
          <a:prstGeom prst="rect">
            <a:avLst/>
          </a:prstGeom>
        </p:spPr>
      </p:pic>
      <p:pic>
        <p:nvPicPr>
          <p:cNvPr id="13" name="Graphic 12">
            <a:extLst>
              <a:ext uri="{FF2B5EF4-FFF2-40B4-BE49-F238E27FC236}">
                <a16:creationId xmlns:a16="http://schemas.microsoft.com/office/drawing/2014/main" id="{A8808B5C-1859-104A-826C-D3A463154C6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50206" y="250603"/>
            <a:ext cx="313679" cy="329298"/>
          </a:xfrm>
          <a:prstGeom prst="rect">
            <a:avLst/>
          </a:prstGeom>
        </p:spPr>
      </p:pic>
      <p:sp>
        <p:nvSpPr>
          <p:cNvPr id="3" name="Text Placeholder 2">
            <a:extLst>
              <a:ext uri="{FF2B5EF4-FFF2-40B4-BE49-F238E27FC236}">
                <a16:creationId xmlns:a16="http://schemas.microsoft.com/office/drawing/2014/main" id="{5B03E28E-79CD-8A43-B374-EF35B43959A1}"/>
              </a:ext>
            </a:extLst>
          </p:cNvPr>
          <p:cNvSpPr>
            <a:spLocks noGrp="1"/>
          </p:cNvSpPr>
          <p:nvPr>
            <p:ph type="body" sz="quarter" idx="10"/>
          </p:nvPr>
        </p:nvSpPr>
        <p:spPr>
          <a:xfrm>
            <a:off x="833439" y="1878013"/>
            <a:ext cx="5745388" cy="37544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14" name="Picture Placeholder 13">
            <a:extLst>
              <a:ext uri="{FF2B5EF4-FFF2-40B4-BE49-F238E27FC236}">
                <a16:creationId xmlns:a16="http://schemas.microsoft.com/office/drawing/2014/main" id="{83E722FE-E668-314D-A8DF-BAA81BA98D5B}"/>
              </a:ext>
            </a:extLst>
          </p:cNvPr>
          <p:cNvSpPr>
            <a:spLocks noGrp="1"/>
          </p:cNvSpPr>
          <p:nvPr>
            <p:ph type="pic" sz="quarter" idx="11"/>
          </p:nvPr>
        </p:nvSpPr>
        <p:spPr>
          <a:xfrm>
            <a:off x="6758486" y="1206500"/>
            <a:ext cx="4619127" cy="4445000"/>
          </a:xfrm>
        </p:spPr>
        <p:txBody>
          <a:bodyPr/>
          <a:lstStyle>
            <a:lvl1pPr marL="0" indent="0">
              <a:buNone/>
              <a:defRPr/>
            </a:lvl1pPr>
          </a:lstStyle>
          <a:p>
            <a:r>
              <a:rPr lang="en-US"/>
              <a:t>Click icon to add picture</a:t>
            </a:r>
            <a:endParaRPr lang="en-AE"/>
          </a:p>
        </p:txBody>
      </p:sp>
    </p:spTree>
    <p:extLst>
      <p:ext uri="{BB962C8B-B14F-4D97-AF65-F5344CB8AC3E}">
        <p14:creationId xmlns:p14="http://schemas.microsoft.com/office/powerpoint/2010/main" val="3742121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ontent Slide  Option#2 with Graph /Data">
    <p:bg>
      <p:bgPr>
        <a:solidFill>
          <a:schemeClr val="bg2"/>
        </a:solidFill>
        <a:effectLst/>
      </p:bgPr>
    </p:bg>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26908BEE-A825-DA40-9969-1B02C84DEF7A}"/>
              </a:ext>
            </a:extLst>
          </p:cNvPr>
          <p:cNvSpPr>
            <a:spLocks noGrp="1"/>
          </p:cNvSpPr>
          <p:nvPr>
            <p:ph type="title" hasCustomPrompt="1"/>
          </p:nvPr>
        </p:nvSpPr>
        <p:spPr>
          <a:xfrm>
            <a:off x="704800" y="1207003"/>
            <a:ext cx="5874026" cy="557061"/>
          </a:xfrm>
        </p:spPr>
        <p:txBody>
          <a:bodyPr anchor="t">
            <a:normAutofit/>
          </a:bodyPr>
          <a:lstStyle>
            <a:lvl1pPr>
              <a:defRPr sz="3000">
                <a:solidFill>
                  <a:schemeClr val="tx1"/>
                </a:solidFill>
              </a:defRPr>
            </a:lvl1pPr>
          </a:lstStyle>
          <a:p>
            <a:r>
              <a:rPr lang="en-US"/>
              <a:t>Click to Add Graph/Data</a:t>
            </a:r>
          </a:p>
        </p:txBody>
      </p:sp>
      <p:sp>
        <p:nvSpPr>
          <p:cNvPr id="6" name="Subtitle 2">
            <a:extLst>
              <a:ext uri="{FF2B5EF4-FFF2-40B4-BE49-F238E27FC236}">
                <a16:creationId xmlns:a16="http://schemas.microsoft.com/office/drawing/2014/main" id="{B6746524-6D09-2F49-8A69-4823C3DCCD24}"/>
              </a:ext>
            </a:extLst>
          </p:cNvPr>
          <p:cNvSpPr>
            <a:spLocks noGrp="1"/>
          </p:cNvSpPr>
          <p:nvPr>
            <p:ph type="subTitle" idx="1" hasCustomPrompt="1"/>
          </p:nvPr>
        </p:nvSpPr>
        <p:spPr>
          <a:xfrm>
            <a:off x="5390087" y="314797"/>
            <a:ext cx="6120159" cy="315424"/>
          </a:xfrm>
        </p:spPr>
        <p:txBody>
          <a:bodyPr>
            <a:noAutofit/>
          </a:bodyPr>
          <a:lstStyle>
            <a:lvl1pPr marL="0" indent="0" algn="r">
              <a:buNone/>
              <a:defRPr sz="12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Presentation Title</a:t>
            </a:r>
          </a:p>
        </p:txBody>
      </p:sp>
      <p:sp>
        <p:nvSpPr>
          <p:cNvPr id="7" name="Slide Number Placeholder 6">
            <a:extLst>
              <a:ext uri="{FF2B5EF4-FFF2-40B4-BE49-F238E27FC236}">
                <a16:creationId xmlns:a16="http://schemas.microsoft.com/office/drawing/2014/main" id="{03FFED15-3BC1-9A47-85CA-5740A1734EB2}"/>
              </a:ext>
            </a:extLst>
          </p:cNvPr>
          <p:cNvSpPr txBox="1">
            <a:spLocks/>
          </p:cNvSpPr>
          <p:nvPr userDrawn="1"/>
        </p:nvSpPr>
        <p:spPr>
          <a:xfrm>
            <a:off x="11377612" y="248602"/>
            <a:ext cx="814388" cy="365125"/>
          </a:xfrm>
          <a:prstGeom prst="rect">
            <a:avLst/>
          </a:prstGeom>
          <a:noFill/>
        </p:spPr>
        <p:txBody>
          <a:bodyPr vert="horz" lIns="91440" tIns="45720" rIns="91440" bIns="45720" rtlCol="0" anchor="ctr"/>
          <a:lstStyle>
            <a:defPPr>
              <a:defRPr lang="en-US"/>
            </a:defPPr>
            <a:lvl1pPr marL="0" algn="ctr" defTabSz="914400" rtl="0" eaLnBrk="1" latinLnBrk="0" hangingPunct="1">
              <a:defRPr sz="1600" b="0" i="0" kern="1200">
                <a:solidFill>
                  <a:schemeClr val="bg1"/>
                </a:solidFill>
                <a:latin typeface="Tahoma" panose="020B0604030504040204" pitchFamily="34" charset="0"/>
                <a:ea typeface="Tahoma" panose="020B0604030504040204" pitchFamily="34" charset="0"/>
                <a:cs typeface="Tahom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91C39B3-71BA-C04A-8F90-02179B3D98C0}" type="slidenum">
              <a:rPr lang="en-US" smtClean="0"/>
              <a:pPr/>
              <a:t>‹#›</a:t>
            </a:fld>
            <a:endParaRPr lang="en-US"/>
          </a:p>
        </p:txBody>
      </p:sp>
      <p:pic>
        <p:nvPicPr>
          <p:cNvPr id="9" name="Graphic 8">
            <a:extLst>
              <a:ext uri="{FF2B5EF4-FFF2-40B4-BE49-F238E27FC236}">
                <a16:creationId xmlns:a16="http://schemas.microsoft.com/office/drawing/2014/main" id="{5893B466-AD85-BF49-A335-E853DA6FB0A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001500" y="306705"/>
            <a:ext cx="177800" cy="248920"/>
          </a:xfrm>
          <a:prstGeom prst="rect">
            <a:avLst/>
          </a:prstGeom>
        </p:spPr>
      </p:pic>
      <p:pic>
        <p:nvPicPr>
          <p:cNvPr id="12" name="Graphic 11">
            <a:extLst>
              <a:ext uri="{FF2B5EF4-FFF2-40B4-BE49-F238E27FC236}">
                <a16:creationId xmlns:a16="http://schemas.microsoft.com/office/drawing/2014/main" id="{35B54686-6941-2541-B096-11C08B1BDEA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88949" y="2051"/>
            <a:ext cx="236191" cy="6858000"/>
          </a:xfrm>
          <a:prstGeom prst="rect">
            <a:avLst/>
          </a:prstGeom>
        </p:spPr>
      </p:pic>
      <p:pic>
        <p:nvPicPr>
          <p:cNvPr id="13" name="Graphic 12">
            <a:extLst>
              <a:ext uri="{FF2B5EF4-FFF2-40B4-BE49-F238E27FC236}">
                <a16:creationId xmlns:a16="http://schemas.microsoft.com/office/drawing/2014/main" id="{A8808B5C-1859-104A-826C-D3A463154C6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50206" y="250603"/>
            <a:ext cx="313679" cy="329298"/>
          </a:xfrm>
          <a:prstGeom prst="rect">
            <a:avLst/>
          </a:prstGeom>
        </p:spPr>
      </p:pic>
      <p:sp>
        <p:nvSpPr>
          <p:cNvPr id="3" name="Text Placeholder 2">
            <a:extLst>
              <a:ext uri="{FF2B5EF4-FFF2-40B4-BE49-F238E27FC236}">
                <a16:creationId xmlns:a16="http://schemas.microsoft.com/office/drawing/2014/main" id="{5B03E28E-79CD-8A43-B374-EF35B43959A1}"/>
              </a:ext>
            </a:extLst>
          </p:cNvPr>
          <p:cNvSpPr>
            <a:spLocks noGrp="1"/>
          </p:cNvSpPr>
          <p:nvPr>
            <p:ph type="body" sz="quarter" idx="10" hasCustomPrompt="1"/>
          </p:nvPr>
        </p:nvSpPr>
        <p:spPr>
          <a:xfrm>
            <a:off x="707473" y="1878013"/>
            <a:ext cx="4054150" cy="3754437"/>
          </a:xfrm>
        </p:spPr>
        <p:txBody>
          <a:bodyPr>
            <a:normAutofit/>
          </a:bodyPr>
          <a:lstStyle>
            <a:lvl1pPr marL="0" indent="0" algn="l">
              <a:lnSpc>
                <a:spcPct val="95000"/>
              </a:lnSpc>
              <a:buFontTx/>
              <a:buNone/>
              <a:defRPr sz="2000"/>
            </a:lvl1pPr>
            <a:lvl2pPr marL="457200" indent="0" algn="l">
              <a:buFontTx/>
              <a:buNone/>
              <a:defRPr/>
            </a:lvl2pPr>
            <a:lvl3pPr marL="914400" indent="0" algn="l">
              <a:buFontTx/>
              <a:buNone/>
              <a:defRPr/>
            </a:lvl3pPr>
            <a:lvl4pPr marL="1371600" indent="0" algn="l">
              <a:buFontTx/>
              <a:buNone/>
              <a:defRPr/>
            </a:lvl4pPr>
            <a:lvl5pPr marL="1828800" indent="0" algn="l">
              <a:buFontTx/>
              <a:buNone/>
              <a:defRPr/>
            </a:lvl5pPr>
          </a:lstStyle>
          <a:p>
            <a:pPr lvl="0"/>
            <a:r>
              <a:rPr lang="en-AE"/>
              <a:t>Add your </a:t>
            </a:r>
            <a:r>
              <a:rPr lang="en-US"/>
              <a:t>An analytical paragraph,  is a form of descriptive writing which is written on the basis of a given chart, graph, data, outline, clues, table etc.</a:t>
            </a:r>
            <a:endParaRPr lang="en-AE"/>
          </a:p>
        </p:txBody>
      </p:sp>
      <p:sp>
        <p:nvSpPr>
          <p:cNvPr id="4" name="Chart Placeholder 3">
            <a:extLst>
              <a:ext uri="{FF2B5EF4-FFF2-40B4-BE49-F238E27FC236}">
                <a16:creationId xmlns:a16="http://schemas.microsoft.com/office/drawing/2014/main" id="{62D93862-01E6-C24F-A335-F79089BEC504}"/>
              </a:ext>
            </a:extLst>
          </p:cNvPr>
          <p:cNvSpPr>
            <a:spLocks noGrp="1"/>
          </p:cNvSpPr>
          <p:nvPr>
            <p:ph type="chart" sz="quarter" idx="11"/>
          </p:nvPr>
        </p:nvSpPr>
        <p:spPr>
          <a:xfrm>
            <a:off x="5138738" y="1878013"/>
            <a:ext cx="6053137" cy="3754437"/>
          </a:xfrm>
        </p:spPr>
        <p:txBody>
          <a:bodyPr/>
          <a:lstStyle/>
          <a:p>
            <a:r>
              <a:rPr lang="en-US"/>
              <a:t>Click icon to add chart</a:t>
            </a:r>
            <a:endParaRPr lang="en-AE"/>
          </a:p>
        </p:txBody>
      </p:sp>
    </p:spTree>
    <p:extLst>
      <p:ext uri="{BB962C8B-B14F-4D97-AF65-F5344CB8AC3E}">
        <p14:creationId xmlns:p14="http://schemas.microsoft.com/office/powerpoint/2010/main" val="986313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ontent Slide  Option#3 with Table">
    <p:bg>
      <p:bgPr>
        <a:solidFill>
          <a:schemeClr val="bg2"/>
        </a:solidFill>
        <a:effectLst/>
      </p:bgPr>
    </p:bg>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26908BEE-A825-DA40-9969-1B02C84DEF7A}"/>
              </a:ext>
            </a:extLst>
          </p:cNvPr>
          <p:cNvSpPr>
            <a:spLocks noGrp="1"/>
          </p:cNvSpPr>
          <p:nvPr>
            <p:ph type="title" hasCustomPrompt="1"/>
          </p:nvPr>
        </p:nvSpPr>
        <p:spPr>
          <a:xfrm>
            <a:off x="704800" y="1207003"/>
            <a:ext cx="5874026" cy="557061"/>
          </a:xfrm>
        </p:spPr>
        <p:txBody>
          <a:bodyPr anchor="t">
            <a:normAutofit/>
          </a:bodyPr>
          <a:lstStyle>
            <a:lvl1pPr>
              <a:defRPr sz="3000">
                <a:solidFill>
                  <a:schemeClr val="tx1"/>
                </a:solidFill>
              </a:defRPr>
            </a:lvl1pPr>
          </a:lstStyle>
          <a:p>
            <a:r>
              <a:rPr lang="en-US"/>
              <a:t>Click to Table Title</a:t>
            </a:r>
          </a:p>
        </p:txBody>
      </p:sp>
      <p:sp>
        <p:nvSpPr>
          <p:cNvPr id="6" name="Subtitle 2">
            <a:extLst>
              <a:ext uri="{FF2B5EF4-FFF2-40B4-BE49-F238E27FC236}">
                <a16:creationId xmlns:a16="http://schemas.microsoft.com/office/drawing/2014/main" id="{B6746524-6D09-2F49-8A69-4823C3DCCD24}"/>
              </a:ext>
            </a:extLst>
          </p:cNvPr>
          <p:cNvSpPr>
            <a:spLocks noGrp="1"/>
          </p:cNvSpPr>
          <p:nvPr>
            <p:ph type="subTitle" idx="1" hasCustomPrompt="1"/>
          </p:nvPr>
        </p:nvSpPr>
        <p:spPr>
          <a:xfrm>
            <a:off x="5390087" y="314797"/>
            <a:ext cx="6120159" cy="315424"/>
          </a:xfrm>
        </p:spPr>
        <p:txBody>
          <a:bodyPr>
            <a:noAutofit/>
          </a:bodyPr>
          <a:lstStyle>
            <a:lvl1pPr marL="0" indent="0" algn="r">
              <a:buNone/>
              <a:defRPr sz="12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Presentation Title</a:t>
            </a:r>
          </a:p>
        </p:txBody>
      </p:sp>
      <p:sp>
        <p:nvSpPr>
          <p:cNvPr id="7" name="Slide Number Placeholder 6">
            <a:extLst>
              <a:ext uri="{FF2B5EF4-FFF2-40B4-BE49-F238E27FC236}">
                <a16:creationId xmlns:a16="http://schemas.microsoft.com/office/drawing/2014/main" id="{03FFED15-3BC1-9A47-85CA-5740A1734EB2}"/>
              </a:ext>
            </a:extLst>
          </p:cNvPr>
          <p:cNvSpPr txBox="1">
            <a:spLocks/>
          </p:cNvSpPr>
          <p:nvPr userDrawn="1"/>
        </p:nvSpPr>
        <p:spPr>
          <a:xfrm>
            <a:off x="11377612" y="248602"/>
            <a:ext cx="814388" cy="365125"/>
          </a:xfrm>
          <a:prstGeom prst="rect">
            <a:avLst/>
          </a:prstGeom>
          <a:noFill/>
        </p:spPr>
        <p:txBody>
          <a:bodyPr vert="horz" lIns="91440" tIns="45720" rIns="91440" bIns="45720" rtlCol="0" anchor="ctr"/>
          <a:lstStyle>
            <a:defPPr>
              <a:defRPr lang="en-US"/>
            </a:defPPr>
            <a:lvl1pPr marL="0" algn="ctr" defTabSz="914400" rtl="0" eaLnBrk="1" latinLnBrk="0" hangingPunct="1">
              <a:defRPr sz="1600" b="0" i="0" kern="1200">
                <a:solidFill>
                  <a:schemeClr val="bg1"/>
                </a:solidFill>
                <a:latin typeface="Tahoma" panose="020B0604030504040204" pitchFamily="34" charset="0"/>
                <a:ea typeface="Tahoma" panose="020B0604030504040204" pitchFamily="34" charset="0"/>
                <a:cs typeface="Tahom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91C39B3-71BA-C04A-8F90-02179B3D98C0}" type="slidenum">
              <a:rPr lang="en-US" smtClean="0"/>
              <a:pPr/>
              <a:t>‹#›</a:t>
            </a:fld>
            <a:endParaRPr lang="en-US"/>
          </a:p>
        </p:txBody>
      </p:sp>
      <p:pic>
        <p:nvPicPr>
          <p:cNvPr id="9" name="Graphic 8">
            <a:extLst>
              <a:ext uri="{FF2B5EF4-FFF2-40B4-BE49-F238E27FC236}">
                <a16:creationId xmlns:a16="http://schemas.microsoft.com/office/drawing/2014/main" id="{5893B466-AD85-BF49-A335-E853DA6FB0A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001500" y="306705"/>
            <a:ext cx="177800" cy="248920"/>
          </a:xfrm>
          <a:prstGeom prst="rect">
            <a:avLst/>
          </a:prstGeom>
        </p:spPr>
      </p:pic>
      <p:pic>
        <p:nvPicPr>
          <p:cNvPr id="12" name="Graphic 11">
            <a:extLst>
              <a:ext uri="{FF2B5EF4-FFF2-40B4-BE49-F238E27FC236}">
                <a16:creationId xmlns:a16="http://schemas.microsoft.com/office/drawing/2014/main" id="{35B54686-6941-2541-B096-11C08B1BDEA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88949" y="2051"/>
            <a:ext cx="236191" cy="6858000"/>
          </a:xfrm>
          <a:prstGeom prst="rect">
            <a:avLst/>
          </a:prstGeom>
        </p:spPr>
      </p:pic>
      <p:pic>
        <p:nvPicPr>
          <p:cNvPr id="13" name="Graphic 12">
            <a:extLst>
              <a:ext uri="{FF2B5EF4-FFF2-40B4-BE49-F238E27FC236}">
                <a16:creationId xmlns:a16="http://schemas.microsoft.com/office/drawing/2014/main" id="{A8808B5C-1859-104A-826C-D3A463154C6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50206" y="250603"/>
            <a:ext cx="313679" cy="329298"/>
          </a:xfrm>
          <a:prstGeom prst="rect">
            <a:avLst/>
          </a:prstGeom>
        </p:spPr>
      </p:pic>
      <p:sp>
        <p:nvSpPr>
          <p:cNvPr id="3" name="Text Placeholder 2">
            <a:extLst>
              <a:ext uri="{FF2B5EF4-FFF2-40B4-BE49-F238E27FC236}">
                <a16:creationId xmlns:a16="http://schemas.microsoft.com/office/drawing/2014/main" id="{5B03E28E-79CD-8A43-B374-EF35B43959A1}"/>
              </a:ext>
            </a:extLst>
          </p:cNvPr>
          <p:cNvSpPr>
            <a:spLocks noGrp="1"/>
          </p:cNvSpPr>
          <p:nvPr>
            <p:ph type="body" sz="quarter" idx="10" hasCustomPrompt="1"/>
          </p:nvPr>
        </p:nvSpPr>
        <p:spPr>
          <a:xfrm>
            <a:off x="704800" y="1878013"/>
            <a:ext cx="4054150" cy="3754437"/>
          </a:xfrm>
        </p:spPr>
        <p:txBody>
          <a:bodyPr>
            <a:noAutofit/>
          </a:bodyPr>
          <a:lstStyle>
            <a:lvl1pPr marL="0" indent="0" algn="l">
              <a:lnSpc>
                <a:spcPct val="95000"/>
              </a:lnSpc>
              <a:buFontTx/>
              <a:buNone/>
              <a:defRPr lang="en-US" sz="2000" b="0" i="0" smtClean="0">
                <a:effectLst/>
              </a:defRPr>
            </a:lvl1pPr>
            <a:lvl2pPr marL="457200" indent="0" algn="l">
              <a:buFontTx/>
              <a:buNone/>
              <a:defRPr/>
            </a:lvl2pPr>
            <a:lvl3pPr marL="914400" indent="0" algn="l">
              <a:buFontTx/>
              <a:buNone/>
              <a:defRPr/>
            </a:lvl3pPr>
            <a:lvl4pPr marL="1371600" indent="0" algn="l">
              <a:buFontTx/>
              <a:buNone/>
              <a:defRPr/>
            </a:lvl4pPr>
            <a:lvl5pPr marL="1828800" indent="0" algn="l">
              <a:buFontTx/>
              <a:buNone/>
              <a:defRPr/>
            </a:lvl5pPr>
          </a:lstStyle>
          <a:p>
            <a:pPr lvl="0"/>
            <a:r>
              <a:rPr lang="en-US"/>
              <a:t>A Table refers to any data which is presented in orderly rows across and/or down the page, often enclosed within borders. A Figure refers to any other form of presentation such as a bar or pie chart, a graph, a diagram, a map, a photograph, a line drawing or a sample of material.</a:t>
            </a:r>
            <a:endParaRPr lang="en-AE"/>
          </a:p>
        </p:txBody>
      </p:sp>
      <p:sp>
        <p:nvSpPr>
          <p:cNvPr id="8" name="Table Placeholder 7">
            <a:extLst>
              <a:ext uri="{FF2B5EF4-FFF2-40B4-BE49-F238E27FC236}">
                <a16:creationId xmlns:a16="http://schemas.microsoft.com/office/drawing/2014/main" id="{78A247DE-41CC-5245-986E-449D869DC74D}"/>
              </a:ext>
            </a:extLst>
          </p:cNvPr>
          <p:cNvSpPr>
            <a:spLocks noGrp="1"/>
          </p:cNvSpPr>
          <p:nvPr>
            <p:ph type="tbl" sz="quarter" idx="11"/>
          </p:nvPr>
        </p:nvSpPr>
        <p:spPr>
          <a:xfrm>
            <a:off x="5154613" y="1878013"/>
            <a:ext cx="6356350" cy="3754437"/>
          </a:xfrm>
        </p:spPr>
        <p:txBody>
          <a:bodyPr/>
          <a:lstStyle/>
          <a:p>
            <a:r>
              <a:rPr lang="en-US"/>
              <a:t>Click icon to add table</a:t>
            </a:r>
            <a:endParaRPr lang="en-AE"/>
          </a:p>
        </p:txBody>
      </p:sp>
    </p:spTree>
    <p:extLst>
      <p:ext uri="{BB962C8B-B14F-4D97-AF65-F5344CB8AC3E}">
        <p14:creationId xmlns:p14="http://schemas.microsoft.com/office/powerpoint/2010/main" val="2610840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Slide Option#4 with Infographic">
    <p:bg>
      <p:bgPr>
        <a:solidFill>
          <a:schemeClr val="bg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C46900-ACA7-B546-8A78-DFF39C7FE4BE}"/>
              </a:ext>
            </a:extLst>
          </p:cNvPr>
          <p:cNvSpPr>
            <a:spLocks noGrp="1"/>
          </p:cNvSpPr>
          <p:nvPr>
            <p:ph type="title" hasCustomPrompt="1"/>
          </p:nvPr>
        </p:nvSpPr>
        <p:spPr>
          <a:xfrm>
            <a:off x="704800" y="1207004"/>
            <a:ext cx="9770717" cy="597928"/>
          </a:xfrm>
        </p:spPr>
        <p:txBody>
          <a:bodyPr anchor="t">
            <a:normAutofit/>
          </a:bodyPr>
          <a:lstStyle>
            <a:lvl1pPr>
              <a:defRPr sz="3000">
                <a:solidFill>
                  <a:schemeClr val="tx1"/>
                </a:solidFill>
              </a:defRPr>
            </a:lvl1pPr>
          </a:lstStyle>
          <a:p>
            <a:r>
              <a:rPr lang="en-US"/>
              <a:t>Click to Add Icons/Infographics Title</a:t>
            </a:r>
          </a:p>
        </p:txBody>
      </p:sp>
      <p:pic>
        <p:nvPicPr>
          <p:cNvPr id="10" name="Graphic 9">
            <a:extLst>
              <a:ext uri="{FF2B5EF4-FFF2-40B4-BE49-F238E27FC236}">
                <a16:creationId xmlns:a16="http://schemas.microsoft.com/office/drawing/2014/main" id="{C71104D3-4DE6-8346-AD98-5A101FEABA6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6200000" flipH="1">
            <a:off x="11501786" y="73025"/>
            <a:ext cx="406400" cy="260350"/>
          </a:xfrm>
          <a:prstGeom prst="rect">
            <a:avLst/>
          </a:prstGeom>
        </p:spPr>
      </p:pic>
      <p:sp>
        <p:nvSpPr>
          <p:cNvPr id="11" name="Slide Number Placeholder 6">
            <a:extLst>
              <a:ext uri="{FF2B5EF4-FFF2-40B4-BE49-F238E27FC236}">
                <a16:creationId xmlns:a16="http://schemas.microsoft.com/office/drawing/2014/main" id="{7957831C-872D-CF44-8DFE-BC74ADA53052}"/>
              </a:ext>
            </a:extLst>
          </p:cNvPr>
          <p:cNvSpPr>
            <a:spLocks noGrp="1"/>
          </p:cNvSpPr>
          <p:nvPr>
            <p:ph type="sldNum" sz="quarter" idx="12"/>
          </p:nvPr>
        </p:nvSpPr>
        <p:spPr>
          <a:xfrm>
            <a:off x="11297792" y="406400"/>
            <a:ext cx="814388" cy="365125"/>
          </a:xfrm>
          <a:noFill/>
        </p:spPr>
        <p:txBody>
          <a:bodyPr/>
          <a:lstStyle>
            <a:lvl1pPr algn="ctr">
              <a:defRPr sz="1600">
                <a:solidFill>
                  <a:schemeClr val="bg1"/>
                </a:solidFill>
              </a:defRPr>
            </a:lvl1pPr>
          </a:lstStyle>
          <a:p>
            <a:fld id="{A91C39B3-71BA-C04A-8F90-02179B3D98C0}" type="slidenum">
              <a:rPr lang="en-US" smtClean="0"/>
              <a:pPr/>
              <a:t>‹#›</a:t>
            </a:fld>
            <a:endParaRPr lang="en-US"/>
          </a:p>
        </p:txBody>
      </p:sp>
      <p:pic>
        <p:nvPicPr>
          <p:cNvPr id="12" name="Picture 5">
            <a:extLst>
              <a:ext uri="{FF2B5EF4-FFF2-40B4-BE49-F238E27FC236}">
                <a16:creationId xmlns:a16="http://schemas.microsoft.com/office/drawing/2014/main" id="{810453EF-472B-6940-A88C-A88100363B0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9982275" y="5759451"/>
            <a:ext cx="2209725" cy="1098549"/>
          </a:xfrm>
          <a:prstGeom prst="rect">
            <a:avLst/>
          </a:prstGeom>
        </p:spPr>
      </p:pic>
      <p:pic>
        <p:nvPicPr>
          <p:cNvPr id="13" name="Graphic 12">
            <a:extLst>
              <a:ext uri="{FF2B5EF4-FFF2-40B4-BE49-F238E27FC236}">
                <a16:creationId xmlns:a16="http://schemas.microsoft.com/office/drawing/2014/main" id="{7051FCF3-192E-C34F-AAE3-E07D038D817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10248" y="6030989"/>
            <a:ext cx="529126" cy="555472"/>
          </a:xfrm>
          <a:prstGeom prst="rect">
            <a:avLst/>
          </a:prstGeom>
        </p:spPr>
      </p:pic>
      <p:sp>
        <p:nvSpPr>
          <p:cNvPr id="8" name="Text Placeholder 2">
            <a:extLst>
              <a:ext uri="{FF2B5EF4-FFF2-40B4-BE49-F238E27FC236}">
                <a16:creationId xmlns:a16="http://schemas.microsoft.com/office/drawing/2014/main" id="{9F5D8C5A-4EF8-D744-8722-B704B694B773}"/>
              </a:ext>
            </a:extLst>
          </p:cNvPr>
          <p:cNvSpPr>
            <a:spLocks noGrp="1"/>
          </p:cNvSpPr>
          <p:nvPr>
            <p:ph type="body" sz="quarter" idx="10" hasCustomPrompt="1"/>
          </p:nvPr>
        </p:nvSpPr>
        <p:spPr>
          <a:xfrm>
            <a:off x="704800" y="1804931"/>
            <a:ext cx="4441187" cy="4423024"/>
          </a:xfrm>
        </p:spPr>
        <p:txBody>
          <a:bodyPr>
            <a:normAutofit/>
          </a:bodyPr>
          <a:lstStyle>
            <a:lvl1pPr marL="0" marR="0" indent="0" algn="l" defTabSz="914400" rtl="0" eaLnBrk="1" fontAlgn="auto" latinLnBrk="0" hangingPunct="1">
              <a:lnSpc>
                <a:spcPct val="95000"/>
              </a:lnSpc>
              <a:spcBef>
                <a:spcPts val="1000"/>
              </a:spcBef>
              <a:spcAft>
                <a:spcPts val="0"/>
              </a:spcAft>
              <a:buClrTx/>
              <a:buSzTx/>
              <a:buFontTx/>
              <a:buNone/>
              <a:tabLst/>
              <a:defRPr lang="en-US" sz="2000" b="0" i="0" smtClean="0">
                <a:effectLst/>
              </a:defRPr>
            </a:lvl1pPr>
            <a:lvl2pPr marL="457200" indent="0" algn="l">
              <a:buFontTx/>
              <a:buNone/>
              <a:defRPr/>
            </a:lvl2pPr>
            <a:lvl3pPr marL="914400" indent="0" algn="l">
              <a:buFontTx/>
              <a:buNone/>
              <a:defRPr/>
            </a:lvl3pPr>
            <a:lvl4pPr marL="1371600" indent="0" algn="l">
              <a:buFontTx/>
              <a:buNone/>
              <a:defRPr/>
            </a:lvl4pPr>
            <a:lvl5pPr marL="1828800" indent="0" algn="l">
              <a:buFontTx/>
              <a:buNone/>
              <a:defRPr/>
            </a:lvl5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en-AE"/>
              <a:t>Add your </a:t>
            </a:r>
            <a:r>
              <a:rPr lang="en-US"/>
              <a:t>standard icons or infographics. Which are graphic visual representations of information, data, or knowledge intended to present information quickly and clearly. They can improve cognition by utilizing graphics to enhance the human visual system's ability to see patterns and trends.</a:t>
            </a:r>
            <a:endParaRPr lang="en-AE"/>
          </a:p>
        </p:txBody>
      </p:sp>
    </p:spTree>
    <p:extLst>
      <p:ext uri="{BB962C8B-B14F-4D97-AF65-F5344CB8AC3E}">
        <p14:creationId xmlns:p14="http://schemas.microsoft.com/office/powerpoint/2010/main" val="35334304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losing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0C30162-B6ED-7641-A0EB-BA573B76DA6D}"/>
              </a:ext>
            </a:extLst>
          </p:cNvPr>
          <p:cNvSpPr>
            <a:spLocks noGrp="1"/>
          </p:cNvSpPr>
          <p:nvPr>
            <p:ph type="ctrTitle" hasCustomPrompt="1"/>
          </p:nvPr>
        </p:nvSpPr>
        <p:spPr>
          <a:xfrm>
            <a:off x="0" y="3258981"/>
            <a:ext cx="12192000" cy="1006475"/>
          </a:xfrm>
          <a:prstGeom prst="rect">
            <a:avLst/>
          </a:prstGeom>
        </p:spPr>
        <p:txBody>
          <a:bodyPr anchor="ctr" anchorCtr="0">
            <a:noAutofit/>
          </a:bodyPr>
          <a:lstStyle>
            <a:lvl1pPr algn="ctr">
              <a:defRPr sz="7200" b="1">
                <a:solidFill>
                  <a:schemeClr val="bg2"/>
                </a:solidFill>
                <a:latin typeface="Tahoma" panose="020B0604030504040204" pitchFamily="34" charset="0"/>
                <a:ea typeface="Tahoma" panose="020B0604030504040204" pitchFamily="34" charset="0"/>
                <a:cs typeface="Tahoma" panose="020B0604030504040204" pitchFamily="34" charset="0"/>
              </a:defRPr>
            </a:lvl1pPr>
          </a:lstStyle>
          <a:p>
            <a:r>
              <a:rPr lang="en-US"/>
              <a:t>Thank You</a:t>
            </a:r>
          </a:p>
        </p:txBody>
      </p:sp>
      <p:pic>
        <p:nvPicPr>
          <p:cNvPr id="14" name="Graphic 13">
            <a:extLst>
              <a:ext uri="{FF2B5EF4-FFF2-40B4-BE49-F238E27FC236}">
                <a16:creationId xmlns:a16="http://schemas.microsoft.com/office/drawing/2014/main" id="{C698337F-7DD8-7B42-AE9F-1C15A834B6E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32578" y="1380677"/>
            <a:ext cx="4126844" cy="949829"/>
          </a:xfrm>
          <a:prstGeom prst="rect">
            <a:avLst/>
          </a:prstGeom>
        </p:spPr>
      </p:pic>
      <p:grpSp>
        <p:nvGrpSpPr>
          <p:cNvPr id="3" name="Group 2">
            <a:extLst>
              <a:ext uri="{FF2B5EF4-FFF2-40B4-BE49-F238E27FC236}">
                <a16:creationId xmlns:a16="http://schemas.microsoft.com/office/drawing/2014/main" id="{A15B8D55-1D7F-D740-8AB9-DB23116BE410}"/>
              </a:ext>
            </a:extLst>
          </p:cNvPr>
          <p:cNvGrpSpPr/>
          <p:nvPr userDrawn="1"/>
        </p:nvGrpSpPr>
        <p:grpSpPr>
          <a:xfrm>
            <a:off x="1963849" y="5952904"/>
            <a:ext cx="8456037" cy="400326"/>
            <a:chOff x="1896939" y="5952904"/>
            <a:chExt cx="8456037" cy="400326"/>
          </a:xfrm>
        </p:grpSpPr>
        <p:sp>
          <p:nvSpPr>
            <p:cNvPr id="10" name="TextBox 9">
              <a:extLst>
                <a:ext uri="{FF2B5EF4-FFF2-40B4-BE49-F238E27FC236}">
                  <a16:creationId xmlns:a16="http://schemas.microsoft.com/office/drawing/2014/main" id="{7B799641-4B53-2B4F-86DB-18C35E61614E}"/>
                </a:ext>
              </a:extLst>
            </p:cNvPr>
            <p:cNvSpPr txBox="1"/>
            <p:nvPr userDrawn="1"/>
          </p:nvSpPr>
          <p:spPr>
            <a:xfrm>
              <a:off x="2188374" y="5964056"/>
              <a:ext cx="2659052" cy="353045"/>
            </a:xfrm>
            <a:prstGeom prst="rect">
              <a:avLst/>
            </a:prstGeom>
            <a:noFill/>
          </p:spPr>
          <p:txBody>
            <a:bodyPr wrap="square" rtlCol="0">
              <a:spAutoFit/>
            </a:bodyPr>
            <a:lstStyle/>
            <a:p>
              <a:pPr lvl="0">
                <a:lnSpc>
                  <a:spcPts val="2300"/>
                </a:lnSpc>
              </a:pPr>
              <a:r>
                <a:rPr lang="en-US" sz="1500" b="1">
                  <a:solidFill>
                    <a:schemeClr val="bg2"/>
                  </a:solidFill>
                  <a:latin typeface="Tahoma" panose="020B0604030504040204" pitchFamily="34" charset="0"/>
                  <a:ea typeface="Tahoma" panose="020B0604030504040204" pitchFamily="34" charset="0"/>
                  <a:cs typeface="Tahoma" panose="020B0604030504040204" pitchFamily="34" charset="0"/>
                </a:rPr>
                <a:t>800 </a:t>
              </a:r>
              <a:r>
                <a:rPr lang="en-US" sz="1500" b="1" err="1">
                  <a:solidFill>
                    <a:schemeClr val="bg2"/>
                  </a:solidFill>
                  <a:latin typeface="Tahoma" panose="020B0604030504040204" pitchFamily="34" charset="0"/>
                  <a:ea typeface="Tahoma" panose="020B0604030504040204" pitchFamily="34" charset="0"/>
                  <a:cs typeface="Tahoma" panose="020B0604030504040204" pitchFamily="34" charset="0"/>
                </a:rPr>
                <a:t>MyHCT</a:t>
              </a:r>
              <a:r>
                <a:rPr lang="en-US" sz="1500" b="1">
                  <a:solidFill>
                    <a:schemeClr val="bg2"/>
                  </a:solidFill>
                  <a:latin typeface="Tahoma" panose="020B0604030504040204" pitchFamily="34" charset="0"/>
                  <a:ea typeface="Tahoma" panose="020B0604030504040204" pitchFamily="34" charset="0"/>
                  <a:cs typeface="Tahoma" panose="020B0604030504040204" pitchFamily="34" charset="0"/>
                </a:rPr>
                <a:t> (800 69428)</a:t>
              </a:r>
            </a:p>
          </p:txBody>
        </p:sp>
        <p:pic>
          <p:nvPicPr>
            <p:cNvPr id="11" name="Graphic 10">
              <a:extLst>
                <a:ext uri="{FF2B5EF4-FFF2-40B4-BE49-F238E27FC236}">
                  <a16:creationId xmlns:a16="http://schemas.microsoft.com/office/drawing/2014/main" id="{2334549F-B791-094D-904B-02DFE9589DA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5002299" y="6003908"/>
              <a:ext cx="273124" cy="273124"/>
            </a:xfrm>
            <a:prstGeom prst="rect">
              <a:avLst/>
            </a:prstGeom>
          </p:spPr>
        </p:pic>
        <p:pic>
          <p:nvPicPr>
            <p:cNvPr id="16" name="Graphic 15">
              <a:extLst>
                <a:ext uri="{FF2B5EF4-FFF2-40B4-BE49-F238E27FC236}">
                  <a16:creationId xmlns:a16="http://schemas.microsoft.com/office/drawing/2014/main" id="{B95E0A5D-6B5A-574A-952B-5CCC36F4248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896939" y="6065869"/>
              <a:ext cx="276096" cy="184064"/>
            </a:xfrm>
            <a:prstGeom prst="rect">
              <a:avLst/>
            </a:prstGeom>
          </p:spPr>
        </p:pic>
        <p:sp>
          <p:nvSpPr>
            <p:cNvPr id="17" name="TextBox 16">
              <a:extLst>
                <a:ext uri="{FF2B5EF4-FFF2-40B4-BE49-F238E27FC236}">
                  <a16:creationId xmlns:a16="http://schemas.microsoft.com/office/drawing/2014/main" id="{B2A00D36-E1AC-D74E-998F-CC798B2ACD8B}"/>
                </a:ext>
              </a:extLst>
            </p:cNvPr>
            <p:cNvSpPr txBox="1"/>
            <p:nvPr userDrawn="1"/>
          </p:nvSpPr>
          <p:spPr>
            <a:xfrm>
              <a:off x="5293734" y="5952904"/>
              <a:ext cx="2659052" cy="353045"/>
            </a:xfrm>
            <a:prstGeom prst="rect">
              <a:avLst/>
            </a:prstGeom>
            <a:noFill/>
          </p:spPr>
          <p:txBody>
            <a:bodyPr wrap="square" rtlCol="0">
              <a:spAutoFit/>
            </a:bodyPr>
            <a:lstStyle/>
            <a:p>
              <a:pPr lvl="0">
                <a:lnSpc>
                  <a:spcPts val="2300"/>
                </a:lnSpc>
              </a:pPr>
              <a:r>
                <a:rPr lang="en-US" sz="1500" b="1" err="1">
                  <a:solidFill>
                    <a:schemeClr val="bg2"/>
                  </a:solidFill>
                  <a:latin typeface="Tahoma" panose="020B0604030504040204" pitchFamily="34" charset="0"/>
                  <a:ea typeface="Tahoma" panose="020B0604030504040204" pitchFamily="34" charset="0"/>
                  <a:cs typeface="Tahoma" panose="020B0604030504040204" pitchFamily="34" charset="0"/>
                </a:rPr>
                <a:t>www.hct.ac.ae</a:t>
              </a:r>
              <a:endParaRPr lang="en-US" sz="1500" b="1">
                <a:solidFill>
                  <a:schemeClr val="bg2"/>
                </a:solidFill>
                <a:latin typeface="Tahoma" panose="020B0604030504040204" pitchFamily="34" charset="0"/>
                <a:ea typeface="Tahoma" panose="020B0604030504040204" pitchFamily="34" charset="0"/>
                <a:cs typeface="Tahoma" panose="020B0604030504040204" pitchFamily="34" charset="0"/>
              </a:endParaRPr>
            </a:p>
          </p:txBody>
        </p:sp>
        <p:pic>
          <p:nvPicPr>
            <p:cNvPr id="13" name="Graphic 12">
              <a:extLst>
                <a:ext uri="{FF2B5EF4-FFF2-40B4-BE49-F238E27FC236}">
                  <a16:creationId xmlns:a16="http://schemas.microsoft.com/office/drawing/2014/main" id="{BCEE45B5-14AA-FB49-B39F-4EEAEEE0834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91430" y="5976856"/>
              <a:ext cx="3161546" cy="376374"/>
            </a:xfrm>
            <a:prstGeom prst="rect">
              <a:avLst/>
            </a:prstGeom>
          </p:spPr>
        </p:pic>
      </p:grpSp>
    </p:spTree>
    <p:extLst>
      <p:ext uri="{BB962C8B-B14F-4D97-AF65-F5344CB8AC3E}">
        <p14:creationId xmlns:p14="http://schemas.microsoft.com/office/powerpoint/2010/main" val="1267025233"/>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252A1A-53F2-9E44-9217-EF55FD212434}"/>
              </a:ext>
            </a:extLst>
          </p:cNvPr>
          <p:cNvSpPr>
            <a:spLocks noGrp="1"/>
          </p:cNvSpPr>
          <p:nvPr>
            <p:ph type="title"/>
          </p:nvPr>
        </p:nvSpPr>
        <p:spPr>
          <a:xfrm>
            <a:off x="356840" y="365125"/>
            <a:ext cx="11471616" cy="119062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EEBABE-8E1F-FD45-BACB-85DFCD7888BA}"/>
              </a:ext>
            </a:extLst>
          </p:cNvPr>
          <p:cNvSpPr>
            <a:spLocks noGrp="1"/>
          </p:cNvSpPr>
          <p:nvPr>
            <p:ph type="body" idx="1"/>
          </p:nvPr>
        </p:nvSpPr>
        <p:spPr>
          <a:xfrm>
            <a:off x="356839" y="1825625"/>
            <a:ext cx="11471617"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22EEEB-82E9-5B41-A455-E99055A3997A}"/>
              </a:ext>
            </a:extLst>
          </p:cNvPr>
          <p:cNvSpPr>
            <a:spLocks noGrp="1"/>
          </p:cNvSpPr>
          <p:nvPr>
            <p:ph type="dt" sz="half" idx="2"/>
          </p:nvPr>
        </p:nvSpPr>
        <p:spPr>
          <a:xfrm>
            <a:off x="1430790" y="6356350"/>
            <a:ext cx="1633538" cy="365125"/>
          </a:xfrm>
          <a:prstGeom prst="rect">
            <a:avLst/>
          </a:prstGeom>
        </p:spPr>
        <p:txBody>
          <a:bodyPr vert="horz" lIns="91440" tIns="45720" rIns="91440" bIns="45720" rtlCol="0" anchor="ctr"/>
          <a:lstStyle>
            <a:lvl1pPr algn="l">
              <a:defRPr sz="1200" b="0" i="0">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fld id="{4FFDA522-F4CE-F942-9609-C40C1E1F3554}" type="datetime1">
              <a:rPr lang="en-US" smtClean="0"/>
              <a:t>9/21/2026</a:t>
            </a:fld>
            <a:endParaRPr lang="en-US"/>
          </a:p>
        </p:txBody>
      </p:sp>
      <p:sp>
        <p:nvSpPr>
          <p:cNvPr id="5" name="Footer Placeholder 4">
            <a:extLst>
              <a:ext uri="{FF2B5EF4-FFF2-40B4-BE49-F238E27FC236}">
                <a16:creationId xmlns:a16="http://schemas.microsoft.com/office/drawing/2014/main" id="{CEF76DFF-6753-9D4F-95EE-BAA691F44C16}"/>
              </a:ext>
            </a:extLst>
          </p:cNvPr>
          <p:cNvSpPr>
            <a:spLocks noGrp="1"/>
          </p:cNvSpPr>
          <p:nvPr>
            <p:ph type="ftr" sz="quarter" idx="3"/>
          </p:nvPr>
        </p:nvSpPr>
        <p:spPr>
          <a:xfrm>
            <a:off x="3319119" y="6356350"/>
            <a:ext cx="5148000" cy="365125"/>
          </a:xfrm>
          <a:prstGeom prst="rect">
            <a:avLst/>
          </a:prstGeom>
        </p:spPr>
        <p:txBody>
          <a:bodyPr vert="horz" lIns="91440" tIns="45720" rIns="91440" bIns="45720" rtlCol="0" anchor="ctr"/>
          <a:lstStyle>
            <a:lvl1pPr algn="l">
              <a:defRPr sz="1200" b="0" i="0">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Footer goes here</a:t>
            </a:r>
          </a:p>
        </p:txBody>
      </p:sp>
      <p:sp>
        <p:nvSpPr>
          <p:cNvPr id="6" name="Slide Number Placeholder 5">
            <a:extLst>
              <a:ext uri="{FF2B5EF4-FFF2-40B4-BE49-F238E27FC236}">
                <a16:creationId xmlns:a16="http://schemas.microsoft.com/office/drawing/2014/main" id="{86E950D9-1D75-D24F-9D65-E9F8AAA0ADE9}"/>
              </a:ext>
            </a:extLst>
          </p:cNvPr>
          <p:cNvSpPr>
            <a:spLocks noGrp="1"/>
          </p:cNvSpPr>
          <p:nvPr>
            <p:ph type="sldNum" sz="quarter" idx="4"/>
          </p:nvPr>
        </p:nvSpPr>
        <p:spPr>
          <a:xfrm>
            <a:off x="356839" y="6356350"/>
            <a:ext cx="814388" cy="365125"/>
          </a:xfrm>
          <a:prstGeom prst="rect">
            <a:avLst/>
          </a:prstGeom>
        </p:spPr>
        <p:txBody>
          <a:bodyPr vert="horz" lIns="91440" tIns="45720" rIns="91440" bIns="45720" rtlCol="0" anchor="ctr"/>
          <a:lstStyle>
            <a:lvl1pPr algn="l">
              <a:defRPr sz="1200" b="0" i="0">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fld id="{A91C39B3-71BA-C04A-8F90-02179B3D98C0}" type="slidenum">
              <a:rPr lang="en-US" smtClean="0"/>
              <a:pPr/>
              <a:t>‹#›</a:t>
            </a:fld>
            <a:endParaRPr lang="en-US"/>
          </a:p>
        </p:txBody>
      </p:sp>
    </p:spTree>
    <p:extLst>
      <p:ext uri="{BB962C8B-B14F-4D97-AF65-F5344CB8AC3E}">
        <p14:creationId xmlns:p14="http://schemas.microsoft.com/office/powerpoint/2010/main" val="388363239"/>
      </p:ext>
    </p:extLst>
  </p:cSld>
  <p:clrMap bg1="lt1" tx1="dk1" bg2="lt2" tx2="dk2" accent1="accent1" accent2="accent2" accent3="accent3" accent4="accent4" accent5="accent5" accent6="accent6" hlink="hlink" folHlink="folHlink"/>
  <p:sldLayoutIdLst>
    <p:sldLayoutId id="2147483793" r:id="rId1"/>
    <p:sldLayoutId id="2147483755" r:id="rId2"/>
    <p:sldLayoutId id="2147483800" r:id="rId3"/>
    <p:sldLayoutId id="2147483798" r:id="rId4"/>
    <p:sldLayoutId id="2147483799" r:id="rId5"/>
    <p:sldLayoutId id="2147483736" r:id="rId6"/>
    <p:sldLayoutId id="2147483794" r:id="rId7"/>
    <p:sldLayoutId id="2147483795" r:id="rId8"/>
    <p:sldLayoutId id="2147483734" r:id="rId9"/>
    <p:sldLayoutId id="2147483779" r:id="rId10"/>
  </p:sldLayoutIdLst>
  <p:hf hdr="0"/>
  <p:txStyles>
    <p:titleStyle>
      <a:lvl1pPr algn="l" defTabSz="914400" rtl="0" eaLnBrk="1" latinLnBrk="0" hangingPunct="1">
        <a:lnSpc>
          <a:spcPct val="90000"/>
        </a:lnSpc>
        <a:spcBef>
          <a:spcPct val="0"/>
        </a:spcBef>
        <a:buNone/>
        <a:defRPr sz="44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hyperlink" Target="https://web.microsoftstream.com/video/d3a97d56-5b20-43d1-b049-d03f0a4955ae" TargetMode="External"/><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hyperlink" Target="http://www.mathsisfun.com/data/frequency-distribution-grouped.html" TargetMode="Externa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8.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25.png"/><Relationship Id="rId2" Type="http://schemas.openxmlformats.org/officeDocument/2006/relationships/image" Target="../media/image22.png"/><Relationship Id="rId1" Type="http://schemas.openxmlformats.org/officeDocument/2006/relationships/slideLayout" Target="../slideLayouts/slideLayout6.xml"/><Relationship Id="rId6" Type="http://schemas.openxmlformats.org/officeDocument/2006/relationships/image" Target="../media/image24.png"/><Relationship Id="rId11" Type="http://schemas.openxmlformats.org/officeDocument/2006/relationships/customXml" Target="../ink/ink7.xml"/><Relationship Id="rId5" Type="http://schemas.openxmlformats.org/officeDocument/2006/relationships/customXml" Target="../ink/ink2.xml"/><Relationship Id="rId10" Type="http://schemas.openxmlformats.org/officeDocument/2006/relationships/customXml" Target="../ink/ink6.xml"/><Relationship Id="rId4" Type="http://schemas.openxmlformats.org/officeDocument/2006/relationships/image" Target="../media/image23.png"/><Relationship Id="rId9" Type="http://schemas.openxmlformats.org/officeDocument/2006/relationships/customXml" Target="../ink/ink5.xml"/><Relationship Id="rId14" Type="http://schemas.openxmlformats.org/officeDocument/2006/relationships/image" Target="../media/image2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hyperlink" Target="https://web.microsoftstream.com/video/cb0c64a1-8270-4677-84f5-baf9f4ed2006" TargetMode="External"/><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xm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038BD092-45EA-8DC6-8D8A-2CC302A86D79}"/>
              </a:ext>
            </a:extLst>
          </p:cNvPr>
          <p:cNvSpPr>
            <a:spLocks noGrp="1"/>
          </p:cNvSpPr>
          <p:nvPr>
            <p:ph type="subTitle" idx="1"/>
          </p:nvPr>
        </p:nvSpPr>
        <p:spPr/>
        <p:txBody>
          <a:bodyPr/>
          <a:lstStyle/>
          <a:p>
            <a:r>
              <a:rPr lang="en-US"/>
              <a:t>BUS 1023: Applied Mathematics for Business</a:t>
            </a:r>
          </a:p>
          <a:p>
            <a:endParaRPr lang="en-US"/>
          </a:p>
        </p:txBody>
      </p:sp>
      <p:sp>
        <p:nvSpPr>
          <p:cNvPr id="3" name="Title 2">
            <a:extLst>
              <a:ext uri="{FF2B5EF4-FFF2-40B4-BE49-F238E27FC236}">
                <a16:creationId xmlns:a16="http://schemas.microsoft.com/office/drawing/2014/main" id="{73617C3F-5B8B-D2CB-5591-8634446633B1}"/>
              </a:ext>
            </a:extLst>
          </p:cNvPr>
          <p:cNvSpPr>
            <a:spLocks noGrp="1"/>
          </p:cNvSpPr>
          <p:nvPr>
            <p:ph type="title"/>
          </p:nvPr>
        </p:nvSpPr>
        <p:spPr/>
        <p:txBody>
          <a:bodyPr>
            <a:noAutofit/>
          </a:bodyPr>
          <a:lstStyle/>
          <a:p>
            <a:pPr rtl="1"/>
            <a:r>
              <a:rPr lang="en-US" sz="3200"/>
              <a:t>CLO 1.2</a:t>
            </a:r>
            <a:br>
              <a:rPr lang="en-US" sz="3200"/>
            </a:br>
            <a:r>
              <a:rPr lang="en-US" sz="2400">
                <a:latin typeface="Arial" panose="020B0604020202020204" pitchFamily="34" charset="0"/>
                <a:cs typeface="Arial" panose="020B0604020202020204" pitchFamily="34" charset="0"/>
              </a:rPr>
              <a:t>Organize and Interpret Data Using Frequency Distributions</a:t>
            </a:r>
            <a:endParaRPr lang="en-US" sz="2200"/>
          </a:p>
        </p:txBody>
      </p:sp>
      <p:sp>
        <p:nvSpPr>
          <p:cNvPr id="4" name="Date Placeholder 3">
            <a:extLst>
              <a:ext uri="{FF2B5EF4-FFF2-40B4-BE49-F238E27FC236}">
                <a16:creationId xmlns:a16="http://schemas.microsoft.com/office/drawing/2014/main" id="{54234507-2781-317D-B675-552CAB29EF86}"/>
              </a:ext>
            </a:extLst>
          </p:cNvPr>
          <p:cNvSpPr>
            <a:spLocks noGrp="1"/>
          </p:cNvSpPr>
          <p:nvPr>
            <p:ph type="dt" sz="half" idx="10"/>
          </p:nvPr>
        </p:nvSpPr>
        <p:spPr/>
        <p:txBody>
          <a:bodyPr/>
          <a:lstStyle/>
          <a:p>
            <a:pPr algn="r"/>
            <a:fld id="{9FB76777-9218-4188-BD26-CF1E318BE795}" type="datetime2">
              <a:rPr lang="en-US" smtClean="0"/>
              <a:pPr algn="r"/>
              <a:t>Monday, September 21, 2026</a:t>
            </a:fld>
            <a:endParaRPr lang="en-AE"/>
          </a:p>
        </p:txBody>
      </p:sp>
    </p:spTree>
    <p:extLst>
      <p:ext uri="{BB962C8B-B14F-4D97-AF65-F5344CB8AC3E}">
        <p14:creationId xmlns:p14="http://schemas.microsoft.com/office/powerpoint/2010/main" val="11893552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293411E-7341-4B1B-BC87-A4C6F0FFE759}"/>
              </a:ext>
            </a:extLst>
          </p:cNvPr>
          <p:cNvPicPr>
            <a:picLocks noChangeAspect="1"/>
          </p:cNvPicPr>
          <p:nvPr/>
        </p:nvPicPr>
        <p:blipFill>
          <a:blip r:embed="rId2"/>
          <a:stretch>
            <a:fillRect/>
          </a:stretch>
        </p:blipFill>
        <p:spPr>
          <a:xfrm>
            <a:off x="835363" y="866077"/>
            <a:ext cx="10790647" cy="3753269"/>
          </a:xfrm>
          <a:prstGeom prst="rect">
            <a:avLst/>
          </a:prstGeom>
        </p:spPr>
      </p:pic>
      <p:sp>
        <p:nvSpPr>
          <p:cNvPr id="8" name="Action Button: Movie 7">
            <a:hlinkClick r:id="rId3" highlightClick="1"/>
          </p:cNvPr>
          <p:cNvSpPr/>
          <p:nvPr/>
        </p:nvSpPr>
        <p:spPr>
          <a:xfrm>
            <a:off x="966154" y="215569"/>
            <a:ext cx="545433" cy="441267"/>
          </a:xfrm>
          <a:prstGeom prst="actionButtonMovie">
            <a:avLst/>
          </a:prstGeom>
          <a:solidFill>
            <a:srgbClr val="D5E5F3"/>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4747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a:spLocks noChangeArrowheads="1"/>
          </p:cNvSpPr>
          <p:nvPr/>
        </p:nvSpPr>
        <p:spPr bwMode="auto">
          <a:xfrm>
            <a:off x="867218" y="1197528"/>
            <a:ext cx="9717655"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2800">
                <a:solidFill>
                  <a:schemeClr val="accent6"/>
                </a:solidFill>
                <a:latin typeface="+mj-lt"/>
              </a:rPr>
              <a:t>Frequency is </a:t>
            </a:r>
            <a:r>
              <a:rPr lang="en-US" sz="2800" b="1">
                <a:solidFill>
                  <a:schemeClr val="accent6"/>
                </a:solidFill>
                <a:latin typeface="+mj-lt"/>
              </a:rPr>
              <a:t>how  </a:t>
            </a:r>
            <a:r>
              <a:rPr lang="en-US" sz="2800">
                <a:solidFill>
                  <a:schemeClr val="accent6"/>
                </a:solidFill>
                <a:latin typeface="+mj-lt"/>
              </a:rPr>
              <a:t>something occurs.</a:t>
            </a:r>
          </a:p>
          <a:p>
            <a:pPr eaLnBrk="1" hangingPunct="1"/>
            <a:endParaRPr lang="en-US" sz="2800">
              <a:solidFill>
                <a:schemeClr val="accent6"/>
              </a:solidFill>
              <a:latin typeface="+mj-lt"/>
            </a:endParaRPr>
          </a:p>
          <a:p>
            <a:pPr eaLnBrk="1" hangingPunct="1"/>
            <a:r>
              <a:rPr lang="en-US" sz="2800" b="1">
                <a:solidFill>
                  <a:srgbClr val="C00000"/>
                </a:solidFill>
                <a:latin typeface="+mj-lt"/>
              </a:rPr>
              <a:t>Example: </a:t>
            </a:r>
            <a:r>
              <a:rPr lang="en-US" sz="2800">
                <a:solidFill>
                  <a:schemeClr val="accent6"/>
                </a:solidFill>
                <a:latin typeface="+mj-lt"/>
              </a:rPr>
              <a:t>Sam played football on… </a:t>
            </a:r>
            <a:endParaRPr lang="en-US" sz="2800">
              <a:solidFill>
                <a:schemeClr val="accent6"/>
              </a:solidFill>
              <a:latin typeface="+mj-lt"/>
              <a:cs typeface="Arial"/>
            </a:endParaRPr>
          </a:p>
          <a:p>
            <a:pPr marL="3086100" lvl="5" indent="-571500" eaLnBrk="1" hangingPunct="1">
              <a:buFont typeface="Arial" pitchFamily="34" charset="0"/>
              <a:buChar char="•"/>
            </a:pPr>
            <a:r>
              <a:rPr lang="en-US" sz="2800">
                <a:solidFill>
                  <a:schemeClr val="accent6"/>
                </a:solidFill>
                <a:latin typeface="+mj-lt"/>
              </a:rPr>
              <a:t>Saturday morning</a:t>
            </a:r>
          </a:p>
          <a:p>
            <a:pPr marL="3086100" lvl="5" indent="-571500" eaLnBrk="1" hangingPunct="1">
              <a:buFont typeface="Arial" pitchFamily="34" charset="0"/>
              <a:buChar char="•"/>
            </a:pPr>
            <a:r>
              <a:rPr lang="en-US" sz="2800">
                <a:solidFill>
                  <a:schemeClr val="accent6"/>
                </a:solidFill>
                <a:latin typeface="+mj-lt"/>
              </a:rPr>
              <a:t>Saturday afternoon</a:t>
            </a:r>
          </a:p>
          <a:p>
            <a:pPr marL="3086100" lvl="5" indent="-571500" eaLnBrk="1" hangingPunct="1">
              <a:buFont typeface="Arial" pitchFamily="34" charset="0"/>
              <a:buChar char="•"/>
            </a:pPr>
            <a:r>
              <a:rPr lang="en-US" sz="2800">
                <a:solidFill>
                  <a:schemeClr val="accent6"/>
                </a:solidFill>
                <a:latin typeface="+mj-lt"/>
              </a:rPr>
              <a:t>Sunday afternoon</a:t>
            </a:r>
          </a:p>
          <a:p>
            <a:pPr lvl="5" indent="0" eaLnBrk="1" hangingPunct="1"/>
            <a:endParaRPr lang="en-US" sz="2800">
              <a:solidFill>
                <a:schemeClr val="accent6"/>
              </a:solidFill>
              <a:latin typeface="+mj-lt"/>
            </a:endParaRPr>
          </a:p>
          <a:p>
            <a:pPr eaLnBrk="1" hangingPunct="1"/>
            <a:r>
              <a:rPr lang="en-US" sz="2800">
                <a:solidFill>
                  <a:schemeClr val="accent6"/>
                </a:solidFill>
                <a:latin typeface="+mj-lt"/>
              </a:rPr>
              <a:t>How often Sam played football?</a:t>
            </a:r>
          </a:p>
          <a:p>
            <a:pPr eaLnBrk="1" hangingPunct="1"/>
            <a:endParaRPr lang="en-US" sz="2800">
              <a:solidFill>
                <a:schemeClr val="accent6"/>
              </a:solidFill>
              <a:latin typeface="+mj-lt"/>
            </a:endParaRPr>
          </a:p>
          <a:p>
            <a:pPr eaLnBrk="1" hangingPunct="1"/>
            <a:r>
              <a:rPr lang="en-US" sz="2800">
                <a:solidFill>
                  <a:schemeClr val="accent6"/>
                </a:solidFill>
                <a:latin typeface="+mj-lt"/>
              </a:rPr>
              <a:t>The frequency is: </a:t>
            </a:r>
            <a:r>
              <a:rPr lang="en-US" sz="2800" b="1">
                <a:solidFill>
                  <a:srgbClr val="C00000"/>
                </a:solidFill>
                <a:latin typeface="+mj-lt"/>
              </a:rPr>
              <a:t>3</a:t>
            </a:r>
          </a:p>
        </p:txBody>
      </p:sp>
      <p:sp>
        <p:nvSpPr>
          <p:cNvPr id="13" name="TextBox 12"/>
          <p:cNvSpPr txBox="1"/>
          <p:nvPr/>
        </p:nvSpPr>
        <p:spPr>
          <a:xfrm>
            <a:off x="867218" y="135151"/>
            <a:ext cx="9157355" cy="769441"/>
          </a:xfrm>
          <a:prstGeom prst="rect">
            <a:avLst/>
          </a:prstGeom>
          <a:noFill/>
        </p:spPr>
        <p:txBody>
          <a:bodyPr wrap="square" rtlCol="0">
            <a:spAutoFit/>
          </a:bodyPr>
          <a:lstStyle/>
          <a:p>
            <a:r>
              <a:rPr lang="en-US" sz="4400" b="1" u="sng">
                <a:solidFill>
                  <a:schemeClr val="accent6"/>
                </a:solidFill>
                <a:latin typeface="+mj-lt"/>
              </a:rPr>
              <a:t>Frequency</a:t>
            </a:r>
          </a:p>
        </p:txBody>
      </p:sp>
      <p:sp>
        <p:nvSpPr>
          <p:cNvPr id="14" name="TextBox 13"/>
          <p:cNvSpPr txBox="1"/>
          <p:nvPr/>
        </p:nvSpPr>
        <p:spPr>
          <a:xfrm>
            <a:off x="867218" y="6442699"/>
            <a:ext cx="4434227" cy="261610"/>
          </a:xfrm>
          <a:prstGeom prst="rect">
            <a:avLst/>
          </a:prstGeom>
          <a:noFill/>
        </p:spPr>
        <p:txBody>
          <a:bodyPr wrap="none" rtlCol="0">
            <a:spAutoFit/>
          </a:bodyPr>
          <a:lstStyle/>
          <a:p>
            <a:r>
              <a:rPr lang="en-US" sz="1100">
                <a:solidFill>
                  <a:schemeClr val="accent6"/>
                </a:solidFill>
                <a:hlinkClick r:id="rId2"/>
              </a:rPr>
              <a:t>http://www.mathsisfun.com/data/frequency-distribution-grouped.html</a:t>
            </a:r>
            <a:endParaRPr lang="en-US" sz="1100">
              <a:solidFill>
                <a:schemeClr val="accent6"/>
              </a:solidFill>
            </a:endParaRPr>
          </a:p>
        </p:txBody>
      </p:sp>
      <p:sp>
        <p:nvSpPr>
          <p:cNvPr id="15" name="Cloud 14"/>
          <p:cNvSpPr/>
          <p:nvPr/>
        </p:nvSpPr>
        <p:spPr>
          <a:xfrm>
            <a:off x="7490691" y="1291298"/>
            <a:ext cx="4230254" cy="4435763"/>
          </a:xfrm>
          <a:prstGeom prst="cloud">
            <a:avLst/>
          </a:prstGeom>
          <a:solidFill>
            <a:schemeClr val="accent6">
              <a:lumMod val="10000"/>
              <a:lumOff val="90000"/>
            </a:schemeClr>
          </a:solidFill>
          <a:ln w="762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solidFill>
                  <a:schemeClr val="accent6"/>
                </a:solidFill>
                <a:latin typeface="Calibri" pitchFamily="34" charset="0"/>
              </a:rPr>
              <a:t>By counting frequencies we can make a frequency distribution table</a:t>
            </a:r>
          </a:p>
          <a:p>
            <a:pPr algn="ctr"/>
            <a:endParaRPr lang="en-US">
              <a:solidFill>
                <a:schemeClr val="accent6"/>
              </a:solidFill>
            </a:endParaRPr>
          </a:p>
        </p:txBody>
      </p:sp>
    </p:spTree>
    <p:extLst>
      <p:ext uri="{BB962C8B-B14F-4D97-AF65-F5344CB8AC3E}">
        <p14:creationId xmlns:p14="http://schemas.microsoft.com/office/powerpoint/2010/main" val="3680403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2235200" y="3716712"/>
            <a:ext cx="2895600" cy="1335577"/>
          </a:xfrm>
          <a:prstGeom prst="roundRect">
            <a:avLst/>
          </a:prstGeom>
          <a:solidFill>
            <a:srgbClr val="92D050"/>
          </a:solidFill>
          <a:ln w="762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2"/>
                </a:solidFill>
              </a:rPr>
              <a:t>(a) CATEGORICAL FREQUENCY DISTRIBUTION</a:t>
            </a:r>
          </a:p>
        </p:txBody>
      </p:sp>
      <p:sp>
        <p:nvSpPr>
          <p:cNvPr id="3" name="Rounded Rectangle 2"/>
          <p:cNvSpPr/>
          <p:nvPr/>
        </p:nvSpPr>
        <p:spPr>
          <a:xfrm>
            <a:off x="7001161" y="3733340"/>
            <a:ext cx="2895600" cy="1318949"/>
          </a:xfrm>
          <a:prstGeom prst="roundRect">
            <a:avLst/>
          </a:prstGeom>
          <a:solidFill>
            <a:srgbClr val="92D050"/>
          </a:solidFill>
          <a:ln w="762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2"/>
                </a:solidFill>
              </a:rPr>
              <a:t>(b) GROUPED or          (c) UNGROUPED FREQUENCY DISTRIBUTION</a:t>
            </a:r>
          </a:p>
        </p:txBody>
      </p:sp>
      <p:grpSp>
        <p:nvGrpSpPr>
          <p:cNvPr id="4" name="Group 3"/>
          <p:cNvGrpSpPr/>
          <p:nvPr/>
        </p:nvGrpSpPr>
        <p:grpSpPr>
          <a:xfrm>
            <a:off x="3547686" y="2200561"/>
            <a:ext cx="5032896" cy="1460732"/>
            <a:chOff x="3547686" y="2200561"/>
            <a:chExt cx="5032896" cy="1460732"/>
          </a:xfrm>
          <a:solidFill>
            <a:schemeClr val="accent2">
              <a:lumMod val="75000"/>
            </a:schemeClr>
          </a:solidFill>
        </p:grpSpPr>
        <p:sp>
          <p:nvSpPr>
            <p:cNvPr id="5" name="Bent-Up Arrow 4"/>
            <p:cNvSpPr/>
            <p:nvPr/>
          </p:nvSpPr>
          <p:spPr>
            <a:xfrm flipV="1">
              <a:off x="6045662" y="2772758"/>
              <a:ext cx="2534920" cy="888535"/>
            </a:xfrm>
            <a:prstGeom prst="bentUpArrow">
              <a:avLst>
                <a:gd name="adj1" fmla="val 13181"/>
                <a:gd name="adj2" fmla="val 15625"/>
                <a:gd name="adj3" fmla="val 23611"/>
              </a:avLst>
            </a:prstGeom>
            <a:grp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25000"/>
            </a:p>
          </p:txBody>
        </p:sp>
        <p:sp>
          <p:nvSpPr>
            <p:cNvPr id="6" name="Bent-Up Arrow 5"/>
            <p:cNvSpPr/>
            <p:nvPr/>
          </p:nvSpPr>
          <p:spPr>
            <a:xfrm flipH="1" flipV="1">
              <a:off x="3547686" y="2769988"/>
              <a:ext cx="2497976" cy="888535"/>
            </a:xfrm>
            <a:prstGeom prst="bentUpArrow">
              <a:avLst>
                <a:gd name="adj1" fmla="val 13476"/>
                <a:gd name="adj2" fmla="val 15625"/>
                <a:gd name="adj3" fmla="val 23611"/>
              </a:avLst>
            </a:prstGeom>
            <a:grp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25000"/>
            </a:p>
          </p:txBody>
        </p:sp>
        <p:sp>
          <p:nvSpPr>
            <p:cNvPr id="7" name="Rectangle 6"/>
            <p:cNvSpPr/>
            <p:nvPr/>
          </p:nvSpPr>
          <p:spPr>
            <a:xfrm>
              <a:off x="5959822" y="2200561"/>
              <a:ext cx="216593" cy="588359"/>
            </a:xfrm>
            <a:prstGeom prst="rect">
              <a:avLst/>
            </a:prstGeom>
            <a:grp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25000"/>
            </a:p>
          </p:txBody>
        </p:sp>
      </p:grpSp>
      <p:sp>
        <p:nvSpPr>
          <p:cNvPr id="8" name="Oval 7"/>
          <p:cNvSpPr/>
          <p:nvPr/>
        </p:nvSpPr>
        <p:spPr>
          <a:xfrm>
            <a:off x="4754880" y="1283854"/>
            <a:ext cx="2618509" cy="900546"/>
          </a:xfrm>
          <a:prstGeom prst="ellipse">
            <a:avLst/>
          </a:prstGeom>
          <a:solidFill>
            <a:schemeClr val="accent6">
              <a:lumMod val="50000"/>
              <a:lumOff val="50000"/>
            </a:schemeClr>
          </a:solid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2"/>
                </a:solidFill>
              </a:rPr>
              <a:t>FREQUENCY DISTRIBUTION</a:t>
            </a:r>
          </a:p>
        </p:txBody>
      </p:sp>
    </p:spTree>
    <p:extLst>
      <p:ext uri="{BB962C8B-B14F-4D97-AF65-F5344CB8AC3E}">
        <p14:creationId xmlns:p14="http://schemas.microsoft.com/office/powerpoint/2010/main" val="86899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arn(inVertical)">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barn(inVertical)">
                                      <p:cBhvr>
                                        <p:cTn id="2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a:spLocks noChangeArrowheads="1"/>
          </p:cNvSpPr>
          <p:nvPr/>
        </p:nvSpPr>
        <p:spPr bwMode="auto">
          <a:xfrm>
            <a:off x="1294544" y="771252"/>
            <a:ext cx="1014095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n-US" sz="2400">
                <a:solidFill>
                  <a:schemeClr val="accent6"/>
                </a:solidFill>
                <a:latin typeface="+mj-lt"/>
              </a:rPr>
              <a:t>The </a:t>
            </a:r>
            <a:r>
              <a:rPr lang="en-US" sz="2400" b="1">
                <a:solidFill>
                  <a:srgbClr val="0033CC"/>
                </a:solidFill>
                <a:latin typeface="+mj-lt"/>
              </a:rPr>
              <a:t>categorical frequency distribution </a:t>
            </a:r>
            <a:r>
              <a:rPr lang="en-US" sz="2400">
                <a:solidFill>
                  <a:schemeClr val="accent6"/>
                </a:solidFill>
                <a:latin typeface="+mj-lt"/>
              </a:rPr>
              <a:t>is used for data that can be placed into </a:t>
            </a:r>
            <a:r>
              <a:rPr lang="en-US" sz="2400" b="1">
                <a:solidFill>
                  <a:schemeClr val="accent6"/>
                </a:solidFill>
                <a:latin typeface="+mj-lt"/>
              </a:rPr>
              <a:t>specific categories</a:t>
            </a:r>
            <a:r>
              <a:rPr lang="en-US" sz="2400">
                <a:solidFill>
                  <a:schemeClr val="accent6"/>
                </a:solidFill>
                <a:latin typeface="+mj-lt"/>
              </a:rPr>
              <a:t>.</a:t>
            </a:r>
          </a:p>
        </p:txBody>
      </p:sp>
      <p:sp>
        <p:nvSpPr>
          <p:cNvPr id="3" name="TextBox 2"/>
          <p:cNvSpPr txBox="1"/>
          <p:nvPr/>
        </p:nvSpPr>
        <p:spPr>
          <a:xfrm>
            <a:off x="790618" y="164999"/>
            <a:ext cx="9614556" cy="584775"/>
          </a:xfrm>
          <a:prstGeom prst="rect">
            <a:avLst/>
          </a:prstGeom>
          <a:noFill/>
        </p:spPr>
        <p:txBody>
          <a:bodyPr wrap="square" rtlCol="0">
            <a:spAutoFit/>
          </a:bodyPr>
          <a:lstStyle/>
          <a:p>
            <a:r>
              <a:rPr lang="en-US" sz="3200" b="1">
                <a:solidFill>
                  <a:srgbClr val="002060"/>
                </a:solidFill>
                <a:latin typeface="+mj-lt"/>
              </a:rPr>
              <a:t>A. Categorical Frequency Distribution</a:t>
            </a:r>
          </a:p>
        </p:txBody>
      </p:sp>
      <p:sp>
        <p:nvSpPr>
          <p:cNvPr id="4" name="TextBox 3"/>
          <p:cNvSpPr txBox="1">
            <a:spLocks noChangeArrowheads="1"/>
          </p:cNvSpPr>
          <p:nvPr/>
        </p:nvSpPr>
        <p:spPr bwMode="auto">
          <a:xfrm>
            <a:off x="791964" y="2502789"/>
            <a:ext cx="11148812"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2800" b="1" u="sng">
                <a:solidFill>
                  <a:srgbClr val="FF0000"/>
                </a:solidFill>
                <a:latin typeface="Calibri" pitchFamily="34" charset="0"/>
              </a:rPr>
              <a:t>Step 1: </a:t>
            </a:r>
            <a:r>
              <a:rPr lang="en-US" sz="2800">
                <a:solidFill>
                  <a:schemeClr val="accent6"/>
                </a:solidFill>
                <a:latin typeface="Calibri" pitchFamily="34" charset="0"/>
              </a:rPr>
              <a:t>Make a table with the following columns in order</a:t>
            </a:r>
            <a:r>
              <a:rPr lang="en-US" sz="2800">
                <a:latin typeface="Calibri" pitchFamily="34" charset="0"/>
              </a:rPr>
              <a:t>: </a:t>
            </a:r>
            <a:r>
              <a:rPr lang="en-US" sz="2800" b="1">
                <a:solidFill>
                  <a:schemeClr val="accent3">
                    <a:lumMod val="50000"/>
                  </a:schemeClr>
                </a:solidFill>
                <a:latin typeface="Calibri" pitchFamily="34" charset="0"/>
              </a:rPr>
              <a:t>class</a:t>
            </a:r>
            <a:r>
              <a:rPr lang="en-US" sz="2800">
                <a:solidFill>
                  <a:schemeClr val="accent3">
                    <a:lumMod val="50000"/>
                  </a:schemeClr>
                </a:solidFill>
                <a:latin typeface="Calibri" pitchFamily="34" charset="0"/>
              </a:rPr>
              <a:t>, </a:t>
            </a:r>
            <a:r>
              <a:rPr lang="en-US" sz="2800" b="1">
                <a:solidFill>
                  <a:schemeClr val="accent3">
                    <a:lumMod val="50000"/>
                  </a:schemeClr>
                </a:solidFill>
                <a:latin typeface="Calibri" pitchFamily="34" charset="0"/>
              </a:rPr>
              <a:t>tally</a:t>
            </a:r>
            <a:r>
              <a:rPr lang="en-US" sz="2800">
                <a:solidFill>
                  <a:schemeClr val="accent3">
                    <a:lumMod val="50000"/>
                  </a:schemeClr>
                </a:solidFill>
                <a:latin typeface="Calibri" pitchFamily="34" charset="0"/>
              </a:rPr>
              <a:t>, </a:t>
            </a:r>
            <a:r>
              <a:rPr lang="en-US" sz="2800">
                <a:solidFill>
                  <a:schemeClr val="accent6"/>
                </a:solidFill>
                <a:latin typeface="Calibri" pitchFamily="34" charset="0"/>
              </a:rPr>
              <a:t>and </a:t>
            </a:r>
            <a:r>
              <a:rPr lang="en-US" sz="2800" b="1">
                <a:solidFill>
                  <a:schemeClr val="accent3">
                    <a:lumMod val="50000"/>
                  </a:schemeClr>
                </a:solidFill>
                <a:latin typeface="Calibri" pitchFamily="34" charset="0"/>
              </a:rPr>
              <a:t>frequency. </a:t>
            </a:r>
          </a:p>
          <a:p>
            <a:pPr eaLnBrk="1" hangingPunct="1"/>
            <a:endParaRPr lang="en-US" sz="2800" b="1">
              <a:solidFill>
                <a:schemeClr val="accent3">
                  <a:lumMod val="50000"/>
                </a:schemeClr>
              </a:solidFill>
              <a:latin typeface="Calibri" pitchFamily="34" charset="0"/>
            </a:endParaRPr>
          </a:p>
          <a:p>
            <a:pPr eaLnBrk="1" hangingPunct="1"/>
            <a:r>
              <a:rPr lang="en-US" sz="2800" b="1" u="sng">
                <a:solidFill>
                  <a:srgbClr val="FF0000"/>
                </a:solidFill>
                <a:latin typeface="Calibri" pitchFamily="34" charset="0"/>
              </a:rPr>
              <a:t>Step 2: </a:t>
            </a:r>
            <a:r>
              <a:rPr lang="en-US" sz="2800">
                <a:solidFill>
                  <a:schemeClr val="accent6"/>
                </a:solidFill>
                <a:latin typeface="Calibri" pitchFamily="34" charset="0"/>
              </a:rPr>
              <a:t>Tally the data and place the results in the tally column.</a:t>
            </a:r>
            <a:r>
              <a:rPr lang="en-US" sz="2800" b="1">
                <a:solidFill>
                  <a:schemeClr val="accent6"/>
                </a:solidFill>
                <a:latin typeface="Calibri" pitchFamily="34" charset="0"/>
              </a:rPr>
              <a:t> </a:t>
            </a:r>
          </a:p>
          <a:p>
            <a:pPr eaLnBrk="1" hangingPunct="1"/>
            <a:endParaRPr lang="en-US" sz="2800" b="1">
              <a:solidFill>
                <a:schemeClr val="accent6"/>
              </a:solidFill>
              <a:latin typeface="Calibri" pitchFamily="34" charset="0"/>
            </a:endParaRPr>
          </a:p>
          <a:p>
            <a:pPr eaLnBrk="1" hangingPunct="1"/>
            <a:r>
              <a:rPr lang="en-US" sz="2800" b="1" u="sng">
                <a:solidFill>
                  <a:srgbClr val="FF0000"/>
                </a:solidFill>
                <a:latin typeface="Calibri" pitchFamily="34" charset="0"/>
              </a:rPr>
              <a:t>Step 3: </a:t>
            </a:r>
            <a:r>
              <a:rPr lang="en-US" sz="2800">
                <a:solidFill>
                  <a:schemeClr val="accent6"/>
                </a:solidFill>
                <a:latin typeface="Calibri" pitchFamily="34" charset="0"/>
              </a:rPr>
              <a:t>Count the tallies and place the results in the frequency column.</a:t>
            </a:r>
          </a:p>
          <a:p>
            <a:pPr eaLnBrk="1" hangingPunct="1"/>
            <a:endParaRPr lang="en-US" sz="2800">
              <a:latin typeface="Calibri" pitchFamily="34" charset="0"/>
            </a:endParaRPr>
          </a:p>
          <a:p>
            <a:pPr eaLnBrk="1" hangingPunct="1"/>
            <a:endParaRPr lang="en-US" sz="2800" b="1">
              <a:solidFill>
                <a:schemeClr val="accent3"/>
              </a:solidFill>
              <a:latin typeface="Calibri" pitchFamily="34" charset="0"/>
            </a:endParaRPr>
          </a:p>
        </p:txBody>
      </p:sp>
      <p:sp>
        <p:nvSpPr>
          <p:cNvPr id="5" name="TextBox 4"/>
          <p:cNvSpPr txBox="1"/>
          <p:nvPr/>
        </p:nvSpPr>
        <p:spPr>
          <a:xfrm>
            <a:off x="818065" y="1790909"/>
            <a:ext cx="11148812" cy="523220"/>
          </a:xfrm>
          <a:prstGeom prst="rect">
            <a:avLst/>
          </a:prstGeom>
          <a:noFill/>
        </p:spPr>
        <p:txBody>
          <a:bodyPr wrap="square" rtlCol="0">
            <a:spAutoFit/>
          </a:bodyPr>
          <a:lstStyle/>
          <a:p>
            <a:r>
              <a:rPr lang="en-US" sz="2800" b="1">
                <a:solidFill>
                  <a:srgbClr val="002060"/>
                </a:solidFill>
                <a:latin typeface="+mj-lt"/>
              </a:rPr>
              <a:t>Steps for Creating a Categorical Frequency Distribution.</a:t>
            </a:r>
          </a:p>
        </p:txBody>
      </p:sp>
      <p:sp>
        <p:nvSpPr>
          <p:cNvPr id="6" name="Rounded Rectangle 5"/>
          <p:cNvSpPr/>
          <p:nvPr/>
        </p:nvSpPr>
        <p:spPr>
          <a:xfrm>
            <a:off x="2110779" y="5293863"/>
            <a:ext cx="6455705" cy="1150252"/>
          </a:xfrm>
          <a:prstGeom prst="round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a:solidFill>
                  <a:schemeClr val="accent2">
                    <a:lumMod val="75000"/>
                  </a:schemeClr>
                </a:solidFill>
              </a:rPr>
              <a:t>Example:</a:t>
            </a:r>
            <a:r>
              <a:rPr lang="en-US">
                <a:solidFill>
                  <a:schemeClr val="accent2">
                    <a:lumMod val="75000"/>
                  </a:schemeClr>
                </a:solidFill>
              </a:rPr>
              <a:t> </a:t>
            </a:r>
            <a:r>
              <a:rPr lang="en-US" b="1">
                <a:solidFill>
                  <a:schemeClr val="tx2"/>
                </a:solidFill>
              </a:rPr>
              <a:t>If</a:t>
            </a:r>
            <a:r>
              <a:rPr lang="en-US" b="1"/>
              <a:t> </a:t>
            </a:r>
            <a:r>
              <a:rPr lang="en-US" b="1">
                <a:solidFill>
                  <a:srgbClr val="FF0000"/>
                </a:solidFill>
              </a:rPr>
              <a:t>frequency = 5</a:t>
            </a:r>
          </a:p>
          <a:p>
            <a:r>
              <a:rPr lang="en-US" b="1">
                <a:solidFill>
                  <a:schemeClr val="accent6"/>
                </a:solidFill>
              </a:rPr>
              <a:t>When the fifth tally is reached for a mark, draw a horizontal line through the first four tally marks </a:t>
            </a:r>
          </a:p>
        </p:txBody>
      </p:sp>
      <p:pic>
        <p:nvPicPr>
          <p:cNvPr id="7" name="Picture 6"/>
          <p:cNvPicPr>
            <a:picLocks noChangeAspect="1"/>
          </p:cNvPicPr>
          <p:nvPr/>
        </p:nvPicPr>
        <p:blipFill>
          <a:blip r:embed="rId2"/>
          <a:stretch>
            <a:fillRect/>
          </a:stretch>
        </p:blipFill>
        <p:spPr>
          <a:xfrm>
            <a:off x="7738429" y="5828852"/>
            <a:ext cx="628650" cy="304800"/>
          </a:xfrm>
          <a:prstGeom prst="rect">
            <a:avLst/>
          </a:prstGeom>
          <a:ln w="38100" cap="sq">
            <a:solidFill>
              <a:srgbClr val="000000"/>
            </a:solidFill>
            <a:miter lim="800000"/>
          </a:ln>
          <a:effectLst>
            <a:outerShdw blurRad="57150" dist="50800" dir="2700000" algn="tl" rotWithShape="0">
              <a:srgbClr val="000000">
                <a:alpha val="40000"/>
              </a:srgbClr>
            </a:outerShdw>
          </a:effectLst>
        </p:spPr>
      </p:pic>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AB423D9F-9FF6-84BF-375B-5B0E5EF6B3B7}"/>
                  </a:ext>
                </a:extLst>
              </p14:cNvPr>
              <p14:cNvContentPartPr/>
              <p14:nvPr/>
            </p14:nvContentPartPr>
            <p14:xfrm>
              <a:off x="3410876" y="6347949"/>
              <a:ext cx="91603" cy="837639"/>
            </p14:xfrm>
          </p:contentPart>
        </mc:Choice>
        <mc:Fallback xmlns="">
          <p:pic>
            <p:nvPicPr>
              <p:cNvPr id="9" name="Ink 8">
                <a:extLst>
                  <a:ext uri="{FF2B5EF4-FFF2-40B4-BE49-F238E27FC236}">
                    <a16:creationId xmlns:a16="http://schemas.microsoft.com/office/drawing/2014/main" id="{AB423D9F-9FF6-84BF-375B-5B0E5EF6B3B7}"/>
                  </a:ext>
                </a:extLst>
              </p:cNvPr>
              <p:cNvPicPr/>
              <p:nvPr/>
            </p:nvPicPr>
            <p:blipFill>
              <a:blip r:embed="rId4"/>
              <a:stretch>
                <a:fillRect/>
              </a:stretch>
            </p:blipFill>
            <p:spPr>
              <a:xfrm>
                <a:off x="3356992" y="6240006"/>
                <a:ext cx="199012" cy="1053166"/>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878E06A5-D377-E5F1-C1B1-64FEFA40478B}"/>
                  </a:ext>
                </a:extLst>
              </p14:cNvPr>
              <p14:cNvContentPartPr/>
              <p14:nvPr/>
            </p14:nvContentPartPr>
            <p14:xfrm>
              <a:off x="7299533" y="284860"/>
              <a:ext cx="14242" cy="14242"/>
            </p14:xfrm>
          </p:contentPart>
        </mc:Choice>
        <mc:Fallback xmlns="">
          <p:pic>
            <p:nvPicPr>
              <p:cNvPr id="10" name="Ink 9">
                <a:extLst>
                  <a:ext uri="{FF2B5EF4-FFF2-40B4-BE49-F238E27FC236}">
                    <a16:creationId xmlns:a16="http://schemas.microsoft.com/office/drawing/2014/main" id="{878E06A5-D377-E5F1-C1B1-64FEFA40478B}"/>
                  </a:ext>
                </a:extLst>
              </p:cNvPr>
              <p:cNvPicPr/>
              <p:nvPr/>
            </p:nvPicPr>
            <p:blipFill>
              <a:blip r:embed="rId6"/>
              <a:stretch>
                <a:fillRect/>
              </a:stretch>
            </p:blipFill>
            <p:spPr>
              <a:xfrm>
                <a:off x="5163233" y="-3987740"/>
                <a:ext cx="4272600" cy="85452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BB2A2D1D-A8E9-406B-D445-703880C5DD22}"/>
                  </a:ext>
                </a:extLst>
              </p14:cNvPr>
              <p14:cNvContentPartPr/>
              <p14:nvPr/>
            </p14:nvContentPartPr>
            <p14:xfrm>
              <a:off x="7399234" y="256374"/>
              <a:ext cx="14242" cy="14242"/>
            </p14:xfrm>
          </p:contentPart>
        </mc:Choice>
        <mc:Fallback xmlns="">
          <p:pic>
            <p:nvPicPr>
              <p:cNvPr id="11" name="Ink 10">
                <a:extLst>
                  <a:ext uri="{FF2B5EF4-FFF2-40B4-BE49-F238E27FC236}">
                    <a16:creationId xmlns:a16="http://schemas.microsoft.com/office/drawing/2014/main" id="{BB2A2D1D-A8E9-406B-D445-703880C5DD22}"/>
                  </a:ext>
                </a:extLst>
              </p:cNvPr>
              <p:cNvPicPr/>
              <p:nvPr/>
            </p:nvPicPr>
            <p:blipFill>
              <a:blip r:embed="rId6"/>
              <a:stretch>
                <a:fillRect/>
              </a:stretch>
            </p:blipFill>
            <p:spPr>
              <a:xfrm>
                <a:off x="5262934" y="-4016226"/>
                <a:ext cx="4272600" cy="8545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6E7DC416-68E2-7BAB-497F-C3989B57B031}"/>
                  </a:ext>
                </a:extLst>
              </p14:cNvPr>
              <p14:cNvContentPartPr/>
              <p14:nvPr/>
            </p14:nvContentPartPr>
            <p14:xfrm>
              <a:off x="7506056" y="391682"/>
              <a:ext cx="14242" cy="14242"/>
            </p14:xfrm>
          </p:contentPart>
        </mc:Choice>
        <mc:Fallback xmlns="">
          <p:pic>
            <p:nvPicPr>
              <p:cNvPr id="12" name="Ink 11">
                <a:extLst>
                  <a:ext uri="{FF2B5EF4-FFF2-40B4-BE49-F238E27FC236}">
                    <a16:creationId xmlns:a16="http://schemas.microsoft.com/office/drawing/2014/main" id="{6E7DC416-68E2-7BAB-497F-C3989B57B031}"/>
                  </a:ext>
                </a:extLst>
              </p:cNvPr>
              <p:cNvPicPr/>
              <p:nvPr/>
            </p:nvPicPr>
            <p:blipFill>
              <a:blip r:embed="rId6"/>
              <a:stretch>
                <a:fillRect/>
              </a:stretch>
            </p:blipFill>
            <p:spPr>
              <a:xfrm>
                <a:off x="5369756" y="-3880918"/>
                <a:ext cx="4272600" cy="8545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75CEED1D-BA04-F2A7-AF91-CA409DF0F490}"/>
                  </a:ext>
                </a:extLst>
              </p14:cNvPr>
              <p14:cNvContentPartPr/>
              <p14:nvPr/>
            </p14:nvContentPartPr>
            <p14:xfrm>
              <a:off x="7541664" y="356075"/>
              <a:ext cx="14242" cy="14242"/>
            </p14:xfrm>
          </p:contentPart>
        </mc:Choice>
        <mc:Fallback xmlns="">
          <p:pic>
            <p:nvPicPr>
              <p:cNvPr id="13" name="Ink 12">
                <a:extLst>
                  <a:ext uri="{FF2B5EF4-FFF2-40B4-BE49-F238E27FC236}">
                    <a16:creationId xmlns:a16="http://schemas.microsoft.com/office/drawing/2014/main" id="{75CEED1D-BA04-F2A7-AF91-CA409DF0F490}"/>
                  </a:ext>
                </a:extLst>
              </p:cNvPr>
              <p:cNvPicPr/>
              <p:nvPr/>
            </p:nvPicPr>
            <p:blipFill>
              <a:blip r:embed="rId6"/>
              <a:stretch>
                <a:fillRect/>
              </a:stretch>
            </p:blipFill>
            <p:spPr>
              <a:xfrm>
                <a:off x="5405364" y="-3916525"/>
                <a:ext cx="4272600" cy="8545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6F565905-A035-1399-6E6D-69A87802405E}"/>
                  </a:ext>
                </a:extLst>
              </p14:cNvPr>
              <p14:cNvContentPartPr/>
              <p14:nvPr/>
            </p14:nvContentPartPr>
            <p14:xfrm>
              <a:off x="7263925" y="484262"/>
              <a:ext cx="14242" cy="14242"/>
            </p14:xfrm>
          </p:contentPart>
        </mc:Choice>
        <mc:Fallback xmlns="">
          <p:pic>
            <p:nvPicPr>
              <p:cNvPr id="14" name="Ink 13">
                <a:extLst>
                  <a:ext uri="{FF2B5EF4-FFF2-40B4-BE49-F238E27FC236}">
                    <a16:creationId xmlns:a16="http://schemas.microsoft.com/office/drawing/2014/main" id="{6F565905-A035-1399-6E6D-69A87802405E}"/>
                  </a:ext>
                </a:extLst>
              </p:cNvPr>
              <p:cNvPicPr/>
              <p:nvPr/>
            </p:nvPicPr>
            <p:blipFill>
              <a:blip r:embed="rId6"/>
              <a:stretch>
                <a:fillRect/>
              </a:stretch>
            </p:blipFill>
            <p:spPr>
              <a:xfrm>
                <a:off x="5127625" y="-3788338"/>
                <a:ext cx="4272600" cy="85452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5" name="Ink 14">
                <a:extLst>
                  <a:ext uri="{FF2B5EF4-FFF2-40B4-BE49-F238E27FC236}">
                    <a16:creationId xmlns:a16="http://schemas.microsoft.com/office/drawing/2014/main" id="{E8F5ACDE-095E-59B5-6FB6-E0E2742DB6DF}"/>
                  </a:ext>
                </a:extLst>
              </p14:cNvPr>
              <p14:cNvContentPartPr/>
              <p14:nvPr/>
            </p14:nvContentPartPr>
            <p14:xfrm>
              <a:off x="5928000" y="5433700"/>
              <a:ext cx="431367" cy="1190268"/>
            </p14:xfrm>
          </p:contentPart>
        </mc:Choice>
        <mc:Fallback xmlns="">
          <p:pic>
            <p:nvPicPr>
              <p:cNvPr id="15" name="Ink 14">
                <a:extLst>
                  <a:ext uri="{FF2B5EF4-FFF2-40B4-BE49-F238E27FC236}">
                    <a16:creationId xmlns:a16="http://schemas.microsoft.com/office/drawing/2014/main" id="{E8F5ACDE-095E-59B5-6FB6-E0E2742DB6DF}"/>
                  </a:ext>
                </a:extLst>
              </p:cNvPr>
              <p:cNvPicPr/>
              <p:nvPr/>
            </p:nvPicPr>
            <p:blipFill>
              <a:blip r:embed="rId12"/>
              <a:stretch>
                <a:fillRect/>
              </a:stretch>
            </p:blipFill>
            <p:spPr>
              <a:xfrm>
                <a:off x="5874034" y="5325756"/>
                <a:ext cx="538939" cy="1405797"/>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6" name="Ink 15">
                <a:extLst>
                  <a:ext uri="{FF2B5EF4-FFF2-40B4-BE49-F238E27FC236}">
                    <a16:creationId xmlns:a16="http://schemas.microsoft.com/office/drawing/2014/main" id="{733C8C8C-9B08-389A-46FE-21D307147610}"/>
                  </a:ext>
                </a:extLst>
              </p14:cNvPr>
              <p14:cNvContentPartPr/>
              <p14:nvPr/>
            </p14:nvContentPartPr>
            <p14:xfrm>
              <a:off x="2100840" y="3373502"/>
              <a:ext cx="731925" cy="671506"/>
            </p14:xfrm>
          </p:contentPart>
        </mc:Choice>
        <mc:Fallback xmlns="">
          <p:pic>
            <p:nvPicPr>
              <p:cNvPr id="16" name="Ink 15">
                <a:extLst>
                  <a:ext uri="{FF2B5EF4-FFF2-40B4-BE49-F238E27FC236}">
                    <a16:creationId xmlns:a16="http://schemas.microsoft.com/office/drawing/2014/main" id="{733C8C8C-9B08-389A-46FE-21D307147610}"/>
                  </a:ext>
                </a:extLst>
              </p:cNvPr>
              <p:cNvPicPr/>
              <p:nvPr/>
            </p:nvPicPr>
            <p:blipFill>
              <a:blip r:embed="rId14"/>
              <a:stretch>
                <a:fillRect/>
              </a:stretch>
            </p:blipFill>
            <p:spPr>
              <a:xfrm>
                <a:off x="2046863" y="3265601"/>
                <a:ext cx="839519" cy="886949"/>
              </a:xfrm>
              <a:prstGeom prst="rect">
                <a:avLst/>
              </a:prstGeom>
            </p:spPr>
          </p:pic>
        </mc:Fallback>
      </mc:AlternateContent>
    </p:spTree>
    <p:extLst>
      <p:ext uri="{BB962C8B-B14F-4D97-AF65-F5344CB8AC3E}">
        <p14:creationId xmlns:p14="http://schemas.microsoft.com/office/powerpoint/2010/main" val="4057783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arn(inVertical)">
                                      <p:cBhvr>
                                        <p:cTn id="19" dur="500"/>
                                        <p:tgtEl>
                                          <p:spTgt spid="6"/>
                                        </p:tgtEl>
                                      </p:cBhvr>
                                    </p:animEffect>
                                  </p:childTnLst>
                                </p:cTn>
                              </p:par>
                            </p:childTnLst>
                          </p:cTn>
                        </p:par>
                        <p:par>
                          <p:cTn id="20" fill="hold">
                            <p:stCondLst>
                              <p:cond delay="500"/>
                            </p:stCondLst>
                            <p:childTnLst>
                              <p:par>
                                <p:cTn id="21" presetID="10" presetClass="entr" presetSubtype="0"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
          <p:cNvSpPr txBox="1">
            <a:spLocks noChangeArrowheads="1"/>
          </p:cNvSpPr>
          <p:nvPr/>
        </p:nvSpPr>
        <p:spPr bwMode="auto">
          <a:xfrm>
            <a:off x="4144818" y="5556769"/>
            <a:ext cx="1600200" cy="46196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2400" b="1">
                <a:solidFill>
                  <a:schemeClr val="accent6"/>
                </a:solidFill>
              </a:rPr>
              <a:t>Total = 15</a:t>
            </a:r>
          </a:p>
        </p:txBody>
      </p:sp>
      <p:sp>
        <p:nvSpPr>
          <p:cNvPr id="3" name="TextBox 2"/>
          <p:cNvSpPr txBox="1"/>
          <p:nvPr/>
        </p:nvSpPr>
        <p:spPr>
          <a:xfrm>
            <a:off x="663428" y="146604"/>
            <a:ext cx="9614556" cy="630942"/>
          </a:xfrm>
          <a:prstGeom prst="rect">
            <a:avLst/>
          </a:prstGeom>
          <a:noFill/>
        </p:spPr>
        <p:txBody>
          <a:bodyPr wrap="square" rtlCol="0">
            <a:spAutoFit/>
          </a:bodyPr>
          <a:lstStyle/>
          <a:p>
            <a:r>
              <a:rPr lang="en-US" sz="3500" b="1">
                <a:solidFill>
                  <a:srgbClr val="C00000"/>
                </a:solidFill>
                <a:latin typeface="Calibri" panose="020F0502020204030204" pitchFamily="34" charset="0"/>
                <a:cs typeface="Calibri" panose="020F0502020204030204" pitchFamily="34" charset="0"/>
              </a:rPr>
              <a:t>Example 1: </a:t>
            </a:r>
            <a:r>
              <a:rPr lang="en-US" sz="3500" b="1">
                <a:solidFill>
                  <a:srgbClr val="002060"/>
                </a:solidFill>
                <a:latin typeface="Calibri" panose="020F0502020204030204" pitchFamily="34" charset="0"/>
                <a:cs typeface="Calibri" panose="020F0502020204030204" pitchFamily="34" charset="0"/>
              </a:rPr>
              <a:t>Categorical Frequency Distribution</a:t>
            </a:r>
          </a:p>
        </p:txBody>
      </p:sp>
      <p:grpSp>
        <p:nvGrpSpPr>
          <p:cNvPr id="4" name="Group 3"/>
          <p:cNvGrpSpPr/>
          <p:nvPr/>
        </p:nvGrpSpPr>
        <p:grpSpPr>
          <a:xfrm>
            <a:off x="1039379" y="1094007"/>
            <a:ext cx="4705639" cy="2015936"/>
            <a:chOff x="2374994" y="1905000"/>
            <a:chExt cx="2974143" cy="1302799"/>
          </a:xfrm>
          <a:solidFill>
            <a:schemeClr val="accent5">
              <a:lumMod val="20000"/>
              <a:lumOff val="80000"/>
            </a:schemeClr>
          </a:solidFill>
        </p:grpSpPr>
        <p:sp>
          <p:nvSpPr>
            <p:cNvPr id="5" name="TextBox 4"/>
            <p:cNvSpPr txBox="1"/>
            <p:nvPr/>
          </p:nvSpPr>
          <p:spPr>
            <a:xfrm>
              <a:off x="2374994" y="1905000"/>
              <a:ext cx="860884" cy="1302799"/>
            </a:xfrm>
            <a:prstGeom prst="rect">
              <a:avLst/>
            </a:prstGeom>
            <a:grpFill/>
            <a:ln w="28575">
              <a:solidFill>
                <a:schemeClr val="tx1"/>
              </a:solidFill>
            </a:ln>
          </p:spPr>
          <p:txBody>
            <a:bodyPr wrap="square" rtlCol="0">
              <a:spAutoFit/>
            </a:bodyPr>
            <a:lstStyle/>
            <a:p>
              <a:r>
                <a:rPr lang="en-US" sz="2500">
                  <a:latin typeface="Calibri" panose="020F0502020204030204" pitchFamily="34" charset="0"/>
                  <a:cs typeface="Calibri" panose="020F0502020204030204" pitchFamily="34" charset="0"/>
                </a:rPr>
                <a:t>Red</a:t>
              </a:r>
            </a:p>
            <a:p>
              <a:r>
                <a:rPr lang="en-US" sz="2500">
                  <a:latin typeface="Calibri" panose="020F0502020204030204" pitchFamily="34" charset="0"/>
                  <a:cs typeface="Calibri" panose="020F0502020204030204" pitchFamily="34" charset="0"/>
                </a:rPr>
                <a:t>Yellow</a:t>
              </a:r>
            </a:p>
            <a:p>
              <a:r>
                <a:rPr lang="en-US" sz="2500">
                  <a:latin typeface="Calibri" panose="020F0502020204030204" pitchFamily="34" charset="0"/>
                  <a:cs typeface="Calibri" panose="020F0502020204030204" pitchFamily="34" charset="0"/>
                </a:rPr>
                <a:t>Green</a:t>
              </a:r>
            </a:p>
            <a:p>
              <a:r>
                <a:rPr lang="en-US" sz="2500">
                  <a:latin typeface="Calibri" panose="020F0502020204030204" pitchFamily="34" charset="0"/>
                  <a:cs typeface="Calibri" panose="020F0502020204030204" pitchFamily="34" charset="0"/>
                </a:rPr>
                <a:t>Red</a:t>
              </a:r>
            </a:p>
            <a:p>
              <a:r>
                <a:rPr lang="en-US" sz="2500">
                  <a:latin typeface="Calibri" panose="020F0502020204030204" pitchFamily="34" charset="0"/>
                  <a:cs typeface="Calibri" panose="020F0502020204030204" pitchFamily="34" charset="0"/>
                </a:rPr>
                <a:t>Blue</a:t>
              </a:r>
            </a:p>
          </p:txBody>
        </p:sp>
        <p:sp>
          <p:nvSpPr>
            <p:cNvPr id="6" name="TextBox 5"/>
            <p:cNvSpPr txBox="1"/>
            <p:nvPr/>
          </p:nvSpPr>
          <p:spPr>
            <a:xfrm>
              <a:off x="3483784" y="1905000"/>
              <a:ext cx="820399" cy="1302799"/>
            </a:xfrm>
            <a:prstGeom prst="rect">
              <a:avLst/>
            </a:prstGeom>
            <a:grpFill/>
            <a:ln w="28575">
              <a:solidFill>
                <a:schemeClr val="tx1"/>
              </a:solidFill>
            </a:ln>
          </p:spPr>
          <p:txBody>
            <a:bodyPr wrap="square" rtlCol="0">
              <a:spAutoFit/>
            </a:bodyPr>
            <a:lstStyle/>
            <a:p>
              <a:r>
                <a:rPr lang="en-US" sz="2500">
                  <a:latin typeface="Calibri" panose="020F0502020204030204" pitchFamily="34" charset="0"/>
                  <a:cs typeface="Calibri" panose="020F0502020204030204" pitchFamily="34" charset="0"/>
                </a:rPr>
                <a:t>Blue</a:t>
              </a:r>
            </a:p>
            <a:p>
              <a:r>
                <a:rPr lang="en-US" sz="2500">
                  <a:latin typeface="Calibri" panose="020F0502020204030204" pitchFamily="34" charset="0"/>
                  <a:cs typeface="Calibri" panose="020F0502020204030204" pitchFamily="34" charset="0"/>
                </a:rPr>
                <a:t>Red</a:t>
              </a:r>
            </a:p>
            <a:p>
              <a:r>
                <a:rPr lang="en-US" sz="2500">
                  <a:latin typeface="Calibri" panose="020F0502020204030204" pitchFamily="34" charset="0"/>
                  <a:cs typeface="Calibri" panose="020F0502020204030204" pitchFamily="34" charset="0"/>
                </a:rPr>
                <a:t>Red</a:t>
              </a:r>
            </a:p>
            <a:p>
              <a:r>
                <a:rPr lang="en-US" sz="2500">
                  <a:latin typeface="Calibri" panose="020F0502020204030204" pitchFamily="34" charset="0"/>
                  <a:cs typeface="Calibri" panose="020F0502020204030204" pitchFamily="34" charset="0"/>
                </a:rPr>
                <a:t>Green</a:t>
              </a:r>
            </a:p>
            <a:p>
              <a:r>
                <a:rPr lang="en-US" sz="2500">
                  <a:latin typeface="Calibri" panose="020F0502020204030204" pitchFamily="34" charset="0"/>
                  <a:cs typeface="Calibri" panose="020F0502020204030204" pitchFamily="34" charset="0"/>
                </a:rPr>
                <a:t>Red</a:t>
              </a:r>
            </a:p>
          </p:txBody>
        </p:sp>
        <p:sp>
          <p:nvSpPr>
            <p:cNvPr id="7" name="TextBox 6"/>
            <p:cNvSpPr txBox="1"/>
            <p:nvPr/>
          </p:nvSpPr>
          <p:spPr>
            <a:xfrm>
              <a:off x="4565321" y="1905000"/>
              <a:ext cx="783816" cy="1302799"/>
            </a:xfrm>
            <a:prstGeom prst="rect">
              <a:avLst/>
            </a:prstGeom>
            <a:grpFill/>
            <a:ln w="28575">
              <a:solidFill>
                <a:schemeClr val="tx1"/>
              </a:solidFill>
            </a:ln>
          </p:spPr>
          <p:txBody>
            <a:bodyPr wrap="square" rtlCol="0">
              <a:spAutoFit/>
            </a:bodyPr>
            <a:lstStyle/>
            <a:p>
              <a:r>
                <a:rPr lang="en-US" sz="2500">
                  <a:latin typeface="Calibri" panose="020F0502020204030204" pitchFamily="34" charset="0"/>
                  <a:cs typeface="Calibri" panose="020F0502020204030204" pitchFamily="34" charset="0"/>
                </a:rPr>
                <a:t>Green</a:t>
              </a:r>
            </a:p>
            <a:p>
              <a:r>
                <a:rPr lang="en-US" sz="2500">
                  <a:latin typeface="Calibri" panose="020F0502020204030204" pitchFamily="34" charset="0"/>
                  <a:cs typeface="Calibri" panose="020F0502020204030204" pitchFamily="34" charset="0"/>
                </a:rPr>
                <a:t>Yellow</a:t>
              </a:r>
            </a:p>
            <a:p>
              <a:r>
                <a:rPr lang="en-US" sz="2500">
                  <a:latin typeface="Calibri" panose="020F0502020204030204" pitchFamily="34" charset="0"/>
                  <a:cs typeface="Calibri" panose="020F0502020204030204" pitchFamily="34" charset="0"/>
                </a:rPr>
                <a:t>Red</a:t>
              </a:r>
            </a:p>
            <a:p>
              <a:r>
                <a:rPr lang="en-US" sz="2500">
                  <a:latin typeface="Calibri" panose="020F0502020204030204" pitchFamily="34" charset="0"/>
                  <a:cs typeface="Calibri" panose="020F0502020204030204" pitchFamily="34" charset="0"/>
                </a:rPr>
                <a:t>Blue</a:t>
              </a:r>
            </a:p>
            <a:p>
              <a:r>
                <a:rPr lang="en-US" sz="2500">
                  <a:latin typeface="Calibri" panose="020F0502020204030204" pitchFamily="34" charset="0"/>
                  <a:cs typeface="Calibri" panose="020F0502020204030204" pitchFamily="34" charset="0"/>
                </a:rPr>
                <a:t>Green</a:t>
              </a:r>
            </a:p>
          </p:txBody>
        </p:sp>
      </p:grpSp>
      <p:sp>
        <p:nvSpPr>
          <p:cNvPr id="8" name="Cloud 7"/>
          <p:cNvSpPr/>
          <p:nvPr/>
        </p:nvSpPr>
        <p:spPr>
          <a:xfrm>
            <a:off x="7282432" y="1059328"/>
            <a:ext cx="4369241" cy="4442602"/>
          </a:xfrm>
          <a:prstGeom prst="cloud">
            <a:avLst/>
          </a:prstGeom>
          <a:solidFill>
            <a:schemeClr val="accent6">
              <a:lumMod val="10000"/>
              <a:lumOff val="90000"/>
            </a:schemeClr>
          </a:solidFill>
          <a:ln w="762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accent6"/>
                </a:solidFill>
                <a:latin typeface="Calibri" pitchFamily="34" charset="0"/>
              </a:rPr>
              <a:t>These are the favorite colors of fifteen 2nd graders. Construct a  frequency distribution table for the data.</a:t>
            </a:r>
          </a:p>
          <a:p>
            <a:pPr algn="ctr"/>
            <a:endParaRPr lang="en-US" sz="2400" b="1">
              <a:solidFill>
                <a:schemeClr val="accent6"/>
              </a:solidFill>
              <a:latin typeface="Calibri" pitchFamily="34" charset="0"/>
            </a:endParaRPr>
          </a:p>
        </p:txBody>
      </p:sp>
      <p:graphicFrame>
        <p:nvGraphicFramePr>
          <p:cNvPr id="9" name="Content Placeholder 3"/>
          <p:cNvGraphicFramePr>
            <a:graphicFrameLocks/>
          </p:cNvGraphicFramePr>
          <p:nvPr>
            <p:extLst>
              <p:ext uri="{D42A27DB-BD31-4B8C-83A1-F6EECF244321}">
                <p14:modId xmlns:p14="http://schemas.microsoft.com/office/powerpoint/2010/main" val="3247008161"/>
              </p:ext>
            </p:extLst>
          </p:nvPr>
        </p:nvGraphicFramePr>
        <p:xfrm>
          <a:off x="840287" y="3428664"/>
          <a:ext cx="5673438" cy="2117584"/>
        </p:xfrm>
        <a:graphic>
          <a:graphicData uri="http://schemas.openxmlformats.org/drawingml/2006/table">
            <a:tbl>
              <a:tblPr firstRow="1" bandRow="1">
                <a:tableStyleId>{21E4AEA4-8DFA-4A89-87EB-49C32662AFE0}</a:tableStyleId>
              </a:tblPr>
              <a:tblGrid>
                <a:gridCol w="1891146">
                  <a:extLst>
                    <a:ext uri="{9D8B030D-6E8A-4147-A177-3AD203B41FA5}">
                      <a16:colId xmlns:a16="http://schemas.microsoft.com/office/drawing/2014/main" val="20000"/>
                    </a:ext>
                  </a:extLst>
                </a:gridCol>
                <a:gridCol w="1891146">
                  <a:extLst>
                    <a:ext uri="{9D8B030D-6E8A-4147-A177-3AD203B41FA5}">
                      <a16:colId xmlns:a16="http://schemas.microsoft.com/office/drawing/2014/main" val="20001"/>
                    </a:ext>
                  </a:extLst>
                </a:gridCol>
                <a:gridCol w="1891146">
                  <a:extLst>
                    <a:ext uri="{9D8B030D-6E8A-4147-A177-3AD203B41FA5}">
                      <a16:colId xmlns:a16="http://schemas.microsoft.com/office/drawing/2014/main" val="20002"/>
                    </a:ext>
                  </a:extLst>
                </a:gridCol>
              </a:tblGrid>
              <a:tr h="435781">
                <a:tc>
                  <a:txBody>
                    <a:bodyPr/>
                    <a:lstStyle/>
                    <a:p>
                      <a:pPr algn="ctr"/>
                      <a:r>
                        <a:rPr lang="en-US" sz="2400">
                          <a:solidFill>
                            <a:schemeClr val="bg2"/>
                          </a:solidFill>
                        </a:rPr>
                        <a:t>Class</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50000"/>
                      </a:schemeClr>
                    </a:solidFill>
                  </a:tcPr>
                </a:tc>
                <a:tc>
                  <a:txBody>
                    <a:bodyPr/>
                    <a:lstStyle/>
                    <a:p>
                      <a:pPr algn="ctr"/>
                      <a:r>
                        <a:rPr lang="en-US" sz="2400">
                          <a:solidFill>
                            <a:schemeClr val="bg2"/>
                          </a:solidFill>
                        </a:rPr>
                        <a:t>Tally</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50000"/>
                      </a:schemeClr>
                    </a:solidFill>
                  </a:tcPr>
                </a:tc>
                <a:tc>
                  <a:txBody>
                    <a:bodyPr/>
                    <a:lstStyle/>
                    <a:p>
                      <a:pPr algn="ctr"/>
                      <a:r>
                        <a:rPr lang="en-US" sz="2400">
                          <a:solidFill>
                            <a:schemeClr val="bg2"/>
                          </a:solidFill>
                        </a:rPr>
                        <a:t>Frequency</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10000"/>
                  </a:ext>
                </a:extLst>
              </a:tr>
              <a:tr h="415096">
                <a:tc>
                  <a:txBody>
                    <a:bodyPr/>
                    <a:lstStyle/>
                    <a:p>
                      <a:pPr algn="ctr"/>
                      <a:r>
                        <a:rPr lang="en-US" sz="2000">
                          <a:solidFill>
                            <a:schemeClr val="accent6"/>
                          </a:solidFill>
                        </a:rPr>
                        <a:t>Red</a:t>
                      </a:r>
                      <a:endParaRPr lang="en-US" sz="2000" b="1">
                        <a:solidFill>
                          <a:schemeClr val="accent6"/>
                        </a:solidFill>
                        <a:latin typeface="Calibri" panose="020F0502020204030204" pitchFamily="34" charset="0"/>
                        <a:cs typeface="Calibri" panose="020F050202020403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endParaRPr lang="en-US">
                        <a:solidFill>
                          <a:schemeClr val="accent6"/>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algn="ctr"/>
                      <a:endParaRPr lang="en-US" sz="2000" b="1">
                        <a:solidFill>
                          <a:schemeClr val="accent6"/>
                        </a:solidFill>
                        <a:latin typeface="Calibri" panose="020F0502020204030204" pitchFamily="34" charset="0"/>
                        <a:cs typeface="Calibri" panose="020F050202020403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15096">
                <a:tc>
                  <a:txBody>
                    <a:bodyPr/>
                    <a:lstStyle/>
                    <a:p>
                      <a:pPr algn="ctr"/>
                      <a:r>
                        <a:rPr lang="en-US" sz="2000">
                          <a:solidFill>
                            <a:schemeClr val="accent6"/>
                          </a:solidFill>
                        </a:rPr>
                        <a:t>Blue</a:t>
                      </a:r>
                      <a:endParaRPr lang="en-US" sz="2000" b="1">
                        <a:solidFill>
                          <a:schemeClr val="accent6"/>
                        </a:solidFill>
                        <a:latin typeface="Calibri" panose="020F0502020204030204" pitchFamily="34" charset="0"/>
                        <a:cs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solidFill>
                          <a:schemeClr val="accent6"/>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2000" b="1">
                        <a:solidFill>
                          <a:schemeClr val="accent6"/>
                        </a:solidFill>
                        <a:latin typeface="Calibri" panose="020F0502020204030204" pitchFamily="34" charset="0"/>
                        <a:cs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15096">
                <a:tc>
                  <a:txBody>
                    <a:bodyPr/>
                    <a:lstStyle/>
                    <a:p>
                      <a:pPr algn="ctr"/>
                      <a:r>
                        <a:rPr lang="en-US" sz="2000">
                          <a:solidFill>
                            <a:schemeClr val="accent6"/>
                          </a:solidFill>
                        </a:rPr>
                        <a:t>Green</a:t>
                      </a:r>
                      <a:endParaRPr lang="en-US" sz="2000" b="1">
                        <a:solidFill>
                          <a:schemeClr val="accent6"/>
                        </a:solidFill>
                        <a:latin typeface="Calibri" panose="020F0502020204030204" pitchFamily="34" charset="0"/>
                        <a:cs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solidFill>
                          <a:schemeClr val="accent6"/>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2000" b="1">
                        <a:solidFill>
                          <a:schemeClr val="accent6"/>
                        </a:solidFill>
                        <a:latin typeface="Calibri" panose="020F0502020204030204" pitchFamily="34" charset="0"/>
                        <a:cs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15096">
                <a:tc>
                  <a:txBody>
                    <a:bodyPr/>
                    <a:lstStyle/>
                    <a:p>
                      <a:pPr algn="ctr"/>
                      <a:r>
                        <a:rPr lang="en-US" sz="2000">
                          <a:solidFill>
                            <a:schemeClr val="accent6"/>
                          </a:solidFill>
                        </a:rPr>
                        <a:t>Yellow</a:t>
                      </a:r>
                      <a:endParaRPr lang="en-US" sz="2000" b="1">
                        <a:solidFill>
                          <a:schemeClr val="accent6"/>
                        </a:solidFill>
                        <a:latin typeface="Calibri" panose="020F0502020204030204" pitchFamily="34" charset="0"/>
                        <a:cs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solidFill>
                          <a:schemeClr val="accent6"/>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2000" b="1">
                        <a:solidFill>
                          <a:schemeClr val="accent6"/>
                        </a:solidFill>
                        <a:latin typeface="Calibri" panose="020F0502020204030204" pitchFamily="34" charset="0"/>
                        <a:cs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grpSp>
        <p:nvGrpSpPr>
          <p:cNvPr id="10" name="Group 9"/>
          <p:cNvGrpSpPr/>
          <p:nvPr/>
        </p:nvGrpSpPr>
        <p:grpSpPr>
          <a:xfrm>
            <a:off x="3213426" y="3916937"/>
            <a:ext cx="925941" cy="1550802"/>
            <a:chOff x="3616039" y="4329546"/>
            <a:chExt cx="775853" cy="1673601"/>
          </a:xfrm>
        </p:grpSpPr>
        <p:cxnSp>
          <p:nvCxnSpPr>
            <p:cNvPr id="11" name="Straight Connector 10"/>
            <p:cNvCxnSpPr/>
            <p:nvPr/>
          </p:nvCxnSpPr>
          <p:spPr>
            <a:xfrm>
              <a:off x="3629892" y="4329546"/>
              <a:ext cx="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3782292" y="4329546"/>
              <a:ext cx="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3934692" y="4329546"/>
              <a:ext cx="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4087092" y="4329546"/>
              <a:ext cx="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flipH="1">
              <a:off x="3616039" y="4329546"/>
              <a:ext cx="45720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a:off x="4391892" y="4329546"/>
              <a:ext cx="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3629892" y="4786746"/>
              <a:ext cx="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3782292" y="4807529"/>
              <a:ext cx="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3629892" y="5195458"/>
              <a:ext cx="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3969331" y="4807529"/>
              <a:ext cx="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3782292" y="5216243"/>
              <a:ext cx="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3915773" y="5216243"/>
              <a:ext cx="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4087092" y="5216243"/>
              <a:ext cx="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3810004" y="5656783"/>
              <a:ext cx="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grpSp>
      <p:grpSp>
        <p:nvGrpSpPr>
          <p:cNvPr id="25" name="Group 24"/>
          <p:cNvGrpSpPr/>
          <p:nvPr/>
        </p:nvGrpSpPr>
        <p:grpSpPr>
          <a:xfrm>
            <a:off x="5288809" y="3881820"/>
            <a:ext cx="352777" cy="1674985"/>
            <a:chOff x="6644230" y="3823410"/>
            <a:chExt cx="352777" cy="1674985"/>
          </a:xfrm>
        </p:grpSpPr>
        <p:sp>
          <p:nvSpPr>
            <p:cNvPr id="26" name="TextBox 25"/>
            <p:cNvSpPr txBox="1"/>
            <p:nvPr/>
          </p:nvSpPr>
          <p:spPr>
            <a:xfrm>
              <a:off x="6644230" y="3823410"/>
              <a:ext cx="341760" cy="430887"/>
            </a:xfrm>
            <a:prstGeom prst="rect">
              <a:avLst/>
            </a:prstGeom>
            <a:noFill/>
          </p:spPr>
          <p:txBody>
            <a:bodyPr wrap="none" rtlCol="0">
              <a:spAutoFit/>
            </a:bodyPr>
            <a:lstStyle/>
            <a:p>
              <a:r>
                <a:rPr lang="en-US" sz="2200">
                  <a:solidFill>
                    <a:schemeClr val="accent6"/>
                  </a:solidFill>
                </a:rPr>
                <a:t>6</a:t>
              </a:r>
            </a:p>
          </p:txBody>
        </p:sp>
        <p:sp>
          <p:nvSpPr>
            <p:cNvPr id="27" name="TextBox 26"/>
            <p:cNvSpPr txBox="1"/>
            <p:nvPr/>
          </p:nvSpPr>
          <p:spPr>
            <a:xfrm>
              <a:off x="6644230" y="4258471"/>
              <a:ext cx="341760" cy="430887"/>
            </a:xfrm>
            <a:prstGeom prst="rect">
              <a:avLst/>
            </a:prstGeom>
            <a:noFill/>
          </p:spPr>
          <p:txBody>
            <a:bodyPr wrap="none" rtlCol="0">
              <a:spAutoFit/>
            </a:bodyPr>
            <a:lstStyle/>
            <a:p>
              <a:r>
                <a:rPr lang="en-US" sz="2200">
                  <a:solidFill>
                    <a:schemeClr val="accent6"/>
                  </a:solidFill>
                </a:rPr>
                <a:t>3</a:t>
              </a:r>
            </a:p>
          </p:txBody>
        </p:sp>
        <p:sp>
          <p:nvSpPr>
            <p:cNvPr id="28" name="TextBox 27"/>
            <p:cNvSpPr txBox="1"/>
            <p:nvPr/>
          </p:nvSpPr>
          <p:spPr>
            <a:xfrm>
              <a:off x="6655247" y="4689322"/>
              <a:ext cx="341760" cy="430887"/>
            </a:xfrm>
            <a:prstGeom prst="rect">
              <a:avLst/>
            </a:prstGeom>
            <a:noFill/>
          </p:spPr>
          <p:txBody>
            <a:bodyPr wrap="none" rtlCol="0">
              <a:spAutoFit/>
            </a:bodyPr>
            <a:lstStyle/>
            <a:p>
              <a:r>
                <a:rPr lang="en-US" sz="2200">
                  <a:solidFill>
                    <a:schemeClr val="accent6"/>
                  </a:solidFill>
                </a:rPr>
                <a:t>4</a:t>
              </a:r>
            </a:p>
          </p:txBody>
        </p:sp>
        <p:sp>
          <p:nvSpPr>
            <p:cNvPr id="29" name="TextBox 28"/>
            <p:cNvSpPr txBox="1"/>
            <p:nvPr/>
          </p:nvSpPr>
          <p:spPr>
            <a:xfrm>
              <a:off x="6655247" y="5067508"/>
              <a:ext cx="341760" cy="430887"/>
            </a:xfrm>
            <a:prstGeom prst="rect">
              <a:avLst/>
            </a:prstGeom>
            <a:noFill/>
          </p:spPr>
          <p:txBody>
            <a:bodyPr wrap="none" rtlCol="0">
              <a:spAutoFit/>
            </a:bodyPr>
            <a:lstStyle/>
            <a:p>
              <a:r>
                <a:rPr lang="en-US" sz="2200">
                  <a:solidFill>
                    <a:schemeClr val="accent6"/>
                  </a:solidFill>
                </a:rPr>
                <a:t>2</a:t>
              </a:r>
            </a:p>
          </p:txBody>
        </p:sp>
      </p:grpSp>
      <p:cxnSp>
        <p:nvCxnSpPr>
          <p:cNvPr id="30" name="Straight Connector 29"/>
          <p:cNvCxnSpPr/>
          <p:nvPr/>
        </p:nvCxnSpPr>
        <p:spPr>
          <a:xfrm>
            <a:off x="3551678" y="5142246"/>
            <a:ext cx="0" cy="320950"/>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11702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circle(in)">
                                      <p:cBhvr>
                                        <p:cTn id="18" dur="20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ppt_x"/>
                                          </p:val>
                                        </p:tav>
                                        <p:tav tm="100000">
                                          <p:val>
                                            <p:strVal val="#ppt_x"/>
                                          </p:val>
                                        </p:tav>
                                      </p:tavLst>
                                    </p:anim>
                                    <p:anim calcmode="lin" valueType="num">
                                      <p:cBhvr additive="base">
                                        <p:cTn id="2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wipe(left)">
                                      <p:cBhvr>
                                        <p:cTn id="29" dur="500"/>
                                        <p:tgtEl>
                                          <p:spTgt spid="25"/>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fade">
                                      <p:cBhvr>
                                        <p:cTn id="34" dur="1000"/>
                                        <p:tgtEl>
                                          <p:spTgt spid="2"/>
                                        </p:tgtEl>
                                      </p:cBhvr>
                                    </p:animEffect>
                                    <p:anim calcmode="lin" valueType="num">
                                      <p:cBhvr>
                                        <p:cTn id="35" dur="1000" fill="hold"/>
                                        <p:tgtEl>
                                          <p:spTgt spid="2"/>
                                        </p:tgtEl>
                                        <p:attrNameLst>
                                          <p:attrName>ppt_x</p:attrName>
                                        </p:attrNameLst>
                                      </p:cBhvr>
                                      <p:tavLst>
                                        <p:tav tm="0">
                                          <p:val>
                                            <p:strVal val="#ppt_x"/>
                                          </p:val>
                                        </p:tav>
                                        <p:tav tm="100000">
                                          <p:val>
                                            <p:strVal val="#ppt_x"/>
                                          </p:val>
                                        </p:tav>
                                      </p:tavLst>
                                    </p:anim>
                                    <p:anim calcmode="lin" valueType="num">
                                      <p:cBhvr>
                                        <p:cTn id="3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a:spLocks noChangeArrowheads="1"/>
          </p:cNvSpPr>
          <p:nvPr/>
        </p:nvSpPr>
        <p:spPr bwMode="auto">
          <a:xfrm>
            <a:off x="895991" y="1065583"/>
            <a:ext cx="10584092" cy="4093428"/>
          </a:xfrm>
          <a:prstGeom prst="rect">
            <a:avLst/>
          </a:prstGeom>
          <a:noFill/>
          <a:ln w="9525">
            <a:noFill/>
            <a:miter lim="800000"/>
            <a:headEnd/>
            <a:tailEnd/>
          </a:ln>
        </p:spPr>
        <p:txBody>
          <a:bodyPr wrap="square">
            <a:spAutoFit/>
          </a:bodyPr>
          <a:lstStyle/>
          <a:p>
            <a:r>
              <a:rPr lang="en-US" sz="3200" b="1">
                <a:solidFill>
                  <a:srgbClr val="FF0000"/>
                </a:solidFill>
                <a:latin typeface="Calibri" pitchFamily="34" charset="0"/>
              </a:rPr>
              <a:t>Step 1: </a:t>
            </a:r>
            <a:r>
              <a:rPr lang="en-US" sz="3200">
                <a:solidFill>
                  <a:schemeClr val="accent6"/>
                </a:solidFill>
                <a:latin typeface="Calibri" pitchFamily="34" charset="0"/>
              </a:rPr>
              <a:t>Determine the </a:t>
            </a:r>
            <a:r>
              <a:rPr lang="en-US" sz="3200" b="1">
                <a:solidFill>
                  <a:schemeClr val="accent6"/>
                </a:solidFill>
                <a:latin typeface="Calibri" pitchFamily="34" charset="0"/>
              </a:rPr>
              <a:t>minimum</a:t>
            </a:r>
            <a:r>
              <a:rPr lang="en-US" sz="3200">
                <a:solidFill>
                  <a:schemeClr val="accent6"/>
                </a:solidFill>
                <a:latin typeface="Calibri" pitchFamily="34" charset="0"/>
              </a:rPr>
              <a:t> and </a:t>
            </a:r>
            <a:r>
              <a:rPr lang="en-US" sz="3200" b="1">
                <a:solidFill>
                  <a:schemeClr val="accent6"/>
                </a:solidFill>
                <a:latin typeface="Calibri" pitchFamily="34" charset="0"/>
              </a:rPr>
              <a:t>maximum</a:t>
            </a:r>
            <a:r>
              <a:rPr lang="en-US" sz="3200">
                <a:solidFill>
                  <a:schemeClr val="accent6"/>
                </a:solidFill>
                <a:latin typeface="Calibri" pitchFamily="34" charset="0"/>
              </a:rPr>
              <a:t> values, and </a:t>
            </a:r>
            <a:r>
              <a:rPr lang="en-US" sz="3200" b="1">
                <a:solidFill>
                  <a:schemeClr val="accent6"/>
                </a:solidFill>
                <a:latin typeface="Calibri" pitchFamily="34" charset="0"/>
              </a:rPr>
              <a:t>how many classes</a:t>
            </a:r>
            <a:r>
              <a:rPr lang="en-US" sz="3200">
                <a:solidFill>
                  <a:schemeClr val="accent6"/>
                </a:solidFill>
                <a:latin typeface="Calibri" pitchFamily="34" charset="0"/>
              </a:rPr>
              <a:t> you need.</a:t>
            </a:r>
          </a:p>
          <a:p>
            <a:endParaRPr lang="en-US" sz="3200">
              <a:latin typeface="Calibri" pitchFamily="34" charset="0"/>
            </a:endParaRPr>
          </a:p>
          <a:p>
            <a:r>
              <a:rPr lang="en-US" sz="3200" b="1">
                <a:solidFill>
                  <a:srgbClr val="FF0000"/>
                </a:solidFill>
                <a:latin typeface="Calibri" pitchFamily="34" charset="0"/>
              </a:rPr>
              <a:t>Step 2: </a:t>
            </a:r>
            <a:r>
              <a:rPr lang="en-US" sz="3200">
                <a:solidFill>
                  <a:schemeClr val="accent6"/>
                </a:solidFill>
                <a:latin typeface="Calibri" pitchFamily="34" charset="0"/>
              </a:rPr>
              <a:t>Find the class width.</a:t>
            </a:r>
          </a:p>
          <a:p>
            <a:r>
              <a:rPr lang="en-US" sz="3200">
                <a:latin typeface="Calibri" pitchFamily="34" charset="0"/>
              </a:rPr>
              <a:t> </a:t>
            </a:r>
          </a:p>
          <a:p>
            <a:endParaRPr lang="en-US" sz="3200">
              <a:latin typeface="Calibri" pitchFamily="34" charset="0"/>
            </a:endParaRPr>
          </a:p>
          <a:p>
            <a:pPr algn="ctr"/>
            <a:r>
              <a:rPr lang="en-US" sz="3200" b="1">
                <a:solidFill>
                  <a:srgbClr val="7030A0"/>
                </a:solidFill>
                <a:latin typeface="Calibri" pitchFamily="34" charset="0"/>
              </a:rPr>
              <a:t>*</a:t>
            </a:r>
            <a:r>
              <a:rPr lang="en-US" sz="3200" b="1">
                <a:solidFill>
                  <a:srgbClr val="C00000"/>
                </a:solidFill>
                <a:latin typeface="Calibri" pitchFamily="34" charset="0"/>
              </a:rPr>
              <a:t>ALWAYS</a:t>
            </a:r>
            <a:r>
              <a:rPr lang="en-US" sz="3200" b="1">
                <a:solidFill>
                  <a:srgbClr val="7030A0"/>
                </a:solidFill>
                <a:latin typeface="Calibri" pitchFamily="34" charset="0"/>
              </a:rPr>
              <a:t> </a:t>
            </a:r>
            <a:r>
              <a:rPr lang="en-US" sz="3600" b="1" u="sng">
                <a:solidFill>
                  <a:srgbClr val="7030A0"/>
                </a:solidFill>
                <a:latin typeface="Calibri" pitchFamily="34" charset="0"/>
              </a:rPr>
              <a:t>round up</a:t>
            </a:r>
            <a:r>
              <a:rPr lang="en-US" sz="3600" b="1">
                <a:solidFill>
                  <a:srgbClr val="7030A0"/>
                </a:solidFill>
                <a:latin typeface="Calibri" pitchFamily="34" charset="0"/>
              </a:rPr>
              <a:t> </a:t>
            </a:r>
            <a:r>
              <a:rPr lang="en-US" sz="3200" b="1">
                <a:solidFill>
                  <a:schemeClr val="accent6"/>
                </a:solidFill>
                <a:latin typeface="Calibri" pitchFamily="34" charset="0"/>
              </a:rPr>
              <a:t>to the next whole number</a:t>
            </a:r>
          </a:p>
          <a:p>
            <a:endParaRPr lang="en-US" sz="3200">
              <a:latin typeface="Calibri" pitchFamily="34" charset="0"/>
            </a:endParaRPr>
          </a:p>
        </p:txBody>
      </p:sp>
      <p:sp>
        <p:nvSpPr>
          <p:cNvPr id="3" name="TextBox 2"/>
          <p:cNvSpPr txBox="1"/>
          <p:nvPr/>
        </p:nvSpPr>
        <p:spPr>
          <a:xfrm>
            <a:off x="817333" y="230740"/>
            <a:ext cx="10422035" cy="630942"/>
          </a:xfrm>
          <a:prstGeom prst="rect">
            <a:avLst/>
          </a:prstGeom>
          <a:noFill/>
        </p:spPr>
        <p:txBody>
          <a:bodyPr wrap="square" rtlCol="0">
            <a:spAutoFit/>
          </a:bodyPr>
          <a:lstStyle/>
          <a:p>
            <a:r>
              <a:rPr lang="en-US" sz="3500" b="1">
                <a:solidFill>
                  <a:srgbClr val="002060"/>
                </a:solidFill>
                <a:latin typeface="Calibri" panose="020F0502020204030204" pitchFamily="34" charset="0"/>
                <a:cs typeface="Calibri" panose="020F0502020204030204" pitchFamily="34" charset="0"/>
              </a:rPr>
              <a:t>Steps in Creating a Grouped Frequency Distribution </a:t>
            </a:r>
          </a:p>
        </p:txBody>
      </p:sp>
      <mc:AlternateContent xmlns:mc="http://schemas.openxmlformats.org/markup-compatibility/2006" xmlns:a14="http://schemas.microsoft.com/office/drawing/2010/main">
        <mc:Choice Requires="a14">
          <p:sp>
            <p:nvSpPr>
              <p:cNvPr id="4" name="TextBox 3"/>
              <p:cNvSpPr txBox="1"/>
              <p:nvPr/>
            </p:nvSpPr>
            <p:spPr>
              <a:xfrm>
                <a:off x="6028350" y="2398763"/>
                <a:ext cx="5041252" cy="8821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1" i="1" smtClean="0">
                          <a:solidFill>
                            <a:srgbClr val="C00000"/>
                          </a:solidFill>
                          <a:latin typeface="Cambria Math" panose="02040503050406030204" pitchFamily="18" charset="0"/>
                        </a:rPr>
                        <m:t>𝑪𝒍𝒂𝒔𝒔</m:t>
                      </m:r>
                      <m:r>
                        <a:rPr lang="en-US" sz="2800" b="1" i="1" smtClean="0">
                          <a:solidFill>
                            <a:srgbClr val="C00000"/>
                          </a:solidFill>
                          <a:latin typeface="Cambria Math" panose="02040503050406030204" pitchFamily="18" charset="0"/>
                        </a:rPr>
                        <m:t> </m:t>
                      </m:r>
                      <m:r>
                        <a:rPr lang="en-US" sz="2800" b="1" i="1" smtClean="0">
                          <a:solidFill>
                            <a:srgbClr val="C00000"/>
                          </a:solidFill>
                          <a:latin typeface="Cambria Math" panose="02040503050406030204" pitchFamily="18" charset="0"/>
                        </a:rPr>
                        <m:t>𝑾𝒊𝒅𝒕𝒉</m:t>
                      </m:r>
                      <m:r>
                        <a:rPr lang="en-US" sz="2800" b="0" i="1" smtClean="0">
                          <a:solidFill>
                            <a:srgbClr val="C00000"/>
                          </a:solidFill>
                          <a:latin typeface="Cambria Math" panose="02040503050406030204" pitchFamily="18" charset="0"/>
                        </a:rPr>
                        <m:t>= </m:t>
                      </m:r>
                      <m:f>
                        <m:fPr>
                          <m:ctrlPr>
                            <a:rPr lang="en-US" sz="2800" b="0" i="1" smtClean="0">
                              <a:solidFill>
                                <a:srgbClr val="C00000"/>
                              </a:solidFill>
                              <a:latin typeface="Cambria Math" panose="02040503050406030204" pitchFamily="18" charset="0"/>
                            </a:rPr>
                          </m:ctrlPr>
                        </m:fPr>
                        <m:num>
                          <m:r>
                            <a:rPr lang="en-US" sz="2800" b="0" i="1" smtClean="0">
                              <a:solidFill>
                                <a:srgbClr val="C00000"/>
                              </a:solidFill>
                              <a:latin typeface="Cambria Math" panose="02040503050406030204" pitchFamily="18" charset="0"/>
                            </a:rPr>
                            <m:t>𝑅𝑎𝑛𝑔𝑒</m:t>
                          </m:r>
                        </m:num>
                        <m:den>
                          <m:r>
                            <a:rPr lang="en-US" sz="2800" b="0" i="1" smtClean="0">
                              <a:solidFill>
                                <a:srgbClr val="C00000"/>
                              </a:solidFill>
                              <a:latin typeface="Cambria Math" panose="02040503050406030204" pitchFamily="18" charset="0"/>
                            </a:rPr>
                            <m:t>𝑁𝑜</m:t>
                          </m:r>
                          <m:r>
                            <a:rPr lang="en-US" sz="2800" b="0" i="1" smtClean="0">
                              <a:solidFill>
                                <a:srgbClr val="C00000"/>
                              </a:solidFill>
                              <a:latin typeface="Cambria Math" panose="02040503050406030204" pitchFamily="18" charset="0"/>
                            </a:rPr>
                            <m:t>. </m:t>
                          </m:r>
                          <m:r>
                            <a:rPr lang="en-US" sz="2800" b="0" i="1" smtClean="0">
                              <a:solidFill>
                                <a:srgbClr val="C00000"/>
                              </a:solidFill>
                              <a:latin typeface="Cambria Math" panose="02040503050406030204" pitchFamily="18" charset="0"/>
                            </a:rPr>
                            <m:t>𝑜𝑓</m:t>
                          </m:r>
                          <m:r>
                            <a:rPr lang="en-US" sz="2800" b="0" i="1" smtClean="0">
                              <a:solidFill>
                                <a:srgbClr val="C00000"/>
                              </a:solidFill>
                              <a:latin typeface="Cambria Math" panose="02040503050406030204" pitchFamily="18" charset="0"/>
                            </a:rPr>
                            <m:t> </m:t>
                          </m:r>
                          <m:r>
                            <a:rPr lang="en-US" sz="2800" b="0" i="1" smtClean="0">
                              <a:solidFill>
                                <a:srgbClr val="C00000"/>
                              </a:solidFill>
                              <a:latin typeface="Cambria Math" panose="02040503050406030204" pitchFamily="18" charset="0"/>
                            </a:rPr>
                            <m:t>𝐶𝑙𝑎𝑠𝑠𝑒𝑠</m:t>
                          </m:r>
                        </m:den>
                      </m:f>
                    </m:oMath>
                  </m:oMathPara>
                </a14:m>
                <a:endParaRPr lang="en-US" sz="2800">
                  <a:solidFill>
                    <a:srgbClr val="C00000"/>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6028350" y="2398763"/>
                <a:ext cx="5041252" cy="882165"/>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448433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3"/>
          <p:cNvGraphicFramePr>
            <a:graphicFrameLocks/>
          </p:cNvGraphicFramePr>
          <p:nvPr>
            <p:extLst>
              <p:ext uri="{D42A27DB-BD31-4B8C-83A1-F6EECF244321}">
                <p14:modId xmlns:p14="http://schemas.microsoft.com/office/powerpoint/2010/main" val="811364955"/>
              </p:ext>
            </p:extLst>
          </p:nvPr>
        </p:nvGraphicFramePr>
        <p:xfrm>
          <a:off x="908814" y="3260643"/>
          <a:ext cx="5673438" cy="2117584"/>
        </p:xfrm>
        <a:graphic>
          <a:graphicData uri="http://schemas.openxmlformats.org/drawingml/2006/table">
            <a:tbl>
              <a:tblPr firstRow="1" bandRow="1">
                <a:tableStyleId>{21E4AEA4-8DFA-4A89-87EB-49C32662AFE0}</a:tableStyleId>
              </a:tblPr>
              <a:tblGrid>
                <a:gridCol w="1891146">
                  <a:extLst>
                    <a:ext uri="{9D8B030D-6E8A-4147-A177-3AD203B41FA5}">
                      <a16:colId xmlns:a16="http://schemas.microsoft.com/office/drawing/2014/main" val="20000"/>
                    </a:ext>
                  </a:extLst>
                </a:gridCol>
                <a:gridCol w="1891146">
                  <a:extLst>
                    <a:ext uri="{9D8B030D-6E8A-4147-A177-3AD203B41FA5}">
                      <a16:colId xmlns:a16="http://schemas.microsoft.com/office/drawing/2014/main" val="20001"/>
                    </a:ext>
                  </a:extLst>
                </a:gridCol>
                <a:gridCol w="1891146">
                  <a:extLst>
                    <a:ext uri="{9D8B030D-6E8A-4147-A177-3AD203B41FA5}">
                      <a16:colId xmlns:a16="http://schemas.microsoft.com/office/drawing/2014/main" val="20002"/>
                    </a:ext>
                  </a:extLst>
                </a:gridCol>
              </a:tblGrid>
              <a:tr h="435781">
                <a:tc>
                  <a:txBody>
                    <a:bodyPr/>
                    <a:lstStyle/>
                    <a:p>
                      <a:pPr algn="ctr"/>
                      <a:r>
                        <a:rPr lang="en-US" sz="2400">
                          <a:solidFill>
                            <a:schemeClr val="bg2"/>
                          </a:solidFill>
                        </a:rPr>
                        <a:t>Class</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50000"/>
                      </a:schemeClr>
                    </a:solidFill>
                  </a:tcPr>
                </a:tc>
                <a:tc>
                  <a:txBody>
                    <a:bodyPr/>
                    <a:lstStyle/>
                    <a:p>
                      <a:pPr algn="ctr"/>
                      <a:r>
                        <a:rPr lang="en-US" sz="2400">
                          <a:solidFill>
                            <a:schemeClr val="bg2"/>
                          </a:solidFill>
                        </a:rPr>
                        <a:t>Tally</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50000"/>
                      </a:schemeClr>
                    </a:solidFill>
                  </a:tcPr>
                </a:tc>
                <a:tc>
                  <a:txBody>
                    <a:bodyPr/>
                    <a:lstStyle/>
                    <a:p>
                      <a:pPr algn="ctr"/>
                      <a:r>
                        <a:rPr lang="en-US" sz="2400">
                          <a:solidFill>
                            <a:schemeClr val="bg2"/>
                          </a:solidFill>
                        </a:rPr>
                        <a:t>Frequency</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10000"/>
                  </a:ext>
                </a:extLst>
              </a:tr>
              <a:tr h="415096">
                <a:tc>
                  <a:txBody>
                    <a:bodyPr/>
                    <a:lstStyle/>
                    <a:p>
                      <a:pPr algn="ctr"/>
                      <a:r>
                        <a:rPr lang="en-US" sz="2000">
                          <a:solidFill>
                            <a:sysClr val="windowText" lastClr="000000"/>
                          </a:solidFill>
                        </a:rPr>
                        <a:t>A</a:t>
                      </a:r>
                      <a:endParaRPr lang="en-US" sz="2000" b="1">
                        <a:solidFill>
                          <a:sysClr val="windowText" lastClr="000000"/>
                        </a:solidFill>
                        <a:latin typeface="Calibri" panose="020F0502020204030204" pitchFamily="34" charset="0"/>
                        <a:cs typeface="Calibri" panose="020F050202020403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algn="ctr"/>
                      <a:endParaRPr lang="en-US" sz="2000" b="1">
                        <a:latin typeface="Calibri" panose="020F0502020204030204" pitchFamily="34" charset="0"/>
                        <a:cs typeface="Calibri" panose="020F0502020204030204"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15096">
                <a:tc>
                  <a:txBody>
                    <a:bodyPr/>
                    <a:lstStyle/>
                    <a:p>
                      <a:pPr algn="ctr"/>
                      <a:r>
                        <a:rPr lang="en-US" sz="2000">
                          <a:solidFill>
                            <a:sysClr val="windowText" lastClr="000000"/>
                          </a:solidFill>
                        </a:rPr>
                        <a:t>B</a:t>
                      </a:r>
                      <a:endParaRPr lang="en-US" sz="2000" b="1">
                        <a:solidFill>
                          <a:sysClr val="windowText" lastClr="000000"/>
                        </a:solidFill>
                        <a:latin typeface="Calibri" panose="020F0502020204030204" pitchFamily="34" charset="0"/>
                        <a:cs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2000" b="1">
                        <a:latin typeface="Calibri" panose="020F0502020204030204" pitchFamily="34" charset="0"/>
                        <a:cs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15096">
                <a:tc>
                  <a:txBody>
                    <a:bodyPr/>
                    <a:lstStyle/>
                    <a:p>
                      <a:pPr algn="ctr"/>
                      <a:r>
                        <a:rPr lang="en-US" sz="2000">
                          <a:solidFill>
                            <a:sysClr val="windowText" lastClr="000000"/>
                          </a:solidFill>
                        </a:rPr>
                        <a:t>O</a:t>
                      </a:r>
                      <a:endParaRPr lang="en-US" sz="2000" b="1">
                        <a:solidFill>
                          <a:sysClr val="windowText" lastClr="000000"/>
                        </a:solidFill>
                        <a:latin typeface="Calibri" panose="020F0502020204030204" pitchFamily="34" charset="0"/>
                        <a:cs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2000" b="1">
                        <a:latin typeface="Calibri" panose="020F0502020204030204" pitchFamily="34" charset="0"/>
                        <a:cs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15096">
                <a:tc>
                  <a:txBody>
                    <a:bodyPr/>
                    <a:lstStyle/>
                    <a:p>
                      <a:pPr algn="ctr"/>
                      <a:r>
                        <a:rPr lang="en-US" sz="2000">
                          <a:solidFill>
                            <a:sysClr val="windowText" lastClr="000000"/>
                          </a:solidFill>
                        </a:rPr>
                        <a:t>AB</a:t>
                      </a:r>
                      <a:endParaRPr lang="en-US" sz="2000" b="1">
                        <a:solidFill>
                          <a:sysClr val="windowText" lastClr="000000"/>
                        </a:solidFill>
                        <a:latin typeface="Calibri" panose="020F0502020204030204" pitchFamily="34" charset="0"/>
                        <a:cs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endParaRPr lang="en-US" sz="2000" b="1">
                        <a:latin typeface="Calibri" panose="020F0502020204030204" pitchFamily="34" charset="0"/>
                        <a:cs typeface="Calibri" panose="020F050202020403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3" name="TextBox 4"/>
          <p:cNvSpPr txBox="1">
            <a:spLocks noChangeArrowheads="1"/>
          </p:cNvSpPr>
          <p:nvPr/>
        </p:nvSpPr>
        <p:spPr bwMode="auto">
          <a:xfrm>
            <a:off x="4320079" y="5476098"/>
            <a:ext cx="1600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2400" b="1">
                <a:solidFill>
                  <a:schemeClr val="accent6"/>
                </a:solidFill>
              </a:rPr>
              <a:t>Total = 15</a:t>
            </a:r>
          </a:p>
        </p:txBody>
      </p:sp>
      <p:sp>
        <p:nvSpPr>
          <p:cNvPr id="4" name="TextBox 3"/>
          <p:cNvSpPr txBox="1"/>
          <p:nvPr/>
        </p:nvSpPr>
        <p:spPr>
          <a:xfrm>
            <a:off x="731833" y="135818"/>
            <a:ext cx="9614556" cy="630942"/>
          </a:xfrm>
          <a:prstGeom prst="rect">
            <a:avLst/>
          </a:prstGeom>
          <a:noFill/>
        </p:spPr>
        <p:txBody>
          <a:bodyPr wrap="square" rtlCol="0">
            <a:spAutoFit/>
          </a:bodyPr>
          <a:lstStyle/>
          <a:p>
            <a:r>
              <a:rPr lang="en-US" sz="3500" b="1">
                <a:solidFill>
                  <a:srgbClr val="C00000"/>
                </a:solidFill>
                <a:latin typeface="Calibri" panose="020F0502020204030204" pitchFamily="34" charset="0"/>
                <a:cs typeface="Calibri" panose="020F0502020204030204" pitchFamily="34" charset="0"/>
              </a:rPr>
              <a:t>Example 2: </a:t>
            </a:r>
            <a:r>
              <a:rPr lang="en-US" sz="3500" b="1">
                <a:solidFill>
                  <a:schemeClr val="accent6"/>
                </a:solidFill>
                <a:latin typeface="Calibri" panose="020F0502020204030204" pitchFamily="34" charset="0"/>
                <a:cs typeface="Calibri" panose="020F0502020204030204" pitchFamily="34" charset="0"/>
              </a:rPr>
              <a:t>Categorical Frequency Distribution</a:t>
            </a:r>
          </a:p>
        </p:txBody>
      </p:sp>
      <p:grpSp>
        <p:nvGrpSpPr>
          <p:cNvPr id="5" name="Group 4"/>
          <p:cNvGrpSpPr/>
          <p:nvPr/>
        </p:nvGrpSpPr>
        <p:grpSpPr>
          <a:xfrm>
            <a:off x="1126975" y="801439"/>
            <a:ext cx="4520912" cy="2015936"/>
            <a:chOff x="2374994" y="1905000"/>
            <a:chExt cx="2857389" cy="1302799"/>
          </a:xfrm>
          <a:solidFill>
            <a:schemeClr val="accent5">
              <a:lumMod val="20000"/>
              <a:lumOff val="80000"/>
            </a:schemeClr>
          </a:solidFill>
        </p:grpSpPr>
        <p:sp>
          <p:nvSpPr>
            <p:cNvPr id="6" name="TextBox 5"/>
            <p:cNvSpPr txBox="1"/>
            <p:nvPr/>
          </p:nvSpPr>
          <p:spPr>
            <a:xfrm>
              <a:off x="2374994" y="1905000"/>
              <a:ext cx="761643" cy="1302799"/>
            </a:xfrm>
            <a:prstGeom prst="rect">
              <a:avLst/>
            </a:prstGeom>
            <a:grpFill/>
            <a:ln w="19050">
              <a:solidFill>
                <a:schemeClr val="tx1"/>
              </a:solidFill>
            </a:ln>
          </p:spPr>
          <p:txBody>
            <a:bodyPr wrap="square" rtlCol="0">
              <a:spAutoFit/>
            </a:bodyPr>
            <a:lstStyle/>
            <a:p>
              <a:pPr algn="ctr"/>
              <a:r>
                <a:rPr lang="en-US" sz="2500">
                  <a:solidFill>
                    <a:schemeClr val="accent6"/>
                  </a:solidFill>
                  <a:latin typeface="Calibri" panose="020F0502020204030204" pitchFamily="34" charset="0"/>
                  <a:cs typeface="Calibri" panose="020F0502020204030204" pitchFamily="34" charset="0"/>
                </a:rPr>
                <a:t>A</a:t>
              </a:r>
            </a:p>
            <a:p>
              <a:pPr algn="ctr"/>
              <a:r>
                <a:rPr lang="en-US" sz="2500">
                  <a:solidFill>
                    <a:schemeClr val="accent6"/>
                  </a:solidFill>
                  <a:latin typeface="Calibri" panose="020F0502020204030204" pitchFamily="34" charset="0"/>
                  <a:cs typeface="Calibri" panose="020F0502020204030204" pitchFamily="34" charset="0"/>
                </a:rPr>
                <a:t>AB</a:t>
              </a:r>
            </a:p>
            <a:p>
              <a:pPr algn="ctr"/>
              <a:r>
                <a:rPr lang="en-US" sz="2500">
                  <a:solidFill>
                    <a:schemeClr val="accent6"/>
                  </a:solidFill>
                  <a:latin typeface="Calibri" panose="020F0502020204030204" pitchFamily="34" charset="0"/>
                  <a:cs typeface="Calibri" panose="020F0502020204030204" pitchFamily="34" charset="0"/>
                </a:rPr>
                <a:t>O</a:t>
              </a:r>
            </a:p>
            <a:p>
              <a:pPr algn="ctr"/>
              <a:r>
                <a:rPr lang="en-US" sz="2500">
                  <a:solidFill>
                    <a:schemeClr val="accent6"/>
                  </a:solidFill>
                  <a:latin typeface="Calibri" panose="020F0502020204030204" pitchFamily="34" charset="0"/>
                  <a:cs typeface="Calibri" panose="020F0502020204030204" pitchFamily="34" charset="0"/>
                </a:rPr>
                <a:t>A</a:t>
              </a:r>
            </a:p>
            <a:p>
              <a:pPr algn="ctr"/>
              <a:r>
                <a:rPr lang="en-US" sz="2500">
                  <a:solidFill>
                    <a:schemeClr val="accent6"/>
                  </a:solidFill>
                  <a:latin typeface="Calibri" panose="020F0502020204030204" pitchFamily="34" charset="0"/>
                  <a:cs typeface="Calibri" panose="020F0502020204030204" pitchFamily="34" charset="0"/>
                </a:rPr>
                <a:t>B</a:t>
              </a:r>
            </a:p>
          </p:txBody>
        </p:sp>
        <p:sp>
          <p:nvSpPr>
            <p:cNvPr id="7" name="TextBox 6"/>
            <p:cNvSpPr txBox="1"/>
            <p:nvPr/>
          </p:nvSpPr>
          <p:spPr>
            <a:xfrm>
              <a:off x="3483784" y="1905000"/>
              <a:ext cx="691945" cy="1302799"/>
            </a:xfrm>
            <a:prstGeom prst="rect">
              <a:avLst/>
            </a:prstGeom>
            <a:grpFill/>
            <a:ln w="19050">
              <a:solidFill>
                <a:schemeClr val="tx1"/>
              </a:solidFill>
            </a:ln>
          </p:spPr>
          <p:txBody>
            <a:bodyPr wrap="square" rtlCol="0">
              <a:spAutoFit/>
            </a:bodyPr>
            <a:lstStyle/>
            <a:p>
              <a:pPr algn="ctr"/>
              <a:r>
                <a:rPr lang="en-US" sz="2500">
                  <a:solidFill>
                    <a:schemeClr val="accent6"/>
                  </a:solidFill>
                  <a:latin typeface="Calibri" panose="020F0502020204030204" pitchFamily="34" charset="0"/>
                  <a:cs typeface="Calibri" panose="020F0502020204030204" pitchFamily="34" charset="0"/>
                </a:rPr>
                <a:t>B</a:t>
              </a:r>
            </a:p>
            <a:p>
              <a:pPr algn="ctr"/>
              <a:r>
                <a:rPr lang="en-US" sz="2500">
                  <a:solidFill>
                    <a:schemeClr val="accent6"/>
                  </a:solidFill>
                  <a:latin typeface="Calibri" panose="020F0502020204030204" pitchFamily="34" charset="0"/>
                  <a:cs typeface="Calibri" panose="020F0502020204030204" pitchFamily="34" charset="0"/>
                </a:rPr>
                <a:t>A</a:t>
              </a:r>
            </a:p>
            <a:p>
              <a:pPr algn="ctr"/>
              <a:r>
                <a:rPr lang="en-US" sz="2500">
                  <a:solidFill>
                    <a:schemeClr val="accent6"/>
                  </a:solidFill>
                  <a:latin typeface="Calibri" panose="020F0502020204030204" pitchFamily="34" charset="0"/>
                  <a:cs typeface="Calibri" panose="020F0502020204030204" pitchFamily="34" charset="0"/>
                </a:rPr>
                <a:t>A</a:t>
              </a:r>
            </a:p>
            <a:p>
              <a:pPr algn="ctr"/>
              <a:r>
                <a:rPr lang="en-US" sz="2500">
                  <a:solidFill>
                    <a:schemeClr val="accent6"/>
                  </a:solidFill>
                  <a:latin typeface="Calibri" panose="020F0502020204030204" pitchFamily="34" charset="0"/>
                  <a:cs typeface="Calibri" panose="020F0502020204030204" pitchFamily="34" charset="0"/>
                </a:rPr>
                <a:t>O</a:t>
              </a:r>
            </a:p>
            <a:p>
              <a:pPr algn="ctr"/>
              <a:r>
                <a:rPr lang="en-US" sz="2500">
                  <a:solidFill>
                    <a:schemeClr val="accent6"/>
                  </a:solidFill>
                  <a:latin typeface="Calibri" panose="020F0502020204030204" pitchFamily="34" charset="0"/>
                  <a:cs typeface="Calibri" panose="020F0502020204030204" pitchFamily="34" charset="0"/>
                </a:rPr>
                <a:t>A</a:t>
              </a:r>
            </a:p>
          </p:txBody>
        </p:sp>
        <p:sp>
          <p:nvSpPr>
            <p:cNvPr id="8" name="TextBox 7"/>
            <p:cNvSpPr txBox="1"/>
            <p:nvPr/>
          </p:nvSpPr>
          <p:spPr>
            <a:xfrm>
              <a:off x="4565320" y="1905000"/>
              <a:ext cx="667063" cy="1302799"/>
            </a:xfrm>
            <a:prstGeom prst="rect">
              <a:avLst/>
            </a:prstGeom>
            <a:grpFill/>
            <a:ln w="19050">
              <a:solidFill>
                <a:schemeClr val="tx1"/>
              </a:solidFill>
            </a:ln>
          </p:spPr>
          <p:txBody>
            <a:bodyPr wrap="square" rtlCol="0">
              <a:spAutoFit/>
            </a:bodyPr>
            <a:lstStyle/>
            <a:p>
              <a:pPr algn="ctr"/>
              <a:r>
                <a:rPr lang="en-US" sz="2500">
                  <a:solidFill>
                    <a:schemeClr val="accent6"/>
                  </a:solidFill>
                  <a:latin typeface="Calibri" panose="020F0502020204030204" pitchFamily="34" charset="0"/>
                  <a:cs typeface="Calibri" panose="020F0502020204030204" pitchFamily="34" charset="0"/>
                </a:rPr>
                <a:t>O</a:t>
              </a:r>
            </a:p>
            <a:p>
              <a:pPr algn="ctr"/>
              <a:r>
                <a:rPr lang="en-US" sz="2500">
                  <a:solidFill>
                    <a:schemeClr val="accent6"/>
                  </a:solidFill>
                  <a:latin typeface="Calibri" panose="020F0502020204030204" pitchFamily="34" charset="0"/>
                  <a:cs typeface="Calibri" panose="020F0502020204030204" pitchFamily="34" charset="0"/>
                </a:rPr>
                <a:t>AB</a:t>
              </a:r>
            </a:p>
            <a:p>
              <a:pPr algn="ctr"/>
              <a:r>
                <a:rPr lang="en-US" sz="2500">
                  <a:solidFill>
                    <a:schemeClr val="accent6"/>
                  </a:solidFill>
                  <a:latin typeface="Calibri" panose="020F0502020204030204" pitchFamily="34" charset="0"/>
                  <a:cs typeface="Calibri" panose="020F0502020204030204" pitchFamily="34" charset="0"/>
                </a:rPr>
                <a:t>A</a:t>
              </a:r>
            </a:p>
            <a:p>
              <a:pPr algn="ctr"/>
              <a:r>
                <a:rPr lang="en-US" sz="2500">
                  <a:solidFill>
                    <a:schemeClr val="accent6"/>
                  </a:solidFill>
                  <a:latin typeface="Calibri" panose="020F0502020204030204" pitchFamily="34" charset="0"/>
                  <a:cs typeface="Calibri" panose="020F0502020204030204" pitchFamily="34" charset="0"/>
                </a:rPr>
                <a:t>B</a:t>
              </a:r>
            </a:p>
            <a:p>
              <a:pPr algn="ctr"/>
              <a:r>
                <a:rPr lang="en-US" sz="2500">
                  <a:solidFill>
                    <a:schemeClr val="accent6"/>
                  </a:solidFill>
                  <a:latin typeface="Calibri" panose="020F0502020204030204" pitchFamily="34" charset="0"/>
                  <a:cs typeface="Calibri" panose="020F0502020204030204" pitchFamily="34" charset="0"/>
                </a:rPr>
                <a:t>O</a:t>
              </a:r>
            </a:p>
          </p:txBody>
        </p:sp>
      </p:grpSp>
      <p:sp>
        <p:nvSpPr>
          <p:cNvPr id="9" name="Cloud 8"/>
          <p:cNvSpPr/>
          <p:nvPr/>
        </p:nvSpPr>
        <p:spPr>
          <a:xfrm>
            <a:off x="6854265" y="886034"/>
            <a:ext cx="4916177" cy="4181474"/>
          </a:xfrm>
          <a:prstGeom prst="cloud">
            <a:avLst/>
          </a:prstGeom>
          <a:solidFill>
            <a:schemeClr val="accent6">
              <a:lumMod val="10000"/>
              <a:lumOff val="90000"/>
            </a:schemeClr>
          </a:solid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500" b="1">
                <a:solidFill>
                  <a:schemeClr val="accent6"/>
                </a:solidFill>
                <a:latin typeface="Calibri" pitchFamily="34" charset="0"/>
              </a:rPr>
              <a:t>Fifteen soldiers have given blood test to determine their blood type. Construct a  frequency distribution table for the data.</a:t>
            </a:r>
          </a:p>
          <a:p>
            <a:pPr algn="ctr"/>
            <a:endParaRPr lang="en-US">
              <a:solidFill>
                <a:schemeClr val="accent6"/>
              </a:solidFill>
            </a:endParaRPr>
          </a:p>
        </p:txBody>
      </p:sp>
      <p:grpSp>
        <p:nvGrpSpPr>
          <p:cNvPr id="10" name="Group 9"/>
          <p:cNvGrpSpPr/>
          <p:nvPr/>
        </p:nvGrpSpPr>
        <p:grpSpPr>
          <a:xfrm>
            <a:off x="3257647" y="3777173"/>
            <a:ext cx="762000" cy="1534086"/>
            <a:chOff x="4571117" y="3926614"/>
            <a:chExt cx="762000" cy="1673601"/>
          </a:xfrm>
        </p:grpSpPr>
        <p:cxnSp>
          <p:nvCxnSpPr>
            <p:cNvPr id="11" name="Straight Connector 10"/>
            <p:cNvCxnSpPr/>
            <p:nvPr/>
          </p:nvCxnSpPr>
          <p:spPr>
            <a:xfrm flipH="1">
              <a:off x="4571117" y="3926614"/>
              <a:ext cx="45720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grpSp>
          <p:nvGrpSpPr>
            <p:cNvPr id="12" name="Group 11"/>
            <p:cNvGrpSpPr/>
            <p:nvPr/>
          </p:nvGrpSpPr>
          <p:grpSpPr>
            <a:xfrm>
              <a:off x="4571117" y="3926614"/>
              <a:ext cx="762000" cy="1673601"/>
              <a:chOff x="3629892" y="4329546"/>
              <a:chExt cx="762000" cy="1673601"/>
            </a:xfrm>
          </p:grpSpPr>
          <p:cxnSp>
            <p:nvCxnSpPr>
              <p:cNvPr id="13" name="Straight Connector 12"/>
              <p:cNvCxnSpPr/>
              <p:nvPr/>
            </p:nvCxnSpPr>
            <p:spPr>
              <a:xfrm>
                <a:off x="3629892" y="4329546"/>
                <a:ext cx="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3782292" y="4329546"/>
                <a:ext cx="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3934692" y="4329546"/>
                <a:ext cx="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a:off x="4087092" y="4329546"/>
                <a:ext cx="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4391892" y="4329546"/>
                <a:ext cx="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3629892" y="4786746"/>
                <a:ext cx="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3782292" y="4807529"/>
                <a:ext cx="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3629892" y="5195458"/>
                <a:ext cx="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3969331" y="4807529"/>
                <a:ext cx="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3782292" y="5216243"/>
                <a:ext cx="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3915773" y="5216243"/>
                <a:ext cx="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4087092" y="5216243"/>
                <a:ext cx="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a:off x="3629893" y="5656783"/>
                <a:ext cx="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p:nvCxnSpPr>
            <p:spPr>
              <a:xfrm>
                <a:off x="3810004" y="5656783"/>
                <a:ext cx="0" cy="34636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grpSp>
      </p:grpSp>
      <p:grpSp>
        <p:nvGrpSpPr>
          <p:cNvPr id="27" name="Group 26"/>
          <p:cNvGrpSpPr/>
          <p:nvPr/>
        </p:nvGrpSpPr>
        <p:grpSpPr>
          <a:xfrm>
            <a:off x="5400471" y="3676257"/>
            <a:ext cx="352777" cy="1674985"/>
            <a:chOff x="6644230" y="3823410"/>
            <a:chExt cx="352777" cy="1674985"/>
          </a:xfrm>
        </p:grpSpPr>
        <p:sp>
          <p:nvSpPr>
            <p:cNvPr id="28" name="TextBox 27"/>
            <p:cNvSpPr txBox="1"/>
            <p:nvPr/>
          </p:nvSpPr>
          <p:spPr>
            <a:xfrm>
              <a:off x="6644230" y="3823410"/>
              <a:ext cx="341760" cy="430887"/>
            </a:xfrm>
            <a:prstGeom prst="rect">
              <a:avLst/>
            </a:prstGeom>
            <a:noFill/>
          </p:spPr>
          <p:txBody>
            <a:bodyPr wrap="none" rtlCol="0">
              <a:spAutoFit/>
            </a:bodyPr>
            <a:lstStyle/>
            <a:p>
              <a:r>
                <a:rPr lang="en-US" sz="2200">
                  <a:solidFill>
                    <a:schemeClr val="accent6"/>
                  </a:solidFill>
                </a:rPr>
                <a:t>6</a:t>
              </a:r>
            </a:p>
          </p:txBody>
        </p:sp>
        <p:sp>
          <p:nvSpPr>
            <p:cNvPr id="29" name="TextBox 28"/>
            <p:cNvSpPr txBox="1"/>
            <p:nvPr/>
          </p:nvSpPr>
          <p:spPr>
            <a:xfrm>
              <a:off x="6644230" y="4258471"/>
              <a:ext cx="341760" cy="430887"/>
            </a:xfrm>
            <a:prstGeom prst="rect">
              <a:avLst/>
            </a:prstGeom>
            <a:noFill/>
          </p:spPr>
          <p:txBody>
            <a:bodyPr wrap="none" rtlCol="0">
              <a:spAutoFit/>
            </a:bodyPr>
            <a:lstStyle/>
            <a:p>
              <a:r>
                <a:rPr lang="en-US" sz="2200">
                  <a:solidFill>
                    <a:schemeClr val="accent6"/>
                  </a:solidFill>
                </a:rPr>
                <a:t>3</a:t>
              </a:r>
            </a:p>
          </p:txBody>
        </p:sp>
        <p:sp>
          <p:nvSpPr>
            <p:cNvPr id="30" name="TextBox 29"/>
            <p:cNvSpPr txBox="1"/>
            <p:nvPr/>
          </p:nvSpPr>
          <p:spPr>
            <a:xfrm>
              <a:off x="6655247" y="4689322"/>
              <a:ext cx="341760" cy="430887"/>
            </a:xfrm>
            <a:prstGeom prst="rect">
              <a:avLst/>
            </a:prstGeom>
            <a:noFill/>
          </p:spPr>
          <p:txBody>
            <a:bodyPr wrap="none" rtlCol="0">
              <a:spAutoFit/>
            </a:bodyPr>
            <a:lstStyle/>
            <a:p>
              <a:r>
                <a:rPr lang="en-US" sz="2200">
                  <a:solidFill>
                    <a:schemeClr val="accent6"/>
                  </a:solidFill>
                </a:rPr>
                <a:t>4</a:t>
              </a:r>
            </a:p>
          </p:txBody>
        </p:sp>
        <p:sp>
          <p:nvSpPr>
            <p:cNvPr id="31" name="TextBox 30"/>
            <p:cNvSpPr txBox="1"/>
            <p:nvPr/>
          </p:nvSpPr>
          <p:spPr>
            <a:xfrm>
              <a:off x="6655247" y="5067508"/>
              <a:ext cx="341760" cy="430887"/>
            </a:xfrm>
            <a:prstGeom prst="rect">
              <a:avLst/>
            </a:prstGeom>
            <a:noFill/>
          </p:spPr>
          <p:txBody>
            <a:bodyPr wrap="none" rtlCol="0">
              <a:spAutoFit/>
            </a:bodyPr>
            <a:lstStyle/>
            <a:p>
              <a:r>
                <a:rPr lang="en-US" sz="2200">
                  <a:solidFill>
                    <a:schemeClr val="accent6"/>
                  </a:solidFill>
                </a:rPr>
                <a:t>2</a:t>
              </a:r>
            </a:p>
          </p:txBody>
        </p:sp>
      </p:grpSp>
    </p:spTree>
    <p:extLst>
      <p:ext uri="{BB962C8B-B14F-4D97-AF65-F5344CB8AC3E}">
        <p14:creationId xmlns:p14="http://schemas.microsoft.com/office/powerpoint/2010/main" val="702691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circle(in)">
                                      <p:cBhvr>
                                        <p:cTn id="18" dur="20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up)">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wipe(left)">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1000"/>
                                        <p:tgtEl>
                                          <p:spTgt spid="3"/>
                                        </p:tgtEl>
                                      </p:cBhvr>
                                    </p:animEffect>
                                    <p:anim calcmode="lin" valueType="num">
                                      <p:cBhvr>
                                        <p:cTn id="34" dur="1000" fill="hold"/>
                                        <p:tgtEl>
                                          <p:spTgt spid="3"/>
                                        </p:tgtEl>
                                        <p:attrNameLst>
                                          <p:attrName>ppt_x</p:attrName>
                                        </p:attrNameLst>
                                      </p:cBhvr>
                                      <p:tavLst>
                                        <p:tav tm="0">
                                          <p:val>
                                            <p:strVal val="#ppt_x"/>
                                          </p:val>
                                        </p:tav>
                                        <p:tav tm="100000">
                                          <p:val>
                                            <p:strVal val="#ppt_x"/>
                                          </p:val>
                                        </p:tav>
                                      </p:tavLst>
                                    </p:anim>
                                    <p:anim calcmode="lin" valueType="num">
                                      <p:cBhvr>
                                        <p:cTn id="3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2590" y="3020291"/>
            <a:ext cx="10280073" cy="1260764"/>
          </a:xfrm>
        </p:spPr>
        <p:txBody>
          <a:bodyPr>
            <a:normAutofit fontScale="90000"/>
          </a:bodyPr>
          <a:lstStyle/>
          <a:p>
            <a:pPr algn="ctr" eaLnBrk="1" hangingPunct="1"/>
            <a:r>
              <a:rPr lang="en-US" sz="4000" b="1">
                <a:solidFill>
                  <a:srgbClr val="002060"/>
                </a:solidFill>
                <a:latin typeface="Calibri" panose="020F0502020204030204" pitchFamily="34" charset="0"/>
                <a:cs typeface="Calibri" panose="020F0502020204030204" pitchFamily="34" charset="0"/>
              </a:rPr>
              <a:t>What about if the values of the data are </a:t>
            </a:r>
            <a:r>
              <a:rPr lang="en-US" sz="5000" b="1">
                <a:solidFill>
                  <a:srgbClr val="FF0000"/>
                </a:solidFill>
                <a:latin typeface="Calibri" panose="020F0502020204030204" pitchFamily="34" charset="0"/>
                <a:cs typeface="Calibri" panose="020F0502020204030204" pitchFamily="34" charset="0"/>
              </a:rPr>
              <a:t>numbers</a:t>
            </a:r>
            <a:r>
              <a:rPr lang="en-US" sz="4000" b="1">
                <a:solidFill>
                  <a:srgbClr val="002060"/>
                </a:solidFill>
                <a:latin typeface="Calibri" panose="020F0502020204030204" pitchFamily="34" charset="0"/>
                <a:cs typeface="Calibri" panose="020F0502020204030204" pitchFamily="34" charset="0"/>
              </a:rPr>
              <a:t>?</a:t>
            </a:r>
          </a:p>
        </p:txBody>
      </p:sp>
      <p:pic>
        <p:nvPicPr>
          <p:cNvPr id="3" name="Picture 2" descr="File:Noto Emoji Oreo 1f914.svg - Wikimedia Common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2245" y="529934"/>
            <a:ext cx="2367973" cy="2367973"/>
          </a:xfrm>
          <a:prstGeom prst="rect">
            <a:avLst/>
          </a:prstGeom>
        </p:spPr>
      </p:pic>
    </p:spTree>
    <p:extLst>
      <p:ext uri="{BB962C8B-B14F-4D97-AF65-F5344CB8AC3E}">
        <p14:creationId xmlns:p14="http://schemas.microsoft.com/office/powerpoint/2010/main" val="1341677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a:spLocks noChangeArrowheads="1"/>
          </p:cNvSpPr>
          <p:nvPr/>
        </p:nvSpPr>
        <p:spPr bwMode="auto">
          <a:xfrm>
            <a:off x="914251" y="1828967"/>
            <a:ext cx="1075664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sz="2500">
                <a:solidFill>
                  <a:schemeClr val="accent6"/>
                </a:solidFill>
                <a:latin typeface="+mj-lt"/>
              </a:rPr>
              <a:t>A </a:t>
            </a:r>
            <a:r>
              <a:rPr lang="en-US" sz="2500" b="1">
                <a:solidFill>
                  <a:schemeClr val="accent2">
                    <a:lumMod val="50000"/>
                  </a:schemeClr>
                </a:solidFill>
                <a:latin typeface="+mj-lt"/>
              </a:rPr>
              <a:t>Grouped Frequency Distribution </a:t>
            </a:r>
            <a:r>
              <a:rPr lang="en-US" sz="2500">
                <a:solidFill>
                  <a:schemeClr val="accent6"/>
                </a:solidFill>
                <a:latin typeface="+mj-lt"/>
              </a:rPr>
              <a:t>is an organization of raw data in table form, using classes and frequencies.</a:t>
            </a:r>
            <a:endParaRPr lang="en-US" sz="3600">
              <a:solidFill>
                <a:schemeClr val="accent6"/>
              </a:solidFill>
              <a:latin typeface="+mj-lt"/>
            </a:endParaRPr>
          </a:p>
        </p:txBody>
      </p:sp>
      <p:sp>
        <p:nvSpPr>
          <p:cNvPr id="3" name="TextBox 2"/>
          <p:cNvSpPr txBox="1"/>
          <p:nvPr/>
        </p:nvSpPr>
        <p:spPr>
          <a:xfrm>
            <a:off x="1298482" y="113407"/>
            <a:ext cx="9157355" cy="584775"/>
          </a:xfrm>
          <a:prstGeom prst="rect">
            <a:avLst/>
          </a:prstGeom>
          <a:noFill/>
        </p:spPr>
        <p:txBody>
          <a:bodyPr wrap="square" rtlCol="0">
            <a:spAutoFit/>
          </a:bodyPr>
          <a:lstStyle>
            <a:defPPr>
              <a:defRPr lang="en-US"/>
            </a:defPPr>
            <a:lvl1pPr>
              <a:defRPr sz="3200" b="1">
                <a:solidFill>
                  <a:srgbClr val="002060"/>
                </a:solidFill>
                <a:latin typeface="+mj-lt"/>
              </a:defRPr>
            </a:lvl1pPr>
          </a:lstStyle>
          <a:p>
            <a:r>
              <a:rPr lang="en-US"/>
              <a:t>B. Grouped Frequency Distribution</a:t>
            </a:r>
          </a:p>
        </p:txBody>
      </p:sp>
      <p:sp>
        <p:nvSpPr>
          <p:cNvPr id="4" name="Rectangle 3"/>
          <p:cNvSpPr/>
          <p:nvPr/>
        </p:nvSpPr>
        <p:spPr>
          <a:xfrm>
            <a:off x="1464857" y="728668"/>
            <a:ext cx="11130266" cy="907941"/>
          </a:xfrm>
          <a:prstGeom prst="rect">
            <a:avLst/>
          </a:prstGeom>
        </p:spPr>
        <p:txBody>
          <a:bodyPr wrap="square">
            <a:spAutoFit/>
          </a:bodyPr>
          <a:lstStyle/>
          <a:p>
            <a:pPr eaLnBrk="1" hangingPunct="1"/>
            <a:r>
              <a:rPr lang="en-US" sz="2500">
                <a:solidFill>
                  <a:schemeClr val="accent6"/>
                </a:solidFill>
                <a:latin typeface="+mj-lt"/>
              </a:rPr>
              <a:t>When the </a:t>
            </a:r>
            <a:r>
              <a:rPr lang="en-US" sz="2800" b="1">
                <a:solidFill>
                  <a:schemeClr val="accent6"/>
                </a:solidFill>
                <a:latin typeface="+mj-lt"/>
              </a:rPr>
              <a:t>range of the data is large</a:t>
            </a:r>
            <a:r>
              <a:rPr lang="en-US" sz="2500">
                <a:solidFill>
                  <a:schemeClr val="accent6"/>
                </a:solidFill>
                <a:latin typeface="+mj-lt"/>
              </a:rPr>
              <a:t>, the data must be grouped into classes, that are </a:t>
            </a:r>
            <a:r>
              <a:rPr lang="en-US" sz="2500" b="1">
                <a:solidFill>
                  <a:schemeClr val="accent6"/>
                </a:solidFill>
                <a:latin typeface="+mj-lt"/>
              </a:rPr>
              <a:t>more than one unit in width</a:t>
            </a:r>
          </a:p>
        </p:txBody>
      </p:sp>
      <p:pic>
        <p:nvPicPr>
          <p:cNvPr id="5" name="Picture 4"/>
          <p:cNvPicPr>
            <a:picLocks noChangeAspect="1"/>
          </p:cNvPicPr>
          <p:nvPr/>
        </p:nvPicPr>
        <p:blipFill>
          <a:blip r:embed="rId2"/>
          <a:stretch>
            <a:fillRect/>
          </a:stretch>
        </p:blipFill>
        <p:spPr>
          <a:xfrm>
            <a:off x="2889791" y="2883099"/>
            <a:ext cx="5787674" cy="3433265"/>
          </a:xfrm>
          <a:prstGeom prst="rect">
            <a:avLst/>
          </a:prstGeom>
        </p:spPr>
      </p:pic>
      <p:sp>
        <p:nvSpPr>
          <p:cNvPr id="6" name="Action Button: Movie 5">
            <a:hlinkClick r:id="rId3" highlightClick="1"/>
          </p:cNvPr>
          <p:cNvSpPr/>
          <p:nvPr/>
        </p:nvSpPr>
        <p:spPr>
          <a:xfrm>
            <a:off x="753049" y="177176"/>
            <a:ext cx="545433" cy="441267"/>
          </a:xfrm>
          <a:prstGeom prst="actionButtonMovie">
            <a:avLst/>
          </a:prstGeom>
          <a:solidFill>
            <a:srgbClr val="D5E5F3"/>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27315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6221" y="1022778"/>
            <a:ext cx="10586484" cy="954107"/>
          </a:xfrm>
          <a:prstGeom prst="rect">
            <a:avLst/>
          </a:prstGeom>
          <a:noFill/>
        </p:spPr>
        <p:txBody>
          <a:bodyPr wrap="square">
            <a:spAutoFit/>
            <a:scene3d>
              <a:camera prst="orthographicFront"/>
              <a:lightRig rig="balanced" dir="t">
                <a:rot lat="0" lon="0" rev="2100000"/>
              </a:lightRig>
            </a:scene3d>
            <a:sp3d extrusionH="57150" prstMaterial="metal">
              <a:bevelT w="38100" h="25400"/>
              <a:contourClr>
                <a:schemeClr val="bg2"/>
              </a:contourClr>
            </a:sp3d>
          </a:bodyPr>
          <a:lstStyle/>
          <a:p>
            <a:pPr marL="457200" indent="-457200">
              <a:buFont typeface="+mj-lt"/>
              <a:buAutoNum type="arabicPeriod"/>
            </a:pPr>
            <a:r>
              <a:rPr lang="en-US" sz="2800" b="1">
                <a:ln w="50800"/>
                <a:solidFill>
                  <a:schemeClr val="accent6"/>
                </a:solidFill>
              </a:rPr>
              <a:t>Class Limits</a:t>
            </a:r>
          </a:p>
          <a:p>
            <a:r>
              <a:rPr lang="en-US" sz="2800" b="1">
                <a:ln w="50800"/>
                <a:solidFill>
                  <a:schemeClr val="accent6"/>
                </a:solidFill>
                <a:latin typeface="Calibri" pitchFamily="34" charset="0"/>
              </a:rPr>
              <a:t>      </a:t>
            </a:r>
            <a:r>
              <a:rPr lang="en-US" sz="2800">
                <a:solidFill>
                  <a:schemeClr val="accent6"/>
                </a:solidFill>
                <a:latin typeface="Calibri" pitchFamily="34" charset="0"/>
              </a:rPr>
              <a:t>The values which determine the upper and lower limits of a class</a:t>
            </a:r>
          </a:p>
        </p:txBody>
      </p:sp>
      <p:sp>
        <p:nvSpPr>
          <p:cNvPr id="3" name="TextBox 2"/>
          <p:cNvSpPr txBox="1"/>
          <p:nvPr/>
        </p:nvSpPr>
        <p:spPr>
          <a:xfrm>
            <a:off x="692103" y="159278"/>
            <a:ext cx="11094720" cy="630942"/>
          </a:xfrm>
          <a:prstGeom prst="rect">
            <a:avLst/>
          </a:prstGeom>
          <a:noFill/>
        </p:spPr>
        <p:txBody>
          <a:bodyPr wrap="square" rtlCol="0">
            <a:spAutoFit/>
          </a:bodyPr>
          <a:lstStyle/>
          <a:p>
            <a:r>
              <a:rPr lang="en-US" sz="3500" b="1">
                <a:latin typeface="Calibri" panose="020F0502020204030204" pitchFamily="34" charset="0"/>
                <a:cs typeface="Calibri" panose="020F0502020204030204" pitchFamily="34" charset="0"/>
              </a:rPr>
              <a:t>Key Components of Grouped Frequency Distribution</a:t>
            </a:r>
          </a:p>
        </p:txBody>
      </p:sp>
      <p:sp>
        <p:nvSpPr>
          <p:cNvPr id="4" name="Rectangle 3"/>
          <p:cNvSpPr/>
          <p:nvPr/>
        </p:nvSpPr>
        <p:spPr>
          <a:xfrm>
            <a:off x="946221" y="2076006"/>
            <a:ext cx="10586484" cy="954107"/>
          </a:xfrm>
          <a:prstGeom prst="rect">
            <a:avLst/>
          </a:prstGeom>
          <a:noFill/>
        </p:spPr>
        <p:txBody>
          <a:bodyPr wrap="square">
            <a:spAutoFit/>
            <a:scene3d>
              <a:camera prst="orthographicFront"/>
              <a:lightRig rig="balanced" dir="t">
                <a:rot lat="0" lon="0" rev="2100000"/>
              </a:lightRig>
            </a:scene3d>
            <a:sp3d extrusionH="57150" prstMaterial="metal">
              <a:bevelT w="38100" h="25400"/>
              <a:contourClr>
                <a:schemeClr val="bg2"/>
              </a:contourClr>
            </a:sp3d>
          </a:bodyPr>
          <a:lstStyle/>
          <a:p>
            <a:pPr marL="514350" indent="-514350">
              <a:buAutoNum type="arabicPeriod" startAt="2"/>
            </a:pPr>
            <a:r>
              <a:rPr lang="en-US" sz="2800" b="1">
                <a:ln w="50800"/>
                <a:solidFill>
                  <a:schemeClr val="accent6"/>
                </a:solidFill>
              </a:rPr>
              <a:t>Lower Class Limit</a:t>
            </a:r>
          </a:p>
          <a:p>
            <a:r>
              <a:rPr lang="en-US" sz="2800" b="1">
                <a:solidFill>
                  <a:schemeClr val="accent6"/>
                </a:solidFill>
                <a:latin typeface="Calibri" pitchFamily="34" charset="0"/>
              </a:rPr>
              <a:t>       Smallest data </a:t>
            </a:r>
            <a:r>
              <a:rPr lang="en-US" sz="2800">
                <a:solidFill>
                  <a:schemeClr val="accent6"/>
                </a:solidFill>
                <a:latin typeface="Calibri" pitchFamily="34" charset="0"/>
              </a:rPr>
              <a:t>value that can be included in the class</a:t>
            </a:r>
          </a:p>
        </p:txBody>
      </p:sp>
      <p:sp>
        <p:nvSpPr>
          <p:cNvPr id="5" name="Rectangle 4"/>
          <p:cNvSpPr/>
          <p:nvPr/>
        </p:nvSpPr>
        <p:spPr>
          <a:xfrm>
            <a:off x="946221" y="3214077"/>
            <a:ext cx="10586484" cy="954107"/>
          </a:xfrm>
          <a:prstGeom prst="rect">
            <a:avLst/>
          </a:prstGeom>
          <a:noFill/>
        </p:spPr>
        <p:txBody>
          <a:bodyPr wrap="square">
            <a:spAutoFit/>
            <a:scene3d>
              <a:camera prst="orthographicFront"/>
              <a:lightRig rig="balanced" dir="t">
                <a:rot lat="0" lon="0" rev="2100000"/>
              </a:lightRig>
            </a:scene3d>
            <a:sp3d extrusionH="57150" prstMaterial="metal">
              <a:bevelT w="38100" h="25400"/>
              <a:contourClr>
                <a:schemeClr val="bg2"/>
              </a:contourClr>
            </a:sp3d>
          </a:bodyPr>
          <a:lstStyle/>
          <a:p>
            <a:pPr marL="514350" indent="-514350">
              <a:buAutoNum type="arabicPeriod" startAt="3"/>
            </a:pPr>
            <a:r>
              <a:rPr lang="en-US" sz="2800" b="1">
                <a:ln w="50800"/>
                <a:solidFill>
                  <a:schemeClr val="accent6"/>
                </a:solidFill>
              </a:rPr>
              <a:t>Upper Class Limits</a:t>
            </a:r>
          </a:p>
          <a:p>
            <a:r>
              <a:rPr lang="en-US" sz="2800" b="1">
                <a:solidFill>
                  <a:schemeClr val="accent6"/>
                </a:solidFill>
                <a:latin typeface="Calibri" pitchFamily="34" charset="0"/>
              </a:rPr>
              <a:t>      Largest data </a:t>
            </a:r>
            <a:r>
              <a:rPr lang="en-US" sz="2800">
                <a:solidFill>
                  <a:schemeClr val="accent6"/>
                </a:solidFill>
                <a:latin typeface="Calibri" pitchFamily="34" charset="0"/>
              </a:rPr>
              <a:t>value that can be included in the class</a:t>
            </a:r>
          </a:p>
        </p:txBody>
      </p:sp>
      <p:sp>
        <p:nvSpPr>
          <p:cNvPr id="6" name="Rectangle 5"/>
          <p:cNvSpPr/>
          <p:nvPr/>
        </p:nvSpPr>
        <p:spPr>
          <a:xfrm>
            <a:off x="946221" y="4469989"/>
            <a:ext cx="10586484" cy="1384995"/>
          </a:xfrm>
          <a:prstGeom prst="rect">
            <a:avLst/>
          </a:prstGeom>
          <a:noFill/>
        </p:spPr>
        <p:txBody>
          <a:bodyPr wrap="square">
            <a:spAutoFit/>
            <a:scene3d>
              <a:camera prst="orthographicFront"/>
              <a:lightRig rig="balanced" dir="t">
                <a:rot lat="0" lon="0" rev="2100000"/>
              </a:lightRig>
            </a:scene3d>
            <a:sp3d extrusionH="57150" prstMaterial="metal">
              <a:bevelT w="38100" h="25400"/>
              <a:contourClr>
                <a:schemeClr val="bg2"/>
              </a:contourClr>
            </a:sp3d>
          </a:bodyPr>
          <a:lstStyle/>
          <a:p>
            <a:pPr marL="514350" indent="-514350">
              <a:buAutoNum type="arabicPeriod" startAt="4"/>
            </a:pPr>
            <a:r>
              <a:rPr lang="en-US" sz="2800" b="1">
                <a:ln w="50800"/>
                <a:solidFill>
                  <a:schemeClr val="accent6"/>
                </a:solidFill>
                <a:latin typeface="Calibri" panose="020F0502020204030204" pitchFamily="34" charset="0"/>
                <a:cs typeface="Calibri" panose="020F0502020204030204" pitchFamily="34" charset="0"/>
              </a:rPr>
              <a:t>Class Width</a:t>
            </a:r>
          </a:p>
          <a:p>
            <a:r>
              <a:rPr lang="en-US" sz="2800">
                <a:solidFill>
                  <a:schemeClr val="accent6"/>
                </a:solidFill>
                <a:latin typeface="Calibri" pitchFamily="34" charset="0"/>
              </a:rPr>
              <a:t>      Difference between </a:t>
            </a:r>
            <a:r>
              <a:rPr lang="en-US" sz="2800" b="1">
                <a:solidFill>
                  <a:schemeClr val="accent6"/>
                </a:solidFill>
                <a:latin typeface="Calibri" pitchFamily="34" charset="0"/>
              </a:rPr>
              <a:t>two</a:t>
            </a:r>
            <a:r>
              <a:rPr lang="en-US" sz="2800">
                <a:solidFill>
                  <a:schemeClr val="accent6"/>
                </a:solidFill>
                <a:latin typeface="Calibri" pitchFamily="34" charset="0"/>
              </a:rPr>
              <a:t> </a:t>
            </a:r>
            <a:r>
              <a:rPr lang="en-US" sz="2800" b="1">
                <a:solidFill>
                  <a:schemeClr val="accent6"/>
                </a:solidFill>
                <a:latin typeface="Calibri" pitchFamily="34" charset="0"/>
              </a:rPr>
              <a:t>consecutive</a:t>
            </a:r>
            <a:r>
              <a:rPr lang="en-US" sz="2800">
                <a:solidFill>
                  <a:schemeClr val="accent6"/>
                </a:solidFill>
                <a:latin typeface="Calibri" pitchFamily="34" charset="0"/>
              </a:rPr>
              <a:t> lower class limits or upper</a:t>
            </a:r>
          </a:p>
          <a:p>
            <a:r>
              <a:rPr lang="en-US" sz="2800">
                <a:solidFill>
                  <a:schemeClr val="accent6"/>
                </a:solidFill>
                <a:latin typeface="Calibri" pitchFamily="34" charset="0"/>
              </a:rPr>
              <a:t>      class limits.</a:t>
            </a:r>
          </a:p>
        </p:txBody>
      </p:sp>
    </p:spTree>
    <p:extLst>
      <p:ext uri="{BB962C8B-B14F-4D97-AF65-F5344CB8AC3E}">
        <p14:creationId xmlns:p14="http://schemas.microsoft.com/office/powerpoint/2010/main" val="903891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up)">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17333" y="230740"/>
            <a:ext cx="10422035" cy="630942"/>
          </a:xfrm>
          <a:prstGeom prst="rect">
            <a:avLst/>
          </a:prstGeom>
          <a:noFill/>
        </p:spPr>
        <p:txBody>
          <a:bodyPr wrap="square" rtlCol="0">
            <a:spAutoFit/>
          </a:bodyPr>
          <a:lstStyle/>
          <a:p>
            <a:r>
              <a:rPr lang="en-US" sz="3500" b="1">
                <a:solidFill>
                  <a:srgbClr val="002060"/>
                </a:solidFill>
                <a:latin typeface="Calibri" panose="020F0502020204030204" pitchFamily="34" charset="0"/>
                <a:cs typeface="Calibri" panose="020F0502020204030204" pitchFamily="34" charset="0"/>
              </a:rPr>
              <a:t>Steps in Creating a Grouped Frequency Distribution </a:t>
            </a:r>
          </a:p>
        </p:txBody>
      </p:sp>
      <p:sp>
        <p:nvSpPr>
          <p:cNvPr id="5" name="TextBox 4"/>
          <p:cNvSpPr txBox="1">
            <a:spLocks noChangeArrowheads="1"/>
          </p:cNvSpPr>
          <p:nvPr/>
        </p:nvSpPr>
        <p:spPr bwMode="auto">
          <a:xfrm>
            <a:off x="824907" y="917541"/>
            <a:ext cx="10152807" cy="553998"/>
          </a:xfrm>
          <a:prstGeom prst="rect">
            <a:avLst/>
          </a:prstGeom>
          <a:noFill/>
          <a:ln w="9525">
            <a:noFill/>
            <a:miter lim="800000"/>
            <a:headEnd/>
            <a:tailEnd/>
          </a:ln>
        </p:spPr>
        <p:txBody>
          <a:bodyPr wrap="square">
            <a:spAutoFit/>
          </a:bodyPr>
          <a:lstStyle/>
          <a:p>
            <a:r>
              <a:rPr lang="en-US" sz="3000" b="1">
                <a:solidFill>
                  <a:srgbClr val="FF0000"/>
                </a:solidFill>
                <a:latin typeface="Calibri" pitchFamily="34" charset="0"/>
              </a:rPr>
              <a:t>Step 3: </a:t>
            </a:r>
            <a:r>
              <a:rPr lang="en-US" sz="3000">
                <a:solidFill>
                  <a:schemeClr val="accent6"/>
                </a:solidFill>
                <a:latin typeface="Calibri" pitchFamily="34" charset="0"/>
              </a:rPr>
              <a:t>Write your minimum value as your lowest lower limit.</a:t>
            </a:r>
          </a:p>
        </p:txBody>
      </p:sp>
      <p:grpSp>
        <p:nvGrpSpPr>
          <p:cNvPr id="6" name="Group 5"/>
          <p:cNvGrpSpPr/>
          <p:nvPr/>
        </p:nvGrpSpPr>
        <p:grpSpPr>
          <a:xfrm>
            <a:off x="2035710" y="1544567"/>
            <a:ext cx="7100021" cy="1152652"/>
            <a:chOff x="177471" y="4124389"/>
            <a:chExt cx="7100021" cy="1152652"/>
          </a:xfrm>
        </p:grpSpPr>
        <p:sp>
          <p:nvSpPr>
            <p:cNvPr id="7" name="TextBox 6"/>
            <p:cNvSpPr txBox="1"/>
            <p:nvPr/>
          </p:nvSpPr>
          <p:spPr>
            <a:xfrm>
              <a:off x="177471" y="4124389"/>
              <a:ext cx="7100021" cy="1077218"/>
            </a:xfrm>
            <a:prstGeom prst="rect">
              <a:avLst/>
            </a:prstGeom>
            <a:noFill/>
          </p:spPr>
          <p:txBody>
            <a:bodyPr wrap="square" rtlCol="0">
              <a:spAutoFit/>
            </a:bodyPr>
            <a:lstStyle/>
            <a:p>
              <a:r>
                <a:rPr lang="en-US" sz="3200" b="1">
                  <a:solidFill>
                    <a:srgbClr val="00B050"/>
                  </a:solidFill>
                </a:rPr>
                <a:t>Example: </a:t>
              </a:r>
              <a:r>
                <a:rPr lang="en-US" sz="3200">
                  <a:solidFill>
                    <a:schemeClr val="accent6"/>
                  </a:solidFill>
                </a:rPr>
                <a:t>Class Limit:     2 - 10</a:t>
              </a:r>
            </a:p>
            <a:p>
              <a:r>
                <a:rPr lang="en-US" sz="3200">
                  <a:solidFill>
                    <a:schemeClr val="accent6"/>
                  </a:solidFill>
                </a:rPr>
                <a:t>         </a:t>
              </a:r>
            </a:p>
          </p:txBody>
        </p:sp>
        <p:sp>
          <p:nvSpPr>
            <p:cNvPr id="8" name="TextBox 7"/>
            <p:cNvSpPr txBox="1"/>
            <p:nvPr/>
          </p:nvSpPr>
          <p:spPr>
            <a:xfrm>
              <a:off x="3551786" y="4692266"/>
              <a:ext cx="412292" cy="584775"/>
            </a:xfrm>
            <a:prstGeom prst="rect">
              <a:avLst/>
            </a:prstGeom>
            <a:noFill/>
          </p:spPr>
          <p:txBody>
            <a:bodyPr wrap="none" rtlCol="0">
              <a:spAutoFit/>
            </a:bodyPr>
            <a:lstStyle/>
            <a:p>
              <a:r>
                <a:rPr lang="en-US" sz="3200">
                  <a:solidFill>
                    <a:schemeClr val="accent6"/>
                  </a:solidFill>
                </a:rPr>
                <a:t>2</a:t>
              </a:r>
            </a:p>
          </p:txBody>
        </p:sp>
        <p:sp>
          <p:nvSpPr>
            <p:cNvPr id="9" name="Right Arrow 8"/>
            <p:cNvSpPr/>
            <p:nvPr/>
          </p:nvSpPr>
          <p:spPr>
            <a:xfrm>
              <a:off x="2666301" y="4832254"/>
              <a:ext cx="762000" cy="304800"/>
            </a:xfrm>
            <a:prstGeom prst="rightArrow">
              <a:avLst/>
            </a:prstGeom>
            <a:solidFill>
              <a:schemeClr val="accent2">
                <a:lumMod val="75000"/>
              </a:schemeClr>
            </a:solid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extBox 9"/>
            <p:cNvSpPr txBox="1"/>
            <p:nvPr/>
          </p:nvSpPr>
          <p:spPr>
            <a:xfrm>
              <a:off x="218672" y="4753822"/>
              <a:ext cx="2406428" cy="461665"/>
            </a:xfrm>
            <a:prstGeom prst="rect">
              <a:avLst/>
            </a:prstGeom>
            <a:noFill/>
          </p:spPr>
          <p:txBody>
            <a:bodyPr wrap="none" rtlCol="0">
              <a:spAutoFit/>
            </a:bodyPr>
            <a:lstStyle/>
            <a:p>
              <a:r>
                <a:rPr lang="en-US" sz="2400" b="1">
                  <a:solidFill>
                    <a:schemeClr val="accent6"/>
                  </a:solidFill>
                </a:rPr>
                <a:t>Minimum value</a:t>
              </a:r>
            </a:p>
          </p:txBody>
        </p:sp>
      </p:grpSp>
      <p:sp>
        <p:nvSpPr>
          <p:cNvPr id="11" name="TextBox 10"/>
          <p:cNvSpPr txBox="1">
            <a:spLocks noChangeArrowheads="1"/>
          </p:cNvSpPr>
          <p:nvPr/>
        </p:nvSpPr>
        <p:spPr bwMode="auto">
          <a:xfrm>
            <a:off x="889093" y="2880261"/>
            <a:ext cx="10624481" cy="1015663"/>
          </a:xfrm>
          <a:prstGeom prst="rect">
            <a:avLst/>
          </a:prstGeom>
          <a:noFill/>
          <a:ln w="9525">
            <a:noFill/>
            <a:miter lim="800000"/>
            <a:headEnd/>
            <a:tailEnd/>
          </a:ln>
        </p:spPr>
        <p:txBody>
          <a:bodyPr wrap="square">
            <a:spAutoFit/>
          </a:bodyPr>
          <a:lstStyle/>
          <a:p>
            <a:r>
              <a:rPr lang="en-US" sz="3000" b="1">
                <a:solidFill>
                  <a:srgbClr val="FF0000"/>
                </a:solidFill>
                <a:latin typeface="Calibri" pitchFamily="34" charset="0"/>
              </a:rPr>
              <a:t>Step 4: </a:t>
            </a:r>
            <a:r>
              <a:rPr lang="en-US" sz="3000">
                <a:solidFill>
                  <a:schemeClr val="accent6"/>
                </a:solidFill>
                <a:latin typeface="Calibri" pitchFamily="34" charset="0"/>
              </a:rPr>
              <a:t>Add the class width to your lower limit to find the next lower limit; </a:t>
            </a:r>
          </a:p>
        </p:txBody>
      </p:sp>
      <p:sp>
        <p:nvSpPr>
          <p:cNvPr id="12" name="TextBox 11"/>
          <p:cNvSpPr txBox="1"/>
          <p:nvPr/>
        </p:nvSpPr>
        <p:spPr>
          <a:xfrm>
            <a:off x="1583221" y="4499064"/>
            <a:ext cx="2606867" cy="477054"/>
          </a:xfrm>
          <a:prstGeom prst="rect">
            <a:avLst/>
          </a:prstGeom>
          <a:noFill/>
        </p:spPr>
        <p:txBody>
          <a:bodyPr wrap="none" rtlCol="0">
            <a:spAutoFit/>
          </a:bodyPr>
          <a:lstStyle/>
          <a:p>
            <a:r>
              <a:rPr lang="en-US" sz="2500" b="1" u="sng">
                <a:solidFill>
                  <a:schemeClr val="accent1">
                    <a:lumMod val="50000"/>
                  </a:schemeClr>
                </a:solidFill>
                <a:latin typeface="Calibri" panose="020F0502020204030204" pitchFamily="34" charset="0"/>
                <a:cs typeface="Calibri" panose="020F0502020204030204" pitchFamily="34" charset="0"/>
              </a:rPr>
              <a:t>Lower Class Limits</a:t>
            </a:r>
          </a:p>
        </p:txBody>
      </p:sp>
      <p:sp>
        <p:nvSpPr>
          <p:cNvPr id="13" name="TextBox 12"/>
          <p:cNvSpPr txBox="1"/>
          <p:nvPr/>
        </p:nvSpPr>
        <p:spPr>
          <a:xfrm>
            <a:off x="4279319" y="4427078"/>
            <a:ext cx="412292" cy="584775"/>
          </a:xfrm>
          <a:prstGeom prst="rect">
            <a:avLst/>
          </a:prstGeom>
          <a:noFill/>
        </p:spPr>
        <p:txBody>
          <a:bodyPr wrap="none" rtlCol="0">
            <a:spAutoFit/>
          </a:bodyPr>
          <a:lstStyle/>
          <a:p>
            <a:r>
              <a:rPr lang="en-US" sz="3200">
                <a:solidFill>
                  <a:schemeClr val="accent6"/>
                </a:solidFill>
              </a:rPr>
              <a:t>2</a:t>
            </a:r>
          </a:p>
        </p:txBody>
      </p:sp>
      <p:sp>
        <p:nvSpPr>
          <p:cNvPr id="14" name="TextBox 13"/>
          <p:cNvSpPr txBox="1"/>
          <p:nvPr/>
        </p:nvSpPr>
        <p:spPr>
          <a:xfrm>
            <a:off x="942455" y="3859155"/>
            <a:ext cx="4879862" cy="584775"/>
          </a:xfrm>
          <a:prstGeom prst="rect">
            <a:avLst/>
          </a:prstGeom>
          <a:noFill/>
        </p:spPr>
        <p:txBody>
          <a:bodyPr wrap="none" rtlCol="0">
            <a:spAutoFit/>
          </a:bodyPr>
          <a:lstStyle/>
          <a:p>
            <a:r>
              <a:rPr lang="en-US" sz="3200" b="1">
                <a:solidFill>
                  <a:srgbClr val="7030A0"/>
                </a:solidFill>
                <a:latin typeface="Calibri" panose="020F0502020204030204" pitchFamily="34" charset="0"/>
                <a:cs typeface="Calibri" panose="020F0502020204030204" pitchFamily="34" charset="0"/>
              </a:rPr>
              <a:t>Example: </a:t>
            </a:r>
            <a:r>
              <a:rPr lang="en-US" sz="3200">
                <a:solidFill>
                  <a:schemeClr val="accent6"/>
                </a:solidFill>
              </a:rPr>
              <a:t>If class width = 9</a:t>
            </a:r>
          </a:p>
        </p:txBody>
      </p:sp>
      <p:sp>
        <p:nvSpPr>
          <p:cNvPr id="15" name="TextBox 14"/>
          <p:cNvSpPr txBox="1"/>
          <p:nvPr/>
        </p:nvSpPr>
        <p:spPr>
          <a:xfrm>
            <a:off x="4163838" y="4953917"/>
            <a:ext cx="609462" cy="584775"/>
          </a:xfrm>
          <a:prstGeom prst="rect">
            <a:avLst/>
          </a:prstGeom>
          <a:noFill/>
        </p:spPr>
        <p:txBody>
          <a:bodyPr wrap="none" rtlCol="0">
            <a:spAutoFit/>
          </a:bodyPr>
          <a:lstStyle/>
          <a:p>
            <a:r>
              <a:rPr lang="en-US" sz="3200">
                <a:solidFill>
                  <a:schemeClr val="accent6"/>
                </a:solidFill>
              </a:rPr>
              <a:t>11</a:t>
            </a:r>
          </a:p>
        </p:txBody>
      </p:sp>
      <p:sp>
        <p:nvSpPr>
          <p:cNvPr id="16" name="TextBox 15"/>
          <p:cNvSpPr txBox="1"/>
          <p:nvPr/>
        </p:nvSpPr>
        <p:spPr>
          <a:xfrm>
            <a:off x="4165505" y="5519502"/>
            <a:ext cx="639919" cy="584775"/>
          </a:xfrm>
          <a:prstGeom prst="rect">
            <a:avLst/>
          </a:prstGeom>
          <a:noFill/>
        </p:spPr>
        <p:txBody>
          <a:bodyPr wrap="none" rtlCol="0">
            <a:spAutoFit/>
          </a:bodyPr>
          <a:lstStyle/>
          <a:p>
            <a:r>
              <a:rPr lang="en-US" sz="3200">
                <a:solidFill>
                  <a:schemeClr val="accent6"/>
                </a:solidFill>
              </a:rPr>
              <a:t>20</a:t>
            </a:r>
          </a:p>
        </p:txBody>
      </p:sp>
      <p:sp>
        <p:nvSpPr>
          <p:cNvPr id="17" name="TextBox 16"/>
          <p:cNvSpPr txBox="1"/>
          <p:nvPr/>
        </p:nvSpPr>
        <p:spPr>
          <a:xfrm>
            <a:off x="4165505" y="6178975"/>
            <a:ext cx="639919" cy="584775"/>
          </a:xfrm>
          <a:prstGeom prst="rect">
            <a:avLst/>
          </a:prstGeom>
          <a:noFill/>
        </p:spPr>
        <p:txBody>
          <a:bodyPr wrap="none" rtlCol="0">
            <a:spAutoFit/>
          </a:bodyPr>
          <a:lstStyle/>
          <a:p>
            <a:r>
              <a:rPr lang="en-US" sz="3200">
                <a:solidFill>
                  <a:schemeClr val="accent6"/>
                </a:solidFill>
              </a:rPr>
              <a:t>29</a:t>
            </a:r>
          </a:p>
        </p:txBody>
      </p:sp>
      <p:sp>
        <p:nvSpPr>
          <p:cNvPr id="18" name="16-Point Star 17"/>
          <p:cNvSpPr/>
          <p:nvPr/>
        </p:nvSpPr>
        <p:spPr>
          <a:xfrm>
            <a:off x="6448807" y="3647769"/>
            <a:ext cx="5595774" cy="2883719"/>
          </a:xfrm>
          <a:prstGeom prst="star16">
            <a:avLst/>
          </a:prstGeom>
          <a:solidFill>
            <a:srgbClr val="017E31"/>
          </a:solid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2"/>
                </a:solidFill>
                <a:latin typeface="Calibri" pitchFamily="34" charset="0"/>
              </a:rPr>
              <a:t>WRITE BELOW NOT BESIDE!</a:t>
            </a:r>
          </a:p>
          <a:p>
            <a:pPr algn="ctr"/>
            <a:r>
              <a:rPr lang="en-US" sz="2800">
                <a:solidFill>
                  <a:schemeClr val="bg2"/>
                </a:solidFill>
                <a:latin typeface="Calibri" pitchFamily="34" charset="0"/>
              </a:rPr>
              <a:t>    (do all lower limits  first)</a:t>
            </a:r>
          </a:p>
          <a:p>
            <a:pPr algn="ctr"/>
            <a:endParaRPr lang="en-US">
              <a:solidFill>
                <a:schemeClr val="bg2"/>
              </a:solidFill>
            </a:endParaRPr>
          </a:p>
        </p:txBody>
      </p:sp>
      <p:sp>
        <p:nvSpPr>
          <p:cNvPr id="19" name="Curved Left Arrow 18"/>
          <p:cNvSpPr/>
          <p:nvPr/>
        </p:nvSpPr>
        <p:spPr>
          <a:xfrm>
            <a:off x="4930609" y="4719465"/>
            <a:ext cx="372140" cy="526839"/>
          </a:xfrm>
          <a:prstGeom prst="curvedLeftArrow">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Heptagon 19"/>
          <p:cNvSpPr/>
          <p:nvPr/>
        </p:nvSpPr>
        <p:spPr>
          <a:xfrm>
            <a:off x="5568563" y="4719465"/>
            <a:ext cx="578793" cy="434932"/>
          </a:xfrm>
          <a:prstGeom prst="heptagon">
            <a:avLst/>
          </a:prstGeom>
          <a:solidFill>
            <a:schemeClr val="accent6">
              <a:lumMod val="10000"/>
              <a:lumOff val="90000"/>
            </a:schemeClr>
          </a:solid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accent6"/>
                </a:solidFill>
              </a:rPr>
              <a:t>+9</a:t>
            </a:r>
          </a:p>
        </p:txBody>
      </p:sp>
      <p:sp>
        <p:nvSpPr>
          <p:cNvPr id="21" name="Curved Left Arrow 20"/>
          <p:cNvSpPr/>
          <p:nvPr/>
        </p:nvSpPr>
        <p:spPr>
          <a:xfrm>
            <a:off x="4930609" y="5313162"/>
            <a:ext cx="372140" cy="526839"/>
          </a:xfrm>
          <a:prstGeom prst="curvedLeftArrow">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Curved Left Arrow 21"/>
          <p:cNvSpPr/>
          <p:nvPr/>
        </p:nvSpPr>
        <p:spPr>
          <a:xfrm>
            <a:off x="4940882" y="5969661"/>
            <a:ext cx="372140" cy="526839"/>
          </a:xfrm>
          <a:prstGeom prst="curvedLeftArrow">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Heptagon 22"/>
          <p:cNvSpPr/>
          <p:nvPr/>
        </p:nvSpPr>
        <p:spPr>
          <a:xfrm>
            <a:off x="5586282" y="5384503"/>
            <a:ext cx="578793" cy="434932"/>
          </a:xfrm>
          <a:prstGeom prst="heptagon">
            <a:avLst/>
          </a:prstGeom>
          <a:solidFill>
            <a:schemeClr val="accent6">
              <a:lumMod val="10000"/>
              <a:lumOff val="90000"/>
            </a:schemeClr>
          </a:solid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accent6"/>
                </a:solidFill>
              </a:rPr>
              <a:t>+9</a:t>
            </a:r>
          </a:p>
        </p:txBody>
      </p:sp>
      <p:sp>
        <p:nvSpPr>
          <p:cNvPr id="24" name="Heptagon 23"/>
          <p:cNvSpPr/>
          <p:nvPr/>
        </p:nvSpPr>
        <p:spPr>
          <a:xfrm>
            <a:off x="5586282" y="6122207"/>
            <a:ext cx="578793" cy="434932"/>
          </a:xfrm>
          <a:prstGeom prst="heptagon">
            <a:avLst/>
          </a:prstGeom>
          <a:solidFill>
            <a:schemeClr val="accent6">
              <a:lumMod val="10000"/>
              <a:lumOff val="90000"/>
            </a:schemeClr>
          </a:solid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accent6"/>
                </a:solidFill>
              </a:rPr>
              <a:t>+9</a:t>
            </a:r>
          </a:p>
        </p:txBody>
      </p:sp>
      <p:sp>
        <p:nvSpPr>
          <p:cNvPr id="25" name="TextBox 24"/>
          <p:cNvSpPr txBox="1"/>
          <p:nvPr/>
        </p:nvSpPr>
        <p:spPr>
          <a:xfrm>
            <a:off x="740508" y="5562068"/>
            <a:ext cx="3111752" cy="1015663"/>
          </a:xfrm>
          <a:prstGeom prst="rect">
            <a:avLst/>
          </a:prstGeom>
          <a:solidFill>
            <a:schemeClr val="accent5">
              <a:lumMod val="20000"/>
              <a:lumOff val="80000"/>
            </a:schemeClr>
          </a:solidFill>
          <a:ln>
            <a:solidFill>
              <a:schemeClr val="accent2">
                <a:lumMod val="75000"/>
              </a:schemeClr>
            </a:solidFill>
          </a:ln>
        </p:spPr>
        <p:txBody>
          <a:bodyPr wrap="square" rtlCol="0">
            <a:spAutoFit/>
          </a:bodyPr>
          <a:lstStyle/>
          <a:p>
            <a:pPr algn="ctr"/>
            <a:r>
              <a:rPr lang="en-US" sz="2000" i="1">
                <a:solidFill>
                  <a:schemeClr val="accent6">
                    <a:lumMod val="90000"/>
                    <a:lumOff val="10000"/>
                  </a:schemeClr>
                </a:solidFill>
              </a:rPr>
              <a:t>Continue until you have the number of classes needed (in this case 4)</a:t>
            </a:r>
          </a:p>
        </p:txBody>
      </p:sp>
    </p:spTree>
    <p:extLst>
      <p:ext uri="{BB962C8B-B14F-4D97-AF65-F5344CB8AC3E}">
        <p14:creationId xmlns:p14="http://schemas.microsoft.com/office/powerpoint/2010/main" val="3797647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barn(inVertical)">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barn(inVertical)">
                                      <p:cBhvr>
                                        <p:cTn id="28" dur="500"/>
                                        <p:tgtEl>
                                          <p:spTgt spid="23"/>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barn(inVertical)">
                                      <p:cBhvr>
                                        <p:cTn id="41" dur="500"/>
                                        <p:tgtEl>
                                          <p:spTgt spid="24"/>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7"/>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p:bldP spid="17" grpId="0"/>
      <p:bldP spid="19" grpId="0" animBg="1"/>
      <p:bldP spid="20" grpId="0" animBg="1"/>
      <p:bldP spid="21" grpId="0" animBg="1"/>
      <p:bldP spid="22" grpId="0" animBg="1"/>
      <p:bldP spid="23" grpId="0" animBg="1"/>
      <p:bldP spid="24" grpId="0" animBg="1"/>
      <p:bldP spid="2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17333" y="230740"/>
            <a:ext cx="10422035" cy="630942"/>
          </a:xfrm>
          <a:prstGeom prst="rect">
            <a:avLst/>
          </a:prstGeom>
          <a:noFill/>
        </p:spPr>
        <p:txBody>
          <a:bodyPr wrap="square" rtlCol="0">
            <a:spAutoFit/>
          </a:bodyPr>
          <a:lstStyle/>
          <a:p>
            <a:r>
              <a:rPr lang="en-US" sz="3500" b="1">
                <a:solidFill>
                  <a:srgbClr val="002060"/>
                </a:solidFill>
                <a:latin typeface="Calibri" panose="020F0502020204030204" pitchFamily="34" charset="0"/>
                <a:cs typeface="Calibri" panose="020F0502020204030204" pitchFamily="34" charset="0"/>
              </a:rPr>
              <a:t>Steps in Creating a Grouped Frequency Distribution </a:t>
            </a:r>
          </a:p>
        </p:txBody>
      </p:sp>
      <p:sp>
        <p:nvSpPr>
          <p:cNvPr id="3" name="TextBox 2"/>
          <p:cNvSpPr txBox="1">
            <a:spLocks noChangeArrowheads="1"/>
          </p:cNvSpPr>
          <p:nvPr/>
        </p:nvSpPr>
        <p:spPr bwMode="auto">
          <a:xfrm>
            <a:off x="1320641" y="1414003"/>
            <a:ext cx="7736732" cy="1015663"/>
          </a:xfrm>
          <a:prstGeom prst="rect">
            <a:avLst/>
          </a:prstGeom>
          <a:noFill/>
          <a:ln w="9525">
            <a:noFill/>
            <a:miter lim="800000"/>
            <a:headEnd/>
            <a:tailEnd/>
          </a:ln>
        </p:spPr>
        <p:txBody>
          <a:bodyPr wrap="square">
            <a:spAutoFit/>
          </a:bodyPr>
          <a:lstStyle/>
          <a:p>
            <a:r>
              <a:rPr lang="en-US" sz="3000" b="1">
                <a:solidFill>
                  <a:srgbClr val="FF0000"/>
                </a:solidFill>
                <a:latin typeface="Calibri" pitchFamily="34" charset="0"/>
              </a:rPr>
              <a:t>Step 5: </a:t>
            </a:r>
            <a:r>
              <a:rPr lang="en-US" sz="3000">
                <a:solidFill>
                  <a:schemeClr val="accent6">
                    <a:lumMod val="90000"/>
                    <a:lumOff val="10000"/>
                  </a:schemeClr>
                </a:solidFill>
                <a:latin typeface="Calibri" pitchFamily="34" charset="0"/>
              </a:rPr>
              <a:t>To find each upper limit, subtract one from the next lower limit.</a:t>
            </a:r>
          </a:p>
        </p:txBody>
      </p:sp>
      <p:sp>
        <p:nvSpPr>
          <p:cNvPr id="4" name="TextBox 3"/>
          <p:cNvSpPr txBox="1"/>
          <p:nvPr/>
        </p:nvSpPr>
        <p:spPr>
          <a:xfrm>
            <a:off x="8703220" y="747579"/>
            <a:ext cx="2395207" cy="584775"/>
          </a:xfrm>
          <a:prstGeom prst="rect">
            <a:avLst/>
          </a:prstGeom>
          <a:noFill/>
        </p:spPr>
        <p:txBody>
          <a:bodyPr wrap="none" rtlCol="0">
            <a:spAutoFit/>
          </a:bodyPr>
          <a:lstStyle/>
          <a:p>
            <a:r>
              <a:rPr lang="en-US" sz="3200" u="sng">
                <a:solidFill>
                  <a:schemeClr val="accent6">
                    <a:lumMod val="90000"/>
                    <a:lumOff val="10000"/>
                  </a:schemeClr>
                </a:solidFill>
              </a:rPr>
              <a:t>Class Limits</a:t>
            </a:r>
          </a:p>
        </p:txBody>
      </p:sp>
      <p:sp>
        <p:nvSpPr>
          <p:cNvPr id="5" name="TextBox 4"/>
          <p:cNvSpPr txBox="1"/>
          <p:nvPr/>
        </p:nvSpPr>
        <p:spPr>
          <a:xfrm>
            <a:off x="9001773" y="1307310"/>
            <a:ext cx="412292" cy="584775"/>
          </a:xfrm>
          <a:prstGeom prst="rect">
            <a:avLst/>
          </a:prstGeom>
          <a:noFill/>
        </p:spPr>
        <p:txBody>
          <a:bodyPr wrap="none" rtlCol="0">
            <a:spAutoFit/>
          </a:bodyPr>
          <a:lstStyle/>
          <a:p>
            <a:r>
              <a:rPr lang="en-US" sz="3200">
                <a:solidFill>
                  <a:schemeClr val="accent6">
                    <a:lumMod val="90000"/>
                    <a:lumOff val="10000"/>
                  </a:schemeClr>
                </a:solidFill>
              </a:rPr>
              <a:t>2</a:t>
            </a:r>
          </a:p>
        </p:txBody>
      </p:sp>
      <p:sp>
        <p:nvSpPr>
          <p:cNvPr id="6" name="TextBox 5"/>
          <p:cNvSpPr txBox="1"/>
          <p:nvPr/>
        </p:nvSpPr>
        <p:spPr>
          <a:xfrm>
            <a:off x="8903188" y="1909501"/>
            <a:ext cx="609462" cy="584775"/>
          </a:xfrm>
          <a:prstGeom prst="rect">
            <a:avLst/>
          </a:prstGeom>
          <a:noFill/>
        </p:spPr>
        <p:txBody>
          <a:bodyPr wrap="none" rtlCol="0">
            <a:spAutoFit/>
          </a:bodyPr>
          <a:lstStyle/>
          <a:p>
            <a:r>
              <a:rPr lang="en-US" sz="3200">
                <a:solidFill>
                  <a:schemeClr val="accent6">
                    <a:lumMod val="90000"/>
                    <a:lumOff val="10000"/>
                  </a:schemeClr>
                </a:solidFill>
              </a:rPr>
              <a:t>11</a:t>
            </a:r>
          </a:p>
        </p:txBody>
      </p:sp>
      <p:sp>
        <p:nvSpPr>
          <p:cNvPr id="7" name="TextBox 6"/>
          <p:cNvSpPr txBox="1"/>
          <p:nvPr/>
        </p:nvSpPr>
        <p:spPr>
          <a:xfrm>
            <a:off x="8903188" y="2511692"/>
            <a:ext cx="639919" cy="584775"/>
          </a:xfrm>
          <a:prstGeom prst="rect">
            <a:avLst/>
          </a:prstGeom>
          <a:noFill/>
        </p:spPr>
        <p:txBody>
          <a:bodyPr wrap="none" rtlCol="0">
            <a:spAutoFit/>
          </a:bodyPr>
          <a:lstStyle/>
          <a:p>
            <a:r>
              <a:rPr lang="en-US" sz="3200">
                <a:solidFill>
                  <a:schemeClr val="accent6">
                    <a:lumMod val="90000"/>
                    <a:lumOff val="10000"/>
                  </a:schemeClr>
                </a:solidFill>
              </a:rPr>
              <a:t>20</a:t>
            </a:r>
          </a:p>
        </p:txBody>
      </p:sp>
      <p:sp>
        <p:nvSpPr>
          <p:cNvPr id="8" name="TextBox 7"/>
          <p:cNvSpPr txBox="1"/>
          <p:nvPr/>
        </p:nvSpPr>
        <p:spPr>
          <a:xfrm>
            <a:off x="8903188" y="3163773"/>
            <a:ext cx="639919" cy="584775"/>
          </a:xfrm>
          <a:prstGeom prst="rect">
            <a:avLst/>
          </a:prstGeom>
          <a:noFill/>
        </p:spPr>
        <p:txBody>
          <a:bodyPr wrap="none" rtlCol="0">
            <a:spAutoFit/>
          </a:bodyPr>
          <a:lstStyle/>
          <a:p>
            <a:r>
              <a:rPr lang="en-US" sz="3200">
                <a:solidFill>
                  <a:schemeClr val="accent6">
                    <a:lumMod val="90000"/>
                    <a:lumOff val="10000"/>
                  </a:schemeClr>
                </a:solidFill>
              </a:rPr>
              <a:t>29</a:t>
            </a:r>
          </a:p>
        </p:txBody>
      </p:sp>
      <p:sp>
        <p:nvSpPr>
          <p:cNvPr id="9" name="TextBox 8"/>
          <p:cNvSpPr txBox="1"/>
          <p:nvPr/>
        </p:nvSpPr>
        <p:spPr>
          <a:xfrm>
            <a:off x="9691610" y="1286389"/>
            <a:ext cx="1117614" cy="584775"/>
          </a:xfrm>
          <a:prstGeom prst="rect">
            <a:avLst/>
          </a:prstGeom>
          <a:noFill/>
        </p:spPr>
        <p:txBody>
          <a:bodyPr wrap="none" rtlCol="0">
            <a:spAutoFit/>
          </a:bodyPr>
          <a:lstStyle/>
          <a:p>
            <a:r>
              <a:rPr lang="en-US" sz="3200">
                <a:solidFill>
                  <a:schemeClr val="accent6">
                    <a:lumMod val="90000"/>
                    <a:lumOff val="10000"/>
                  </a:schemeClr>
                </a:solidFill>
              </a:rPr>
              <a:t>-   10</a:t>
            </a:r>
          </a:p>
        </p:txBody>
      </p:sp>
      <p:sp>
        <p:nvSpPr>
          <p:cNvPr id="10" name="TextBox 9"/>
          <p:cNvSpPr txBox="1"/>
          <p:nvPr/>
        </p:nvSpPr>
        <p:spPr>
          <a:xfrm>
            <a:off x="9691610" y="1926933"/>
            <a:ext cx="1117614" cy="584775"/>
          </a:xfrm>
          <a:prstGeom prst="rect">
            <a:avLst/>
          </a:prstGeom>
          <a:noFill/>
        </p:spPr>
        <p:txBody>
          <a:bodyPr wrap="none" rtlCol="0">
            <a:spAutoFit/>
          </a:bodyPr>
          <a:lstStyle/>
          <a:p>
            <a:r>
              <a:rPr lang="en-US" sz="3200">
                <a:solidFill>
                  <a:schemeClr val="accent6">
                    <a:lumMod val="90000"/>
                    <a:lumOff val="10000"/>
                  </a:schemeClr>
                </a:solidFill>
              </a:rPr>
              <a:t>-   19</a:t>
            </a:r>
          </a:p>
        </p:txBody>
      </p:sp>
      <p:sp>
        <p:nvSpPr>
          <p:cNvPr id="11" name="TextBox 10"/>
          <p:cNvSpPr txBox="1"/>
          <p:nvPr/>
        </p:nvSpPr>
        <p:spPr>
          <a:xfrm>
            <a:off x="9691610" y="2536823"/>
            <a:ext cx="1117614" cy="584775"/>
          </a:xfrm>
          <a:prstGeom prst="rect">
            <a:avLst/>
          </a:prstGeom>
          <a:noFill/>
        </p:spPr>
        <p:txBody>
          <a:bodyPr wrap="none" rtlCol="0">
            <a:spAutoFit/>
          </a:bodyPr>
          <a:lstStyle/>
          <a:p>
            <a:r>
              <a:rPr lang="en-US" sz="3200">
                <a:solidFill>
                  <a:schemeClr val="accent6">
                    <a:lumMod val="90000"/>
                    <a:lumOff val="10000"/>
                  </a:schemeClr>
                </a:solidFill>
              </a:rPr>
              <a:t>-   28</a:t>
            </a:r>
          </a:p>
        </p:txBody>
      </p:sp>
      <p:sp>
        <p:nvSpPr>
          <p:cNvPr id="12" name="Left Arrow 11"/>
          <p:cNvSpPr/>
          <p:nvPr/>
        </p:nvSpPr>
        <p:spPr>
          <a:xfrm>
            <a:off x="10929997" y="2559399"/>
            <a:ext cx="907618" cy="539622"/>
          </a:xfrm>
          <a:prstGeom prst="leftArrow">
            <a:avLst/>
          </a:prstGeom>
          <a:solidFill>
            <a:schemeClr val="accent3">
              <a:lumMod val="40000"/>
              <a:lumOff val="6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rgbClr val="00249C"/>
                </a:solidFill>
              </a:rPr>
              <a:t>29 - 1</a:t>
            </a:r>
          </a:p>
        </p:txBody>
      </p:sp>
      <p:sp>
        <p:nvSpPr>
          <p:cNvPr id="13" name="Left Arrow 12"/>
          <p:cNvSpPr/>
          <p:nvPr/>
        </p:nvSpPr>
        <p:spPr>
          <a:xfrm>
            <a:off x="10929997" y="1949509"/>
            <a:ext cx="907618" cy="539622"/>
          </a:xfrm>
          <a:prstGeom prst="leftArrow">
            <a:avLst/>
          </a:prstGeom>
          <a:solidFill>
            <a:schemeClr val="accent3">
              <a:lumMod val="40000"/>
              <a:lumOff val="6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rgbClr val="00249C"/>
                </a:solidFill>
              </a:rPr>
              <a:t>20 - 1</a:t>
            </a:r>
          </a:p>
        </p:txBody>
      </p:sp>
      <p:sp>
        <p:nvSpPr>
          <p:cNvPr id="14" name="Left Arrow 13"/>
          <p:cNvSpPr/>
          <p:nvPr/>
        </p:nvSpPr>
        <p:spPr>
          <a:xfrm>
            <a:off x="10936105" y="1321742"/>
            <a:ext cx="907618" cy="539622"/>
          </a:xfrm>
          <a:prstGeom prst="leftArrow">
            <a:avLst/>
          </a:prstGeom>
          <a:solidFill>
            <a:schemeClr val="accent3">
              <a:lumMod val="40000"/>
              <a:lumOff val="6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rgbClr val="00249C"/>
                </a:solidFill>
              </a:rPr>
              <a:t>11 - 1</a:t>
            </a:r>
          </a:p>
        </p:txBody>
      </p:sp>
      <p:sp>
        <p:nvSpPr>
          <p:cNvPr id="15" name="TextBox 14"/>
          <p:cNvSpPr txBox="1">
            <a:spLocks noChangeArrowheads="1"/>
          </p:cNvSpPr>
          <p:nvPr/>
        </p:nvSpPr>
        <p:spPr bwMode="auto">
          <a:xfrm>
            <a:off x="1320641" y="4459268"/>
            <a:ext cx="7164598" cy="1015663"/>
          </a:xfrm>
          <a:prstGeom prst="rect">
            <a:avLst/>
          </a:prstGeom>
          <a:noFill/>
          <a:ln w="9525">
            <a:noFill/>
            <a:miter lim="800000"/>
            <a:headEnd/>
            <a:tailEnd/>
          </a:ln>
        </p:spPr>
        <p:txBody>
          <a:bodyPr wrap="square">
            <a:spAutoFit/>
          </a:bodyPr>
          <a:lstStyle/>
          <a:p>
            <a:r>
              <a:rPr lang="en-US" sz="3000" b="1">
                <a:solidFill>
                  <a:srgbClr val="FF0000"/>
                </a:solidFill>
                <a:latin typeface="Calibri" pitchFamily="34" charset="0"/>
              </a:rPr>
              <a:t>Step 6: </a:t>
            </a:r>
            <a:r>
              <a:rPr lang="en-US" sz="3000">
                <a:solidFill>
                  <a:schemeClr val="accent6"/>
                </a:solidFill>
                <a:latin typeface="Calibri" pitchFamily="34" charset="0"/>
              </a:rPr>
              <a:t>To find the last upper limit, add class width to the 2</a:t>
            </a:r>
            <a:r>
              <a:rPr lang="en-US" sz="3000" baseline="30000">
                <a:solidFill>
                  <a:schemeClr val="accent6"/>
                </a:solidFill>
                <a:latin typeface="Calibri" pitchFamily="34" charset="0"/>
              </a:rPr>
              <a:t>nd</a:t>
            </a:r>
            <a:r>
              <a:rPr lang="en-US" sz="3000">
                <a:solidFill>
                  <a:schemeClr val="accent6"/>
                </a:solidFill>
                <a:latin typeface="Calibri" pitchFamily="34" charset="0"/>
              </a:rPr>
              <a:t> to last upper limit.</a:t>
            </a:r>
          </a:p>
        </p:txBody>
      </p:sp>
      <p:sp>
        <p:nvSpPr>
          <p:cNvPr id="16" name="TextBox 15"/>
          <p:cNvSpPr txBox="1"/>
          <p:nvPr/>
        </p:nvSpPr>
        <p:spPr>
          <a:xfrm>
            <a:off x="8701507" y="3944835"/>
            <a:ext cx="2395207" cy="584775"/>
          </a:xfrm>
          <a:prstGeom prst="rect">
            <a:avLst/>
          </a:prstGeom>
          <a:noFill/>
        </p:spPr>
        <p:txBody>
          <a:bodyPr wrap="none" rtlCol="0">
            <a:spAutoFit/>
          </a:bodyPr>
          <a:lstStyle/>
          <a:p>
            <a:r>
              <a:rPr lang="en-US" sz="3200" u="sng">
                <a:solidFill>
                  <a:schemeClr val="accent6"/>
                </a:solidFill>
              </a:rPr>
              <a:t>Class Limits</a:t>
            </a:r>
          </a:p>
        </p:txBody>
      </p:sp>
      <p:sp>
        <p:nvSpPr>
          <p:cNvPr id="17" name="TextBox 16"/>
          <p:cNvSpPr txBox="1"/>
          <p:nvPr/>
        </p:nvSpPr>
        <p:spPr>
          <a:xfrm>
            <a:off x="9001772" y="4443158"/>
            <a:ext cx="412292" cy="584775"/>
          </a:xfrm>
          <a:prstGeom prst="rect">
            <a:avLst/>
          </a:prstGeom>
          <a:noFill/>
        </p:spPr>
        <p:txBody>
          <a:bodyPr wrap="none" rtlCol="0">
            <a:spAutoFit/>
          </a:bodyPr>
          <a:lstStyle/>
          <a:p>
            <a:r>
              <a:rPr lang="en-US" sz="3200">
                <a:solidFill>
                  <a:schemeClr val="accent6"/>
                </a:solidFill>
              </a:rPr>
              <a:t>2</a:t>
            </a:r>
          </a:p>
        </p:txBody>
      </p:sp>
      <p:sp>
        <p:nvSpPr>
          <p:cNvPr id="18" name="TextBox 17"/>
          <p:cNvSpPr txBox="1"/>
          <p:nvPr/>
        </p:nvSpPr>
        <p:spPr>
          <a:xfrm>
            <a:off x="8903187" y="4967100"/>
            <a:ext cx="609462" cy="584775"/>
          </a:xfrm>
          <a:prstGeom prst="rect">
            <a:avLst/>
          </a:prstGeom>
          <a:noFill/>
        </p:spPr>
        <p:txBody>
          <a:bodyPr wrap="none" rtlCol="0">
            <a:spAutoFit/>
          </a:bodyPr>
          <a:lstStyle/>
          <a:p>
            <a:r>
              <a:rPr lang="en-US" sz="3200">
                <a:solidFill>
                  <a:schemeClr val="accent6"/>
                </a:solidFill>
              </a:rPr>
              <a:t>11</a:t>
            </a:r>
          </a:p>
        </p:txBody>
      </p:sp>
      <p:sp>
        <p:nvSpPr>
          <p:cNvPr id="19" name="TextBox 18"/>
          <p:cNvSpPr txBox="1"/>
          <p:nvPr/>
        </p:nvSpPr>
        <p:spPr>
          <a:xfrm>
            <a:off x="8903187" y="5541259"/>
            <a:ext cx="639919" cy="584775"/>
          </a:xfrm>
          <a:prstGeom prst="rect">
            <a:avLst/>
          </a:prstGeom>
          <a:noFill/>
        </p:spPr>
        <p:txBody>
          <a:bodyPr wrap="none" rtlCol="0">
            <a:spAutoFit/>
          </a:bodyPr>
          <a:lstStyle/>
          <a:p>
            <a:r>
              <a:rPr lang="en-US" sz="3200">
                <a:solidFill>
                  <a:schemeClr val="accent6"/>
                </a:solidFill>
              </a:rPr>
              <a:t>20</a:t>
            </a:r>
          </a:p>
        </p:txBody>
      </p:sp>
      <p:sp>
        <p:nvSpPr>
          <p:cNvPr id="20" name="TextBox 19"/>
          <p:cNvSpPr txBox="1"/>
          <p:nvPr/>
        </p:nvSpPr>
        <p:spPr>
          <a:xfrm>
            <a:off x="8903187" y="6126051"/>
            <a:ext cx="639919" cy="584775"/>
          </a:xfrm>
          <a:prstGeom prst="rect">
            <a:avLst/>
          </a:prstGeom>
          <a:noFill/>
        </p:spPr>
        <p:txBody>
          <a:bodyPr wrap="none" rtlCol="0">
            <a:spAutoFit/>
          </a:bodyPr>
          <a:lstStyle/>
          <a:p>
            <a:r>
              <a:rPr lang="en-US" sz="3200">
                <a:solidFill>
                  <a:schemeClr val="accent6"/>
                </a:solidFill>
              </a:rPr>
              <a:t>29</a:t>
            </a:r>
          </a:p>
        </p:txBody>
      </p:sp>
      <p:sp>
        <p:nvSpPr>
          <p:cNvPr id="21" name="TextBox 20"/>
          <p:cNvSpPr txBox="1"/>
          <p:nvPr/>
        </p:nvSpPr>
        <p:spPr>
          <a:xfrm>
            <a:off x="9691610" y="4435479"/>
            <a:ext cx="1117614" cy="584775"/>
          </a:xfrm>
          <a:prstGeom prst="rect">
            <a:avLst/>
          </a:prstGeom>
          <a:noFill/>
        </p:spPr>
        <p:txBody>
          <a:bodyPr wrap="none" rtlCol="0">
            <a:spAutoFit/>
          </a:bodyPr>
          <a:lstStyle/>
          <a:p>
            <a:r>
              <a:rPr lang="en-US" sz="3200">
                <a:solidFill>
                  <a:schemeClr val="accent6"/>
                </a:solidFill>
              </a:rPr>
              <a:t>-   10</a:t>
            </a:r>
          </a:p>
        </p:txBody>
      </p:sp>
      <p:sp>
        <p:nvSpPr>
          <p:cNvPr id="22" name="TextBox 21"/>
          <p:cNvSpPr txBox="1"/>
          <p:nvPr/>
        </p:nvSpPr>
        <p:spPr>
          <a:xfrm>
            <a:off x="9691610" y="5027933"/>
            <a:ext cx="1117614" cy="584775"/>
          </a:xfrm>
          <a:prstGeom prst="rect">
            <a:avLst/>
          </a:prstGeom>
          <a:noFill/>
        </p:spPr>
        <p:txBody>
          <a:bodyPr wrap="none" rtlCol="0">
            <a:spAutoFit/>
          </a:bodyPr>
          <a:lstStyle/>
          <a:p>
            <a:r>
              <a:rPr lang="en-US" sz="3200">
                <a:solidFill>
                  <a:schemeClr val="accent6"/>
                </a:solidFill>
              </a:rPr>
              <a:t>-   19</a:t>
            </a:r>
          </a:p>
        </p:txBody>
      </p:sp>
      <p:sp>
        <p:nvSpPr>
          <p:cNvPr id="23" name="TextBox 22"/>
          <p:cNvSpPr txBox="1"/>
          <p:nvPr/>
        </p:nvSpPr>
        <p:spPr>
          <a:xfrm>
            <a:off x="9691610" y="5551875"/>
            <a:ext cx="1117614" cy="584775"/>
          </a:xfrm>
          <a:prstGeom prst="rect">
            <a:avLst/>
          </a:prstGeom>
          <a:noFill/>
        </p:spPr>
        <p:txBody>
          <a:bodyPr wrap="none" rtlCol="0">
            <a:spAutoFit/>
          </a:bodyPr>
          <a:lstStyle/>
          <a:p>
            <a:r>
              <a:rPr lang="en-US" sz="3200">
                <a:solidFill>
                  <a:schemeClr val="accent6"/>
                </a:solidFill>
              </a:rPr>
              <a:t>-   28</a:t>
            </a:r>
          </a:p>
        </p:txBody>
      </p:sp>
      <p:sp>
        <p:nvSpPr>
          <p:cNvPr id="24" name="TextBox 23"/>
          <p:cNvSpPr txBox="1"/>
          <p:nvPr/>
        </p:nvSpPr>
        <p:spPr>
          <a:xfrm>
            <a:off x="9691610" y="6136650"/>
            <a:ext cx="1117614" cy="584775"/>
          </a:xfrm>
          <a:prstGeom prst="rect">
            <a:avLst/>
          </a:prstGeom>
          <a:noFill/>
        </p:spPr>
        <p:txBody>
          <a:bodyPr wrap="none" rtlCol="0">
            <a:spAutoFit/>
          </a:bodyPr>
          <a:lstStyle/>
          <a:p>
            <a:r>
              <a:rPr lang="en-US" sz="3200">
                <a:solidFill>
                  <a:schemeClr val="accent6"/>
                </a:solidFill>
              </a:rPr>
              <a:t>-   37</a:t>
            </a:r>
          </a:p>
        </p:txBody>
      </p:sp>
      <p:sp>
        <p:nvSpPr>
          <p:cNvPr id="25" name="Curved Left Arrow 24"/>
          <p:cNvSpPr/>
          <p:nvPr/>
        </p:nvSpPr>
        <p:spPr>
          <a:xfrm>
            <a:off x="10965744" y="5833646"/>
            <a:ext cx="281516" cy="504330"/>
          </a:xfrm>
          <a:prstGeom prst="curvedLeftArrow">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Heptagon 25"/>
          <p:cNvSpPr/>
          <p:nvPr/>
        </p:nvSpPr>
        <p:spPr>
          <a:xfrm>
            <a:off x="11403780" y="5833646"/>
            <a:ext cx="578793" cy="434932"/>
          </a:xfrm>
          <a:prstGeom prst="heptagon">
            <a:avLst/>
          </a:prstGeom>
          <a:solidFill>
            <a:schemeClr val="accent6">
              <a:lumMod val="10000"/>
              <a:lumOff val="90000"/>
            </a:schemeClr>
          </a:solid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accent6"/>
                </a:solidFill>
              </a:rPr>
              <a:t>+9</a:t>
            </a:r>
          </a:p>
        </p:txBody>
      </p:sp>
    </p:spTree>
    <p:extLst>
      <p:ext uri="{BB962C8B-B14F-4D97-AF65-F5344CB8AC3E}">
        <p14:creationId xmlns:p14="http://schemas.microsoft.com/office/powerpoint/2010/main" val="531632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barn(inVertical)">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arn(inVertical)">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barn(inVertical)">
                                      <p:cBhvr>
                                        <p:cTn id="41" dur="500"/>
                                        <p:tgtEl>
                                          <p:spTgt spid="12"/>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22"/>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23"/>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1000"/>
                                        <p:tgtEl>
                                          <p:spTgt spid="25"/>
                                        </p:tgtEl>
                                      </p:cBhvr>
                                    </p:animEffect>
                                    <p:anim calcmode="lin" valueType="num">
                                      <p:cBhvr>
                                        <p:cTn id="71" dur="1000" fill="hold"/>
                                        <p:tgtEl>
                                          <p:spTgt spid="25"/>
                                        </p:tgtEl>
                                        <p:attrNameLst>
                                          <p:attrName>ppt_x</p:attrName>
                                        </p:attrNameLst>
                                      </p:cBhvr>
                                      <p:tavLst>
                                        <p:tav tm="0">
                                          <p:val>
                                            <p:strVal val="#ppt_x"/>
                                          </p:val>
                                        </p:tav>
                                        <p:tav tm="100000">
                                          <p:val>
                                            <p:strVal val="#ppt_x"/>
                                          </p:val>
                                        </p:tav>
                                      </p:tavLst>
                                    </p:anim>
                                    <p:anim calcmode="lin" valueType="num">
                                      <p:cBhvr>
                                        <p:cTn id="72"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16" presetClass="entr" presetSubtype="21" fill="hold" grpId="0" nodeType="click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barn(inVertical)">
                                      <p:cBhvr>
                                        <p:cTn id="77" dur="500"/>
                                        <p:tgtEl>
                                          <p:spTgt spid="26"/>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animBg="1"/>
      <p:bldP spid="13" grpId="0" animBg="1"/>
      <p:bldP spid="14" grpId="0" animBg="1"/>
      <p:bldP spid="16" grpId="0"/>
      <p:bldP spid="17" grpId="0"/>
      <p:bldP spid="18" grpId="0"/>
      <p:bldP spid="19" grpId="0"/>
      <p:bldP spid="20" grpId="0"/>
      <p:bldP spid="21" grpId="0"/>
      <p:bldP spid="22" grpId="0"/>
      <p:bldP spid="23" grpId="0"/>
      <p:bldP spid="24" grpId="0"/>
      <p:bldP spid="25" grpId="0" animBg="1"/>
      <p:bldP spid="2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86162" y="230740"/>
            <a:ext cx="10422035" cy="630942"/>
          </a:xfrm>
          <a:prstGeom prst="rect">
            <a:avLst/>
          </a:prstGeom>
          <a:noFill/>
        </p:spPr>
        <p:txBody>
          <a:bodyPr wrap="square" rtlCol="0">
            <a:spAutoFit/>
          </a:bodyPr>
          <a:lstStyle/>
          <a:p>
            <a:r>
              <a:rPr lang="en-US" sz="3500" b="1">
                <a:solidFill>
                  <a:srgbClr val="002060"/>
                </a:solidFill>
                <a:latin typeface="Calibri" panose="020F0502020204030204" pitchFamily="34" charset="0"/>
                <a:cs typeface="Calibri" panose="020F0502020204030204" pitchFamily="34" charset="0"/>
              </a:rPr>
              <a:t>Steps in Creating a Grouped Frequency Distribution </a:t>
            </a:r>
          </a:p>
        </p:txBody>
      </p:sp>
      <p:sp>
        <p:nvSpPr>
          <p:cNvPr id="3" name="TextBox 2"/>
          <p:cNvSpPr txBox="1">
            <a:spLocks noChangeArrowheads="1"/>
          </p:cNvSpPr>
          <p:nvPr/>
        </p:nvSpPr>
        <p:spPr bwMode="auto">
          <a:xfrm>
            <a:off x="964220" y="1030133"/>
            <a:ext cx="10490619" cy="1015663"/>
          </a:xfrm>
          <a:prstGeom prst="rect">
            <a:avLst/>
          </a:prstGeom>
          <a:noFill/>
          <a:ln w="9525">
            <a:noFill/>
            <a:miter lim="800000"/>
            <a:headEnd/>
            <a:tailEnd/>
          </a:ln>
        </p:spPr>
        <p:txBody>
          <a:bodyPr wrap="square">
            <a:spAutoFit/>
          </a:bodyPr>
          <a:lstStyle/>
          <a:p>
            <a:r>
              <a:rPr lang="en-US" sz="3000" b="1">
                <a:solidFill>
                  <a:srgbClr val="FF0000"/>
                </a:solidFill>
                <a:latin typeface="+mj-lt"/>
              </a:rPr>
              <a:t>Step 7: </a:t>
            </a:r>
            <a:r>
              <a:rPr lang="en-US" sz="3000">
                <a:solidFill>
                  <a:schemeClr val="accent6"/>
                </a:solidFill>
                <a:latin typeface="+mj-lt"/>
              </a:rPr>
              <a:t>To make the class continuous we have to set </a:t>
            </a:r>
            <a:r>
              <a:rPr lang="en-US" sz="3000" b="1">
                <a:solidFill>
                  <a:schemeClr val="accent6"/>
                </a:solidFill>
                <a:latin typeface="+mj-lt"/>
              </a:rPr>
              <a:t>boundaries.</a:t>
            </a:r>
          </a:p>
        </p:txBody>
      </p:sp>
      <p:sp>
        <p:nvSpPr>
          <p:cNvPr id="4" name="TextBox 3"/>
          <p:cNvSpPr txBox="1"/>
          <p:nvPr/>
        </p:nvSpPr>
        <p:spPr>
          <a:xfrm>
            <a:off x="1474043" y="1819486"/>
            <a:ext cx="2395207" cy="584775"/>
          </a:xfrm>
          <a:prstGeom prst="rect">
            <a:avLst/>
          </a:prstGeom>
          <a:noFill/>
        </p:spPr>
        <p:txBody>
          <a:bodyPr wrap="none" rtlCol="0">
            <a:spAutoFit/>
          </a:bodyPr>
          <a:lstStyle/>
          <a:p>
            <a:r>
              <a:rPr lang="en-US" sz="3200" u="sng">
                <a:solidFill>
                  <a:schemeClr val="accent6"/>
                </a:solidFill>
              </a:rPr>
              <a:t>Class Limits</a:t>
            </a:r>
          </a:p>
        </p:txBody>
      </p:sp>
      <p:sp>
        <p:nvSpPr>
          <p:cNvPr id="5" name="TextBox 4"/>
          <p:cNvSpPr txBox="1"/>
          <p:nvPr/>
        </p:nvSpPr>
        <p:spPr>
          <a:xfrm>
            <a:off x="1611689" y="2627401"/>
            <a:ext cx="412292" cy="584775"/>
          </a:xfrm>
          <a:prstGeom prst="rect">
            <a:avLst/>
          </a:prstGeom>
          <a:noFill/>
        </p:spPr>
        <p:txBody>
          <a:bodyPr wrap="square" rtlCol="0">
            <a:spAutoFit/>
          </a:bodyPr>
          <a:lstStyle/>
          <a:p>
            <a:r>
              <a:rPr lang="en-US" sz="3200">
                <a:solidFill>
                  <a:schemeClr val="accent6"/>
                </a:solidFill>
              </a:rPr>
              <a:t>2</a:t>
            </a:r>
          </a:p>
        </p:txBody>
      </p:sp>
      <p:sp>
        <p:nvSpPr>
          <p:cNvPr id="6" name="TextBox 5"/>
          <p:cNvSpPr txBox="1"/>
          <p:nvPr/>
        </p:nvSpPr>
        <p:spPr>
          <a:xfrm>
            <a:off x="1513104" y="3283441"/>
            <a:ext cx="609462" cy="584775"/>
          </a:xfrm>
          <a:prstGeom prst="rect">
            <a:avLst/>
          </a:prstGeom>
          <a:noFill/>
        </p:spPr>
        <p:txBody>
          <a:bodyPr wrap="none" rtlCol="0">
            <a:spAutoFit/>
          </a:bodyPr>
          <a:lstStyle/>
          <a:p>
            <a:r>
              <a:rPr lang="en-US" sz="3200">
                <a:solidFill>
                  <a:schemeClr val="accent6"/>
                </a:solidFill>
              </a:rPr>
              <a:t>11</a:t>
            </a:r>
          </a:p>
        </p:txBody>
      </p:sp>
      <p:sp>
        <p:nvSpPr>
          <p:cNvPr id="7" name="TextBox 6"/>
          <p:cNvSpPr txBox="1"/>
          <p:nvPr/>
        </p:nvSpPr>
        <p:spPr>
          <a:xfrm>
            <a:off x="1497875" y="3940189"/>
            <a:ext cx="639919" cy="584775"/>
          </a:xfrm>
          <a:prstGeom prst="rect">
            <a:avLst/>
          </a:prstGeom>
          <a:noFill/>
        </p:spPr>
        <p:txBody>
          <a:bodyPr wrap="none" rtlCol="0">
            <a:spAutoFit/>
          </a:bodyPr>
          <a:lstStyle/>
          <a:p>
            <a:r>
              <a:rPr lang="en-US" sz="3200">
                <a:solidFill>
                  <a:schemeClr val="accent6"/>
                </a:solidFill>
              </a:rPr>
              <a:t>20</a:t>
            </a:r>
          </a:p>
        </p:txBody>
      </p:sp>
      <p:sp>
        <p:nvSpPr>
          <p:cNvPr id="8" name="TextBox 7"/>
          <p:cNvSpPr txBox="1"/>
          <p:nvPr/>
        </p:nvSpPr>
        <p:spPr>
          <a:xfrm>
            <a:off x="1526376" y="4585645"/>
            <a:ext cx="639919" cy="584775"/>
          </a:xfrm>
          <a:prstGeom prst="rect">
            <a:avLst/>
          </a:prstGeom>
          <a:noFill/>
        </p:spPr>
        <p:txBody>
          <a:bodyPr wrap="none" rtlCol="0">
            <a:spAutoFit/>
          </a:bodyPr>
          <a:lstStyle/>
          <a:p>
            <a:r>
              <a:rPr lang="en-US" sz="3200">
                <a:solidFill>
                  <a:schemeClr val="accent6"/>
                </a:solidFill>
              </a:rPr>
              <a:t>29</a:t>
            </a:r>
          </a:p>
        </p:txBody>
      </p:sp>
      <p:sp>
        <p:nvSpPr>
          <p:cNvPr id="9" name="TextBox 8"/>
          <p:cNvSpPr txBox="1"/>
          <p:nvPr/>
        </p:nvSpPr>
        <p:spPr>
          <a:xfrm>
            <a:off x="2241470" y="2629094"/>
            <a:ext cx="1117614" cy="584775"/>
          </a:xfrm>
          <a:prstGeom prst="rect">
            <a:avLst/>
          </a:prstGeom>
          <a:noFill/>
        </p:spPr>
        <p:txBody>
          <a:bodyPr wrap="none" rtlCol="0">
            <a:spAutoFit/>
          </a:bodyPr>
          <a:lstStyle/>
          <a:p>
            <a:r>
              <a:rPr lang="en-US" sz="3200">
                <a:solidFill>
                  <a:schemeClr val="accent6"/>
                </a:solidFill>
              </a:rPr>
              <a:t>-   10</a:t>
            </a:r>
          </a:p>
        </p:txBody>
      </p:sp>
      <p:sp>
        <p:nvSpPr>
          <p:cNvPr id="10" name="TextBox 9"/>
          <p:cNvSpPr txBox="1"/>
          <p:nvPr/>
        </p:nvSpPr>
        <p:spPr>
          <a:xfrm>
            <a:off x="2241470" y="3283440"/>
            <a:ext cx="1117614" cy="584775"/>
          </a:xfrm>
          <a:prstGeom prst="rect">
            <a:avLst/>
          </a:prstGeom>
          <a:noFill/>
        </p:spPr>
        <p:txBody>
          <a:bodyPr wrap="none" rtlCol="0">
            <a:spAutoFit/>
          </a:bodyPr>
          <a:lstStyle/>
          <a:p>
            <a:r>
              <a:rPr lang="en-US" sz="3200">
                <a:solidFill>
                  <a:schemeClr val="accent6"/>
                </a:solidFill>
              </a:rPr>
              <a:t>-   19</a:t>
            </a:r>
          </a:p>
        </p:txBody>
      </p:sp>
      <p:sp>
        <p:nvSpPr>
          <p:cNvPr id="11" name="TextBox 10"/>
          <p:cNvSpPr txBox="1"/>
          <p:nvPr/>
        </p:nvSpPr>
        <p:spPr>
          <a:xfrm>
            <a:off x="2241470" y="3937786"/>
            <a:ext cx="1117614" cy="584775"/>
          </a:xfrm>
          <a:prstGeom prst="rect">
            <a:avLst/>
          </a:prstGeom>
          <a:noFill/>
        </p:spPr>
        <p:txBody>
          <a:bodyPr wrap="none" rtlCol="0">
            <a:spAutoFit/>
          </a:bodyPr>
          <a:lstStyle/>
          <a:p>
            <a:r>
              <a:rPr lang="en-US" sz="3200">
                <a:solidFill>
                  <a:schemeClr val="accent6"/>
                </a:solidFill>
              </a:rPr>
              <a:t>-   28</a:t>
            </a:r>
          </a:p>
        </p:txBody>
      </p:sp>
      <p:sp>
        <p:nvSpPr>
          <p:cNvPr id="12" name="TextBox 11"/>
          <p:cNvSpPr txBox="1"/>
          <p:nvPr/>
        </p:nvSpPr>
        <p:spPr>
          <a:xfrm>
            <a:off x="2241470" y="4584919"/>
            <a:ext cx="1117614" cy="584775"/>
          </a:xfrm>
          <a:prstGeom prst="rect">
            <a:avLst/>
          </a:prstGeom>
          <a:noFill/>
        </p:spPr>
        <p:txBody>
          <a:bodyPr wrap="none" rtlCol="0">
            <a:spAutoFit/>
          </a:bodyPr>
          <a:lstStyle/>
          <a:p>
            <a:r>
              <a:rPr lang="en-US" sz="3200">
                <a:solidFill>
                  <a:schemeClr val="accent6"/>
                </a:solidFill>
              </a:rPr>
              <a:t>-   37</a:t>
            </a:r>
          </a:p>
        </p:txBody>
      </p:sp>
      <p:sp>
        <p:nvSpPr>
          <p:cNvPr id="13" name="Flowchart: Alternate Process 12"/>
          <p:cNvSpPr/>
          <p:nvPr/>
        </p:nvSpPr>
        <p:spPr>
          <a:xfrm>
            <a:off x="1998397" y="5436445"/>
            <a:ext cx="7461112" cy="850604"/>
          </a:xfrm>
          <a:prstGeom prst="flowChartAlternateProcess">
            <a:avLst/>
          </a:prstGeom>
          <a:solidFill>
            <a:srgbClr val="00B050"/>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bg2"/>
                </a:solidFill>
              </a:rPr>
              <a:t>Lower Class Boundary= Lower class limit – 0.5</a:t>
            </a:r>
          </a:p>
          <a:p>
            <a:pPr algn="ctr"/>
            <a:r>
              <a:rPr lang="en-US" sz="2400" b="1">
                <a:solidFill>
                  <a:schemeClr val="bg2"/>
                </a:solidFill>
              </a:rPr>
              <a:t>Upper Class Boundary= Upper class limit + 0.5</a:t>
            </a:r>
            <a:endParaRPr lang="en-US" sz="2400">
              <a:solidFill>
                <a:schemeClr val="bg2"/>
              </a:solidFill>
            </a:endParaRPr>
          </a:p>
        </p:txBody>
      </p:sp>
      <p:sp>
        <p:nvSpPr>
          <p:cNvPr id="14" name="TextBox 13"/>
          <p:cNvSpPr txBox="1"/>
          <p:nvPr/>
        </p:nvSpPr>
        <p:spPr>
          <a:xfrm>
            <a:off x="6020474" y="1819486"/>
            <a:ext cx="3397084" cy="584775"/>
          </a:xfrm>
          <a:prstGeom prst="rect">
            <a:avLst/>
          </a:prstGeom>
          <a:noFill/>
        </p:spPr>
        <p:txBody>
          <a:bodyPr wrap="none" rtlCol="0">
            <a:spAutoFit/>
          </a:bodyPr>
          <a:lstStyle/>
          <a:p>
            <a:r>
              <a:rPr lang="en-US" sz="3200" u="sng">
                <a:solidFill>
                  <a:schemeClr val="accent6"/>
                </a:solidFill>
              </a:rPr>
              <a:t>Class Boundaries</a:t>
            </a:r>
          </a:p>
        </p:txBody>
      </p:sp>
      <p:sp>
        <p:nvSpPr>
          <p:cNvPr id="15" name="TextBox 14"/>
          <p:cNvSpPr txBox="1"/>
          <p:nvPr/>
        </p:nvSpPr>
        <p:spPr>
          <a:xfrm>
            <a:off x="6542336" y="2556266"/>
            <a:ext cx="868110" cy="584775"/>
          </a:xfrm>
          <a:prstGeom prst="rect">
            <a:avLst/>
          </a:prstGeom>
          <a:noFill/>
        </p:spPr>
        <p:txBody>
          <a:bodyPr wrap="square" rtlCol="0">
            <a:spAutoFit/>
          </a:bodyPr>
          <a:lstStyle/>
          <a:p>
            <a:r>
              <a:rPr lang="en-US" sz="3200">
                <a:solidFill>
                  <a:schemeClr val="accent6"/>
                </a:solidFill>
              </a:rPr>
              <a:t>1.5</a:t>
            </a:r>
          </a:p>
        </p:txBody>
      </p:sp>
      <p:sp>
        <p:nvSpPr>
          <p:cNvPr id="16" name="TextBox 15"/>
          <p:cNvSpPr txBox="1"/>
          <p:nvPr/>
        </p:nvSpPr>
        <p:spPr>
          <a:xfrm>
            <a:off x="6443751" y="3197249"/>
            <a:ext cx="981359" cy="584775"/>
          </a:xfrm>
          <a:prstGeom prst="rect">
            <a:avLst/>
          </a:prstGeom>
          <a:noFill/>
        </p:spPr>
        <p:txBody>
          <a:bodyPr wrap="none" rtlCol="0">
            <a:spAutoFit/>
          </a:bodyPr>
          <a:lstStyle/>
          <a:p>
            <a:r>
              <a:rPr lang="en-US" sz="3200">
                <a:solidFill>
                  <a:schemeClr val="accent6"/>
                </a:solidFill>
              </a:rPr>
              <a:t>10.5</a:t>
            </a:r>
          </a:p>
        </p:txBody>
      </p:sp>
      <p:sp>
        <p:nvSpPr>
          <p:cNvPr id="17" name="TextBox 16"/>
          <p:cNvSpPr txBox="1"/>
          <p:nvPr/>
        </p:nvSpPr>
        <p:spPr>
          <a:xfrm>
            <a:off x="6428522" y="3860273"/>
            <a:ext cx="981359" cy="584775"/>
          </a:xfrm>
          <a:prstGeom prst="rect">
            <a:avLst/>
          </a:prstGeom>
          <a:noFill/>
        </p:spPr>
        <p:txBody>
          <a:bodyPr wrap="none" rtlCol="0">
            <a:spAutoFit/>
          </a:bodyPr>
          <a:lstStyle/>
          <a:p>
            <a:r>
              <a:rPr lang="en-US" sz="3200">
                <a:solidFill>
                  <a:schemeClr val="accent6"/>
                </a:solidFill>
              </a:rPr>
              <a:t>19.5</a:t>
            </a:r>
          </a:p>
        </p:txBody>
      </p:sp>
      <p:sp>
        <p:nvSpPr>
          <p:cNvPr id="18" name="TextBox 17"/>
          <p:cNvSpPr txBox="1"/>
          <p:nvPr/>
        </p:nvSpPr>
        <p:spPr>
          <a:xfrm>
            <a:off x="6407986" y="4574572"/>
            <a:ext cx="981359" cy="584775"/>
          </a:xfrm>
          <a:prstGeom prst="rect">
            <a:avLst/>
          </a:prstGeom>
          <a:noFill/>
        </p:spPr>
        <p:txBody>
          <a:bodyPr wrap="none" rtlCol="0">
            <a:spAutoFit/>
          </a:bodyPr>
          <a:lstStyle/>
          <a:p>
            <a:r>
              <a:rPr lang="en-US" sz="3200">
                <a:solidFill>
                  <a:schemeClr val="accent6"/>
                </a:solidFill>
              </a:rPr>
              <a:t>28.5</a:t>
            </a:r>
          </a:p>
        </p:txBody>
      </p:sp>
      <p:sp>
        <p:nvSpPr>
          <p:cNvPr id="19" name="Right Arrow 18"/>
          <p:cNvSpPr/>
          <p:nvPr/>
        </p:nvSpPr>
        <p:spPr>
          <a:xfrm>
            <a:off x="5128577" y="2582782"/>
            <a:ext cx="1200753" cy="550129"/>
          </a:xfrm>
          <a:prstGeom prst="rightArrow">
            <a:avLst/>
          </a:prstGeom>
          <a:solidFill>
            <a:schemeClr val="accent5">
              <a:lumMod val="20000"/>
              <a:lumOff val="80000"/>
            </a:schemeClr>
          </a:solid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accent6"/>
                </a:solidFill>
              </a:rPr>
              <a:t>2 - 0.5</a:t>
            </a:r>
          </a:p>
        </p:txBody>
      </p:sp>
      <p:sp>
        <p:nvSpPr>
          <p:cNvPr id="20" name="Right Arrow 19"/>
          <p:cNvSpPr/>
          <p:nvPr/>
        </p:nvSpPr>
        <p:spPr>
          <a:xfrm>
            <a:off x="5128577" y="3213869"/>
            <a:ext cx="1207007" cy="550129"/>
          </a:xfrm>
          <a:prstGeom prst="rightArrow">
            <a:avLst/>
          </a:prstGeom>
          <a:solidFill>
            <a:schemeClr val="accent5">
              <a:lumMod val="20000"/>
              <a:lumOff val="80000"/>
            </a:schemeClr>
          </a:solid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accent6"/>
                </a:solidFill>
              </a:rPr>
              <a:t>11 - 0.5</a:t>
            </a:r>
          </a:p>
        </p:txBody>
      </p:sp>
      <p:sp>
        <p:nvSpPr>
          <p:cNvPr id="21" name="Right Arrow 20"/>
          <p:cNvSpPr/>
          <p:nvPr/>
        </p:nvSpPr>
        <p:spPr>
          <a:xfrm>
            <a:off x="5128578" y="3844956"/>
            <a:ext cx="1200752" cy="550129"/>
          </a:xfrm>
          <a:prstGeom prst="rightArrow">
            <a:avLst/>
          </a:prstGeom>
          <a:solidFill>
            <a:schemeClr val="accent5">
              <a:lumMod val="20000"/>
              <a:lumOff val="80000"/>
            </a:schemeClr>
          </a:solid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accent6"/>
                </a:solidFill>
              </a:rPr>
              <a:t>20 - 0.5</a:t>
            </a:r>
          </a:p>
        </p:txBody>
      </p:sp>
      <p:sp>
        <p:nvSpPr>
          <p:cNvPr id="22" name="Right Arrow 21"/>
          <p:cNvSpPr/>
          <p:nvPr/>
        </p:nvSpPr>
        <p:spPr>
          <a:xfrm>
            <a:off x="5136541" y="4462597"/>
            <a:ext cx="1192787" cy="550129"/>
          </a:xfrm>
          <a:prstGeom prst="rightArrow">
            <a:avLst/>
          </a:prstGeom>
          <a:solidFill>
            <a:schemeClr val="accent5">
              <a:lumMod val="20000"/>
              <a:lumOff val="80000"/>
            </a:schemeClr>
          </a:solid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accent6"/>
                </a:solidFill>
              </a:rPr>
              <a:t>29 - 0.5</a:t>
            </a:r>
          </a:p>
        </p:txBody>
      </p:sp>
      <p:sp>
        <p:nvSpPr>
          <p:cNvPr id="23" name="TextBox 22"/>
          <p:cNvSpPr txBox="1"/>
          <p:nvPr/>
        </p:nvSpPr>
        <p:spPr>
          <a:xfrm>
            <a:off x="7544796" y="2556266"/>
            <a:ext cx="1894449" cy="584775"/>
          </a:xfrm>
          <a:prstGeom prst="rect">
            <a:avLst/>
          </a:prstGeom>
          <a:noFill/>
        </p:spPr>
        <p:txBody>
          <a:bodyPr wrap="square" rtlCol="0">
            <a:spAutoFit/>
          </a:bodyPr>
          <a:lstStyle/>
          <a:p>
            <a:r>
              <a:rPr lang="en-US" sz="3200">
                <a:solidFill>
                  <a:schemeClr val="accent6"/>
                </a:solidFill>
              </a:rPr>
              <a:t>-   10.5</a:t>
            </a:r>
          </a:p>
        </p:txBody>
      </p:sp>
      <p:sp>
        <p:nvSpPr>
          <p:cNvPr id="24" name="TextBox 23"/>
          <p:cNvSpPr txBox="1"/>
          <p:nvPr/>
        </p:nvSpPr>
        <p:spPr>
          <a:xfrm>
            <a:off x="7544796" y="3212176"/>
            <a:ext cx="1894449" cy="584775"/>
          </a:xfrm>
          <a:prstGeom prst="rect">
            <a:avLst/>
          </a:prstGeom>
          <a:noFill/>
        </p:spPr>
        <p:txBody>
          <a:bodyPr wrap="square" rtlCol="0">
            <a:spAutoFit/>
          </a:bodyPr>
          <a:lstStyle/>
          <a:p>
            <a:r>
              <a:rPr lang="en-US" sz="3200">
                <a:solidFill>
                  <a:schemeClr val="accent6"/>
                </a:solidFill>
              </a:rPr>
              <a:t>-   19.5</a:t>
            </a:r>
          </a:p>
        </p:txBody>
      </p:sp>
      <p:sp>
        <p:nvSpPr>
          <p:cNvPr id="25" name="TextBox 24"/>
          <p:cNvSpPr txBox="1"/>
          <p:nvPr/>
        </p:nvSpPr>
        <p:spPr>
          <a:xfrm>
            <a:off x="7544796" y="3838233"/>
            <a:ext cx="1894449" cy="584775"/>
          </a:xfrm>
          <a:prstGeom prst="rect">
            <a:avLst/>
          </a:prstGeom>
          <a:noFill/>
        </p:spPr>
        <p:txBody>
          <a:bodyPr wrap="square" rtlCol="0">
            <a:spAutoFit/>
          </a:bodyPr>
          <a:lstStyle/>
          <a:p>
            <a:r>
              <a:rPr lang="en-US" sz="3200">
                <a:solidFill>
                  <a:schemeClr val="accent6"/>
                </a:solidFill>
              </a:rPr>
              <a:t>-   28.5</a:t>
            </a:r>
          </a:p>
        </p:txBody>
      </p:sp>
      <p:sp>
        <p:nvSpPr>
          <p:cNvPr id="26" name="TextBox 25"/>
          <p:cNvSpPr txBox="1"/>
          <p:nvPr/>
        </p:nvSpPr>
        <p:spPr>
          <a:xfrm>
            <a:off x="7544796" y="4565258"/>
            <a:ext cx="1894449" cy="584775"/>
          </a:xfrm>
          <a:prstGeom prst="rect">
            <a:avLst/>
          </a:prstGeom>
          <a:noFill/>
        </p:spPr>
        <p:txBody>
          <a:bodyPr wrap="square" rtlCol="0">
            <a:spAutoFit/>
          </a:bodyPr>
          <a:lstStyle/>
          <a:p>
            <a:r>
              <a:rPr lang="en-US" sz="3200">
                <a:solidFill>
                  <a:schemeClr val="accent6"/>
                </a:solidFill>
              </a:rPr>
              <a:t>-   37.5</a:t>
            </a:r>
          </a:p>
        </p:txBody>
      </p:sp>
      <p:sp>
        <p:nvSpPr>
          <p:cNvPr id="27" name="Left Arrow 26"/>
          <p:cNvSpPr/>
          <p:nvPr/>
        </p:nvSpPr>
        <p:spPr>
          <a:xfrm>
            <a:off x="9226624" y="2556266"/>
            <a:ext cx="1201479" cy="576645"/>
          </a:xfrm>
          <a:prstGeom prst="leftArrow">
            <a:avLst/>
          </a:prstGeom>
          <a:solidFill>
            <a:schemeClr val="accent2">
              <a:lumMod val="20000"/>
              <a:lumOff val="80000"/>
            </a:schemeClr>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accent6"/>
                </a:solidFill>
              </a:rPr>
              <a:t>10 + 0.5</a:t>
            </a:r>
          </a:p>
        </p:txBody>
      </p:sp>
      <p:sp>
        <p:nvSpPr>
          <p:cNvPr id="28" name="Left Arrow 27"/>
          <p:cNvSpPr/>
          <p:nvPr/>
        </p:nvSpPr>
        <p:spPr>
          <a:xfrm>
            <a:off x="9226623" y="3197249"/>
            <a:ext cx="1201479" cy="562575"/>
          </a:xfrm>
          <a:prstGeom prst="leftArrow">
            <a:avLst/>
          </a:prstGeom>
          <a:solidFill>
            <a:schemeClr val="accent2">
              <a:lumMod val="20000"/>
              <a:lumOff val="80000"/>
            </a:schemeClr>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accent6"/>
                </a:solidFill>
              </a:rPr>
              <a:t>19 + 0.5</a:t>
            </a:r>
          </a:p>
        </p:txBody>
      </p:sp>
      <p:sp>
        <p:nvSpPr>
          <p:cNvPr id="29" name="Left Arrow 28"/>
          <p:cNvSpPr/>
          <p:nvPr/>
        </p:nvSpPr>
        <p:spPr>
          <a:xfrm>
            <a:off x="9226624" y="3848242"/>
            <a:ext cx="1201479" cy="550129"/>
          </a:xfrm>
          <a:prstGeom prst="leftArrow">
            <a:avLst/>
          </a:prstGeom>
          <a:solidFill>
            <a:schemeClr val="accent2">
              <a:lumMod val="20000"/>
              <a:lumOff val="80000"/>
            </a:schemeClr>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accent6"/>
                </a:solidFill>
              </a:rPr>
              <a:t>28 + 0.5</a:t>
            </a:r>
          </a:p>
        </p:txBody>
      </p:sp>
      <p:sp>
        <p:nvSpPr>
          <p:cNvPr id="30" name="Left Arrow 29"/>
          <p:cNvSpPr/>
          <p:nvPr/>
        </p:nvSpPr>
        <p:spPr>
          <a:xfrm>
            <a:off x="9226622" y="4522561"/>
            <a:ext cx="1201479" cy="550129"/>
          </a:xfrm>
          <a:prstGeom prst="leftArrow">
            <a:avLst/>
          </a:prstGeom>
          <a:solidFill>
            <a:schemeClr val="accent2">
              <a:lumMod val="20000"/>
              <a:lumOff val="80000"/>
            </a:schemeClr>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accent6"/>
                </a:solidFill>
              </a:rPr>
              <a:t>37 + 0.5</a:t>
            </a:r>
          </a:p>
        </p:txBody>
      </p:sp>
    </p:spTree>
    <p:extLst>
      <p:ext uri="{BB962C8B-B14F-4D97-AF65-F5344CB8AC3E}">
        <p14:creationId xmlns:p14="http://schemas.microsoft.com/office/powerpoint/2010/main" val="1258728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500"/>
                                        <p:tgtEl>
                                          <p:spTgt spid="1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wipe(left)">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wipe(left)">
                                      <p:cBhvr>
                                        <p:cTn id="29" dur="500"/>
                                        <p:tgtEl>
                                          <p:spTgt spid="2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left)">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wipe(left)">
                                      <p:cBhvr>
                                        <p:cTn id="39" dur="500"/>
                                        <p:tgtEl>
                                          <p:spTgt spid="2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wipe(left)">
                                      <p:cBhvr>
                                        <p:cTn id="44" dur="500"/>
                                        <p:tgtEl>
                                          <p:spTgt spid="18"/>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2" fill="hold" grpId="0" nodeType="click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wipe(right)">
                                      <p:cBhvr>
                                        <p:cTn id="49" dur="500"/>
                                        <p:tgtEl>
                                          <p:spTgt spid="27"/>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2" fill="hold" grpId="0" nodeType="click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wipe(right)">
                                      <p:cBhvr>
                                        <p:cTn id="54" dur="500"/>
                                        <p:tgtEl>
                                          <p:spTgt spid="23"/>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2" fill="hold" grpId="0" nodeType="click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wipe(right)">
                                      <p:cBhvr>
                                        <p:cTn id="59" dur="500"/>
                                        <p:tgtEl>
                                          <p:spTgt spid="28"/>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2" fill="hold" nodeType="clickEffect">
                                  <p:stCondLst>
                                    <p:cond delay="0"/>
                                  </p:stCondLst>
                                  <p:childTnLst>
                                    <p:set>
                                      <p:cBhvr>
                                        <p:cTn id="63" dur="1" fill="hold">
                                          <p:stCondLst>
                                            <p:cond delay="0"/>
                                          </p:stCondLst>
                                        </p:cTn>
                                        <p:tgtEl>
                                          <p:spTgt spid="24">
                                            <p:txEl>
                                              <p:pRg st="0" end="0"/>
                                            </p:txEl>
                                          </p:spTgt>
                                        </p:tgtEl>
                                        <p:attrNameLst>
                                          <p:attrName>style.visibility</p:attrName>
                                        </p:attrNameLst>
                                      </p:cBhvr>
                                      <p:to>
                                        <p:strVal val="visible"/>
                                      </p:to>
                                    </p:set>
                                    <p:animEffect transition="in" filter="wipe(right)">
                                      <p:cBhvr>
                                        <p:cTn id="64" dur="500"/>
                                        <p:tgtEl>
                                          <p:spTgt spid="24">
                                            <p:txEl>
                                              <p:pRg st="0" end="0"/>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2" fill="hold" grpId="0" nodeType="clickEffect">
                                  <p:stCondLst>
                                    <p:cond delay="0"/>
                                  </p:stCondLst>
                                  <p:childTnLst>
                                    <p:set>
                                      <p:cBhvr>
                                        <p:cTn id="68" dur="1" fill="hold">
                                          <p:stCondLst>
                                            <p:cond delay="0"/>
                                          </p:stCondLst>
                                        </p:cTn>
                                        <p:tgtEl>
                                          <p:spTgt spid="29"/>
                                        </p:tgtEl>
                                        <p:attrNameLst>
                                          <p:attrName>style.visibility</p:attrName>
                                        </p:attrNameLst>
                                      </p:cBhvr>
                                      <p:to>
                                        <p:strVal val="visible"/>
                                      </p:to>
                                    </p:set>
                                    <p:animEffect transition="in" filter="wipe(right)">
                                      <p:cBhvr>
                                        <p:cTn id="69" dur="500"/>
                                        <p:tgtEl>
                                          <p:spTgt spid="29"/>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2" fill="hold" nodeType="clickEffect">
                                  <p:stCondLst>
                                    <p:cond delay="0"/>
                                  </p:stCondLst>
                                  <p:childTnLst>
                                    <p:set>
                                      <p:cBhvr>
                                        <p:cTn id="73" dur="1" fill="hold">
                                          <p:stCondLst>
                                            <p:cond delay="0"/>
                                          </p:stCondLst>
                                        </p:cTn>
                                        <p:tgtEl>
                                          <p:spTgt spid="25">
                                            <p:txEl>
                                              <p:pRg st="0" end="0"/>
                                            </p:txEl>
                                          </p:spTgt>
                                        </p:tgtEl>
                                        <p:attrNameLst>
                                          <p:attrName>style.visibility</p:attrName>
                                        </p:attrNameLst>
                                      </p:cBhvr>
                                      <p:to>
                                        <p:strVal val="visible"/>
                                      </p:to>
                                    </p:set>
                                    <p:animEffect transition="in" filter="wipe(right)">
                                      <p:cBhvr>
                                        <p:cTn id="74" dur="500"/>
                                        <p:tgtEl>
                                          <p:spTgt spid="25">
                                            <p:txEl>
                                              <p:pRg st="0" end="0"/>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2" fill="hold" grpId="0" nodeType="click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wipe(right)">
                                      <p:cBhvr>
                                        <p:cTn id="79" dur="500"/>
                                        <p:tgtEl>
                                          <p:spTgt spid="30"/>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2" fill="hold" nodeType="clickEffect">
                                  <p:stCondLst>
                                    <p:cond delay="0"/>
                                  </p:stCondLst>
                                  <p:childTnLst>
                                    <p:set>
                                      <p:cBhvr>
                                        <p:cTn id="83" dur="1" fill="hold">
                                          <p:stCondLst>
                                            <p:cond delay="0"/>
                                          </p:stCondLst>
                                        </p:cTn>
                                        <p:tgtEl>
                                          <p:spTgt spid="26">
                                            <p:txEl>
                                              <p:pRg st="0" end="0"/>
                                            </p:txEl>
                                          </p:spTgt>
                                        </p:tgtEl>
                                        <p:attrNameLst>
                                          <p:attrName>style.visibility</p:attrName>
                                        </p:attrNameLst>
                                      </p:cBhvr>
                                      <p:to>
                                        <p:strVal val="visible"/>
                                      </p:to>
                                    </p:set>
                                    <p:animEffect transition="in" filter="wipe(right)">
                                      <p:cBhvr>
                                        <p:cTn id="84" dur="5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8" grpId="0"/>
      <p:bldP spid="19" grpId="0" animBg="1"/>
      <p:bldP spid="20" grpId="0" animBg="1"/>
      <p:bldP spid="21" grpId="0" animBg="1"/>
      <p:bldP spid="22" grpId="0" animBg="1"/>
      <p:bldP spid="23" grpId="0"/>
      <p:bldP spid="27" grpId="0" animBg="1"/>
      <p:bldP spid="28" grpId="0" animBg="1"/>
      <p:bldP spid="29" grpId="0" animBg="1"/>
      <p:bldP spid="3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753237" y="289825"/>
            <a:ext cx="8833215" cy="481315"/>
          </a:xfrm>
        </p:spPr>
        <p:txBody>
          <a:bodyPr vert="horz" lIns="92075" tIns="46038" rIns="92075" bIns="46038" rtlCol="0" anchor="b">
            <a:noAutofit/>
          </a:bodyPr>
          <a:lstStyle/>
          <a:p>
            <a:pPr eaLnBrk="1" fontAlgn="auto" hangingPunct="1">
              <a:spcAft>
                <a:spcPts val="0"/>
              </a:spcAft>
              <a:defRPr/>
            </a:pPr>
            <a:r>
              <a:rPr lang="en-US" sz="2800" b="1">
                <a:solidFill>
                  <a:srgbClr val="C00000"/>
                </a:solidFill>
                <a:latin typeface="+mj-lt"/>
                <a:cs typeface="Calibri" panose="020F0502020204030204" pitchFamily="34" charset="0"/>
              </a:rPr>
              <a:t>Example 1:</a:t>
            </a:r>
            <a:r>
              <a:rPr lang="en-US" sz="2800" b="1">
                <a:solidFill>
                  <a:srgbClr val="002060"/>
                </a:solidFill>
                <a:latin typeface="+mj-lt"/>
                <a:cs typeface="Calibri" panose="020F0502020204030204" pitchFamily="34" charset="0"/>
              </a:rPr>
              <a:t> Grouped Frequency Distribution</a:t>
            </a:r>
            <a:endParaRPr lang="en-US" sz="2800">
              <a:solidFill>
                <a:srgbClr val="0070C0"/>
              </a:solidFill>
              <a:latin typeface="+mj-lt"/>
            </a:endParaRPr>
          </a:p>
        </p:txBody>
      </p:sp>
      <p:sp>
        <p:nvSpPr>
          <p:cNvPr id="5" name="Rectangle 3"/>
          <p:cNvSpPr txBox="1">
            <a:spLocks noChangeArrowheads="1"/>
          </p:cNvSpPr>
          <p:nvPr/>
        </p:nvSpPr>
        <p:spPr>
          <a:xfrm>
            <a:off x="897526" y="1257432"/>
            <a:ext cx="5673577" cy="2267930"/>
          </a:xfrm>
          <a:prstGeom prst="rect">
            <a:avLst/>
          </a:prstGeom>
          <a:noFill/>
        </p:spPr>
        <p:txBody>
          <a:bodyPr vert="horz" wrap="square" lIns="92075" tIns="46038" rIns="92075" bIns="46038" numCol="1" rtlCol="0" anchor="ctr" anchorCtr="0" compatLnSpc="1">
            <a:prstTxWarp prst="textNoShape">
              <a:avLst/>
            </a:prstTxWarp>
            <a:spAutoFit/>
          </a:bodyPr>
          <a:lstStyle>
            <a:lvl1pPr marL="0" indent="0" algn="r" defTabSz="914400" rtl="0" eaLnBrk="1" latinLnBrk="0" hangingPunct="1">
              <a:lnSpc>
                <a:spcPct val="90000"/>
              </a:lnSpc>
              <a:spcBef>
                <a:spcPts val="1000"/>
              </a:spcBef>
              <a:buFont typeface="Arial" panose="020B0604020202020204" pitchFamily="34" charset="0"/>
              <a:buNone/>
              <a:defRPr sz="1200" b="0" i="0" kern="1200">
                <a:solidFill>
                  <a:schemeClr val="accent6"/>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buFont typeface="Monotype Sorts" pitchFamily="2" charset="2"/>
              <a:buNone/>
            </a:pPr>
            <a:r>
              <a:rPr lang="en-US" sz="2400">
                <a:latin typeface="+mj-lt"/>
              </a:rPr>
              <a:t>102	124	108	 86	103	 82</a:t>
            </a:r>
          </a:p>
          <a:p>
            <a:pPr algn="ctr">
              <a:buFont typeface="Monotype Sorts" pitchFamily="2" charset="2"/>
              <a:buNone/>
            </a:pPr>
            <a:r>
              <a:rPr lang="en-US" sz="2400">
                <a:latin typeface="+mj-lt"/>
              </a:rPr>
              <a:t> 71	104	112	118	 87	 95</a:t>
            </a:r>
          </a:p>
          <a:p>
            <a:pPr algn="ctr">
              <a:buFont typeface="Monotype Sorts" pitchFamily="2" charset="2"/>
              <a:buNone/>
            </a:pPr>
            <a:r>
              <a:rPr lang="en-US" sz="2400">
                <a:latin typeface="+mj-lt"/>
              </a:rPr>
              <a:t>103	116	85	122	 87     100</a:t>
            </a:r>
          </a:p>
          <a:p>
            <a:pPr algn="ctr">
              <a:buFont typeface="Monotype Sorts" pitchFamily="2" charset="2"/>
              <a:buNone/>
            </a:pPr>
            <a:r>
              <a:rPr lang="en-US" sz="2400">
                <a:latin typeface="+mj-lt"/>
              </a:rPr>
              <a:t>105	 97	107	 67	 78     125</a:t>
            </a:r>
          </a:p>
          <a:p>
            <a:pPr algn="ctr">
              <a:buFont typeface="Monotype Sorts" pitchFamily="2" charset="2"/>
              <a:buNone/>
            </a:pPr>
            <a:r>
              <a:rPr lang="en-US" sz="2400">
                <a:latin typeface="+mj-lt"/>
              </a:rPr>
              <a:t>109	 99	105	 99	101      92</a:t>
            </a:r>
          </a:p>
        </p:txBody>
      </p:sp>
      <p:sp>
        <p:nvSpPr>
          <p:cNvPr id="6" name="Text Box 8"/>
          <p:cNvSpPr txBox="1">
            <a:spLocks noChangeArrowheads="1"/>
          </p:cNvSpPr>
          <p:nvPr/>
        </p:nvSpPr>
        <p:spPr bwMode="auto">
          <a:xfrm>
            <a:off x="1324874" y="4039263"/>
            <a:ext cx="3591256" cy="830997"/>
          </a:xfrm>
          <a:prstGeom prst="rect">
            <a:avLst/>
          </a:prstGeom>
          <a:solidFill>
            <a:srgbClr val="58AD63"/>
          </a:solidFill>
          <a:ln>
            <a:noFill/>
          </a:ln>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2400" b="1">
                <a:solidFill>
                  <a:schemeClr val="bg2"/>
                </a:solidFill>
                <a:latin typeface="+mj-lt"/>
              </a:rPr>
              <a:t>Minimum value</a:t>
            </a:r>
            <a:r>
              <a:rPr lang="en-US" sz="2400">
                <a:solidFill>
                  <a:schemeClr val="bg2"/>
                </a:solidFill>
                <a:latin typeface="+mj-lt"/>
              </a:rPr>
              <a:t> =</a:t>
            </a:r>
          </a:p>
          <a:p>
            <a:pPr eaLnBrk="1" hangingPunct="1"/>
            <a:r>
              <a:rPr lang="en-US" sz="2400" b="1">
                <a:solidFill>
                  <a:schemeClr val="bg2"/>
                </a:solidFill>
                <a:latin typeface="+mj-lt"/>
              </a:rPr>
              <a:t>Maximum value</a:t>
            </a:r>
            <a:r>
              <a:rPr lang="en-US" sz="2400">
                <a:solidFill>
                  <a:schemeClr val="bg2"/>
                </a:solidFill>
                <a:latin typeface="+mj-lt"/>
              </a:rPr>
              <a:t> =        </a:t>
            </a:r>
          </a:p>
        </p:txBody>
      </p:sp>
      <p:sp>
        <p:nvSpPr>
          <p:cNvPr id="7" name="Text Box 10"/>
          <p:cNvSpPr txBox="1">
            <a:spLocks noChangeArrowheads="1"/>
          </p:cNvSpPr>
          <p:nvPr/>
        </p:nvSpPr>
        <p:spPr bwMode="auto">
          <a:xfrm>
            <a:off x="3841901" y="4000083"/>
            <a:ext cx="69762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2400" b="1">
                <a:solidFill>
                  <a:schemeClr val="bg2"/>
                </a:solidFill>
                <a:latin typeface="+mj-lt"/>
              </a:rPr>
              <a:t>  67</a:t>
            </a:r>
          </a:p>
        </p:txBody>
      </p:sp>
      <p:sp>
        <p:nvSpPr>
          <p:cNvPr id="8" name="Text Box 11"/>
          <p:cNvSpPr txBox="1">
            <a:spLocks noChangeArrowheads="1"/>
          </p:cNvSpPr>
          <p:nvPr/>
        </p:nvSpPr>
        <p:spPr bwMode="auto">
          <a:xfrm>
            <a:off x="3996965" y="4445775"/>
            <a:ext cx="6992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2400" b="1">
                <a:solidFill>
                  <a:schemeClr val="bg2"/>
                </a:solidFill>
                <a:latin typeface="+mj-lt"/>
              </a:rPr>
              <a:t>125</a:t>
            </a:r>
          </a:p>
        </p:txBody>
      </p:sp>
      <p:sp>
        <p:nvSpPr>
          <p:cNvPr id="9" name="Cloud 8"/>
          <p:cNvSpPr/>
          <p:nvPr/>
        </p:nvSpPr>
        <p:spPr>
          <a:xfrm>
            <a:off x="6983762" y="1257432"/>
            <a:ext cx="4795284" cy="3754987"/>
          </a:xfrm>
          <a:prstGeom prst="cloud">
            <a:avLst/>
          </a:prstGeom>
          <a:solidFill>
            <a:schemeClr val="accent6">
              <a:lumMod val="10000"/>
              <a:lumOff val="90000"/>
            </a:schemeClr>
          </a:solid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500">
                <a:solidFill>
                  <a:schemeClr val="accent6"/>
                </a:solidFill>
                <a:latin typeface="Calibri" pitchFamily="34" charset="0"/>
              </a:rPr>
              <a:t>The given data represents temperatures in 30 states. Construct a grouped frequency table for the data using </a:t>
            </a:r>
            <a:r>
              <a:rPr lang="en-US" sz="2500" b="1">
                <a:solidFill>
                  <a:schemeClr val="accent6"/>
                </a:solidFill>
                <a:latin typeface="Calibri" pitchFamily="34" charset="0"/>
              </a:rPr>
              <a:t>5 classes</a:t>
            </a:r>
            <a:r>
              <a:rPr lang="en-US" sz="2500">
                <a:solidFill>
                  <a:schemeClr val="accent6"/>
                </a:solidFill>
                <a:latin typeface="Calibri" pitchFamily="34" charset="0"/>
              </a:rPr>
              <a:t>.</a:t>
            </a:r>
          </a:p>
        </p:txBody>
      </p:sp>
      <p:sp>
        <p:nvSpPr>
          <p:cNvPr id="10" name="Rectangle 9"/>
          <p:cNvSpPr/>
          <p:nvPr/>
        </p:nvSpPr>
        <p:spPr>
          <a:xfrm>
            <a:off x="753237" y="6397165"/>
            <a:ext cx="11382965" cy="338554"/>
          </a:xfrm>
          <a:prstGeom prst="rect">
            <a:avLst/>
          </a:prstGeom>
        </p:spPr>
        <p:txBody>
          <a:bodyPr wrap="square">
            <a:spAutoFit/>
          </a:bodyPr>
          <a:lstStyle/>
          <a:p>
            <a:pPr>
              <a:spcBef>
                <a:spcPct val="0"/>
              </a:spcBef>
            </a:pPr>
            <a:r>
              <a:rPr lang="en-US" sz="1600" i="1">
                <a:solidFill>
                  <a:schemeClr val="accent6">
                    <a:lumMod val="75000"/>
                    <a:lumOff val="25000"/>
                  </a:schemeClr>
                </a:solidFill>
              </a:rPr>
              <a:t>Note: This data will be used for several examples. You might want to duplicate it for use with the slides that follow.</a:t>
            </a:r>
          </a:p>
        </p:txBody>
      </p:sp>
    </p:spTree>
    <p:extLst>
      <p:ext uri="{BB962C8B-B14F-4D97-AF65-F5344CB8AC3E}">
        <p14:creationId xmlns:p14="http://schemas.microsoft.com/office/powerpoint/2010/main" val="368292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arn(inVertical)">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additive="base">
                                        <p:cTn id="32" dur="500" fill="hold"/>
                                        <p:tgtEl>
                                          <p:spTgt spid="6"/>
                                        </p:tgtEl>
                                        <p:attrNameLst>
                                          <p:attrName>ppt_x</p:attrName>
                                        </p:attrNameLst>
                                      </p:cBhvr>
                                      <p:tavLst>
                                        <p:tav tm="0">
                                          <p:val>
                                            <p:strVal val="#ppt_x"/>
                                          </p:val>
                                        </p:tav>
                                        <p:tav tm="100000">
                                          <p:val>
                                            <p:strVal val="#ppt_x"/>
                                          </p:val>
                                        </p:tav>
                                      </p:tavLst>
                                    </p:anim>
                                    <p:anim calcmode="lin" valueType="num">
                                      <p:cBhvr additive="base">
                                        <p:cTn id="3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barn(inVertical)">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additive="base">
                                        <p:cTn id="43" dur="500" fill="hold"/>
                                        <p:tgtEl>
                                          <p:spTgt spid="8"/>
                                        </p:tgtEl>
                                        <p:attrNameLst>
                                          <p:attrName>ppt_x</p:attrName>
                                        </p:attrNameLst>
                                      </p:cBhvr>
                                      <p:tavLst>
                                        <p:tav tm="0">
                                          <p:val>
                                            <p:strVal val="#ppt_x"/>
                                          </p:val>
                                        </p:tav>
                                        <p:tav tm="100000">
                                          <p:val>
                                            <p:strVal val="#ppt_x"/>
                                          </p:val>
                                        </p:tav>
                                      </p:tavLst>
                                    </p:anim>
                                    <p:anim calcmode="lin" valueType="num">
                                      <p:cBhvr additive="base">
                                        <p:cTn id="4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animBg="1"/>
      <p:bldP spid="7" grpId="0"/>
      <p:bldP spid="8" grpId="0"/>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753237" y="289825"/>
            <a:ext cx="8833215" cy="481315"/>
          </a:xfrm>
        </p:spPr>
        <p:txBody>
          <a:bodyPr vert="horz" lIns="92075" tIns="46038" rIns="92075" bIns="46038" rtlCol="0" anchor="b">
            <a:noAutofit/>
          </a:bodyPr>
          <a:lstStyle/>
          <a:p>
            <a:pPr eaLnBrk="1" fontAlgn="auto" hangingPunct="1">
              <a:spcAft>
                <a:spcPts val="0"/>
              </a:spcAft>
              <a:defRPr/>
            </a:pPr>
            <a:r>
              <a:rPr lang="en-US" sz="2800" b="1">
                <a:solidFill>
                  <a:srgbClr val="C00000"/>
                </a:solidFill>
                <a:latin typeface="+mj-lt"/>
                <a:cs typeface="Calibri" panose="020F0502020204030204" pitchFamily="34" charset="0"/>
              </a:rPr>
              <a:t>Example 1:</a:t>
            </a:r>
            <a:r>
              <a:rPr lang="en-US" sz="2800" b="1">
                <a:solidFill>
                  <a:srgbClr val="002060"/>
                </a:solidFill>
                <a:latin typeface="+mj-lt"/>
                <a:cs typeface="Calibri" panose="020F0502020204030204" pitchFamily="34" charset="0"/>
              </a:rPr>
              <a:t> Grouped Frequency Distribution</a:t>
            </a:r>
            <a:endParaRPr lang="en-US" sz="2800">
              <a:solidFill>
                <a:srgbClr val="0070C0"/>
              </a:solidFill>
              <a:latin typeface="+mj-lt"/>
            </a:endParaRPr>
          </a:p>
        </p:txBody>
      </p:sp>
      <p:sp>
        <p:nvSpPr>
          <p:cNvPr id="3" name="Text Box 57"/>
          <p:cNvSpPr txBox="1">
            <a:spLocks noChangeArrowheads="1"/>
          </p:cNvSpPr>
          <p:nvPr/>
        </p:nvSpPr>
        <p:spPr bwMode="auto">
          <a:xfrm>
            <a:off x="862093" y="900294"/>
            <a:ext cx="4218765" cy="461665"/>
          </a:xfrm>
          <a:prstGeom prst="rect">
            <a:avLst/>
          </a:prstGeom>
          <a:solidFill>
            <a:srgbClr val="FFD961"/>
          </a:solidFill>
          <a:ln>
            <a:noFill/>
          </a:ln>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10000"/>
              </a:spcBef>
              <a:buClr>
                <a:schemeClr val="bg2"/>
              </a:buClr>
              <a:buFont typeface="Monotype Sorts" pitchFamily="2" charset="2"/>
              <a:buNone/>
            </a:pPr>
            <a:r>
              <a:rPr lang="en-US" sz="2400" b="1">
                <a:solidFill>
                  <a:schemeClr val="accent6"/>
                </a:solidFill>
                <a:latin typeface="Calibri" pitchFamily="34" charset="0"/>
              </a:rPr>
              <a:t>1. Choose the # of classes       </a:t>
            </a:r>
            <a:endParaRPr lang="en-US" sz="2400">
              <a:solidFill>
                <a:schemeClr val="accent6"/>
              </a:solidFill>
              <a:latin typeface="Calibri" pitchFamily="34" charset="0"/>
            </a:endParaRPr>
          </a:p>
        </p:txBody>
      </p:sp>
      <p:sp>
        <p:nvSpPr>
          <p:cNvPr id="4" name="Text Box 63"/>
          <p:cNvSpPr txBox="1">
            <a:spLocks noChangeArrowheads="1"/>
          </p:cNvSpPr>
          <p:nvPr/>
        </p:nvSpPr>
        <p:spPr bwMode="auto">
          <a:xfrm>
            <a:off x="5188629" y="902374"/>
            <a:ext cx="66413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10000"/>
              </a:spcBef>
              <a:buClr>
                <a:schemeClr val="bg2"/>
              </a:buClr>
              <a:buFont typeface="Monotype Sorts" pitchFamily="2" charset="2"/>
              <a:buNone/>
            </a:pPr>
            <a:r>
              <a:rPr lang="en-US" sz="2400" b="1">
                <a:solidFill>
                  <a:schemeClr val="accent6"/>
                </a:solidFill>
                <a:latin typeface="Calibri" pitchFamily="34" charset="0"/>
              </a:rPr>
              <a:t>For this problem, let’s use 5 for # of classes.</a:t>
            </a:r>
          </a:p>
        </p:txBody>
      </p:sp>
      <p:sp>
        <p:nvSpPr>
          <p:cNvPr id="8" name="Text Box 60"/>
          <p:cNvSpPr txBox="1">
            <a:spLocks noChangeArrowheads="1"/>
          </p:cNvSpPr>
          <p:nvPr/>
        </p:nvSpPr>
        <p:spPr bwMode="auto">
          <a:xfrm>
            <a:off x="989913" y="4664003"/>
            <a:ext cx="4193154" cy="461665"/>
          </a:xfrm>
          <a:prstGeom prst="rect">
            <a:avLst/>
          </a:prstGeom>
          <a:solidFill>
            <a:srgbClr val="FFD961"/>
          </a:solidFill>
          <a:ln>
            <a:noFill/>
          </a:ln>
        </p:spPr>
        <p:txBody>
          <a:bodyPr wrap="square">
            <a:spAutoFit/>
          </a:bodyPr>
          <a:lstStyle>
            <a:defPPr>
              <a:defRPr lang="en-US"/>
            </a:defPPr>
            <a:lvl1pPr>
              <a:spcBef>
                <a:spcPct val="10000"/>
              </a:spcBef>
              <a:buClr>
                <a:schemeClr val="bg2"/>
              </a:buClr>
              <a:buFont typeface="Monotype Sorts" pitchFamily="2" charset="2"/>
              <a:buNone/>
              <a:defRPr sz="2400" b="1">
                <a:solidFill>
                  <a:schemeClr val="accent6"/>
                </a:solidFill>
                <a:latin typeface="Calibri" pitchFamily="34" charset="0"/>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0"/>
              </a:spcBef>
              <a:spcAft>
                <a:spcPct val="0"/>
              </a:spcAft>
              <a:defRPr>
                <a:latin typeface="Arial" charset="0"/>
              </a:defRPr>
            </a:lvl6pPr>
            <a:lvl7pPr marL="2971800" indent="-228600" eaLnBrk="0" fontAlgn="base" hangingPunct="0">
              <a:spcBef>
                <a:spcPct val="0"/>
              </a:spcBef>
              <a:spcAft>
                <a:spcPct val="0"/>
              </a:spcAft>
              <a:defRPr>
                <a:latin typeface="Arial" charset="0"/>
              </a:defRPr>
            </a:lvl7pPr>
            <a:lvl8pPr marL="3429000" indent="-228600" eaLnBrk="0" fontAlgn="base" hangingPunct="0">
              <a:spcBef>
                <a:spcPct val="0"/>
              </a:spcBef>
              <a:spcAft>
                <a:spcPct val="0"/>
              </a:spcAft>
              <a:defRPr>
                <a:latin typeface="Arial" charset="0"/>
              </a:defRPr>
            </a:lvl8pPr>
            <a:lvl9pPr marL="3886200" indent="-228600" eaLnBrk="0" fontAlgn="base" hangingPunct="0">
              <a:spcBef>
                <a:spcPct val="0"/>
              </a:spcBef>
              <a:spcAft>
                <a:spcPct val="0"/>
              </a:spcAft>
              <a:defRPr>
                <a:latin typeface="Arial" charset="0"/>
              </a:defRPr>
            </a:lvl9pPr>
          </a:lstStyle>
          <a:p>
            <a:r>
              <a:rPr lang="en-US"/>
              <a:t>2. Calculate the Class Width</a:t>
            </a:r>
          </a:p>
        </p:txBody>
      </p:sp>
      <mc:AlternateContent xmlns:mc="http://schemas.openxmlformats.org/markup-compatibility/2006" xmlns:a14="http://schemas.microsoft.com/office/drawing/2010/main">
        <mc:Choice Requires="a14">
          <p:sp>
            <p:nvSpPr>
              <p:cNvPr id="9" name="Text Box 65"/>
              <p:cNvSpPr txBox="1">
                <a:spLocks noChangeArrowheads="1"/>
              </p:cNvSpPr>
              <p:nvPr/>
            </p:nvSpPr>
            <p:spPr bwMode="auto">
              <a:xfrm>
                <a:off x="4950628" y="5999849"/>
                <a:ext cx="5737042" cy="631327"/>
              </a:xfrm>
              <a:prstGeom prst="rect">
                <a:avLst/>
              </a:prstGeom>
              <a:noFill/>
              <a:ln>
                <a:noFill/>
              </a:ln>
              <a:extLst>
                <a:ext uri="{909E8E84-426E-40DD-AFC4-6F175D3DCCD1}">
                  <a14:hiddenFill>
                    <a:solidFill>
                      <a:srgbClr val="FFFFFF"/>
                    </a:solidFill>
                  </a14:hiddenFill>
                </a:ext>
                <a:ext uri="{91240B29-F687-4F45-9708-019B960494DF}">
                  <a14:hiddenLine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10000"/>
                  </a:spcBef>
                  <a:buClr>
                    <a:schemeClr val="bg2"/>
                  </a:buClr>
                  <a:buFont typeface="Monotype Sorts" pitchFamily="2" charset="2"/>
                  <a:buNone/>
                </a:pPr>
                <a14:m>
                  <m:oMath xmlns:m="http://schemas.openxmlformats.org/officeDocument/2006/math">
                    <m:r>
                      <a:rPr lang="en-US" sz="2400" b="1" i="1" smtClean="0">
                        <a:solidFill>
                          <a:srgbClr val="C00000"/>
                        </a:solidFill>
                        <a:latin typeface="Cambria Math" panose="02040503050406030204" pitchFamily="18" charset="0"/>
                      </a:rPr>
                      <m:t>𝒄𝒍𝒂𝒔𝒔</m:t>
                    </m:r>
                    <m:r>
                      <a:rPr lang="en-US" sz="2400" b="1" i="1" smtClean="0">
                        <a:solidFill>
                          <a:srgbClr val="C00000"/>
                        </a:solidFill>
                        <a:latin typeface="Cambria Math" panose="02040503050406030204" pitchFamily="18" charset="0"/>
                      </a:rPr>
                      <m:t> </m:t>
                    </m:r>
                    <m:r>
                      <a:rPr lang="en-US" sz="2400" b="1" i="1" smtClean="0">
                        <a:solidFill>
                          <a:srgbClr val="C00000"/>
                        </a:solidFill>
                        <a:latin typeface="Cambria Math" panose="02040503050406030204" pitchFamily="18" charset="0"/>
                      </a:rPr>
                      <m:t>𝒘𝒊𝒅𝒕𝒉</m:t>
                    </m:r>
                    <m:r>
                      <a:rPr lang="en-US" sz="2400" b="1" i="1" smtClean="0">
                        <a:solidFill>
                          <a:srgbClr val="C00000"/>
                        </a:solidFill>
                        <a:latin typeface="Cambria Math" panose="02040503050406030204" pitchFamily="18" charset="0"/>
                      </a:rPr>
                      <m:t>=</m:t>
                    </m:r>
                    <m:f>
                      <m:fPr>
                        <m:ctrlPr>
                          <a:rPr lang="en-US" sz="2400" b="1" i="1" smtClean="0">
                            <a:solidFill>
                              <a:srgbClr val="C00000"/>
                            </a:solidFill>
                            <a:latin typeface="Cambria Math" panose="02040503050406030204" pitchFamily="18" charset="0"/>
                          </a:rPr>
                        </m:ctrlPr>
                      </m:fPr>
                      <m:num>
                        <m:r>
                          <a:rPr lang="en-US" sz="2400" b="1" i="1" smtClean="0">
                            <a:solidFill>
                              <a:srgbClr val="C00000"/>
                            </a:solidFill>
                            <a:latin typeface="Cambria Math" panose="02040503050406030204" pitchFamily="18" charset="0"/>
                          </a:rPr>
                          <m:t>𝟏𝟐𝟓</m:t>
                        </m:r>
                        <m:r>
                          <a:rPr lang="en-US" sz="2400" b="1" i="1" smtClean="0">
                            <a:solidFill>
                              <a:srgbClr val="C00000"/>
                            </a:solidFill>
                            <a:latin typeface="Cambria Math" panose="02040503050406030204" pitchFamily="18" charset="0"/>
                          </a:rPr>
                          <m:t>−</m:t>
                        </m:r>
                        <m:r>
                          <a:rPr lang="en-US" sz="2400" b="1" i="1" smtClean="0">
                            <a:solidFill>
                              <a:srgbClr val="C00000"/>
                            </a:solidFill>
                            <a:latin typeface="Cambria Math" panose="02040503050406030204" pitchFamily="18" charset="0"/>
                          </a:rPr>
                          <m:t>𝟔𝟕</m:t>
                        </m:r>
                      </m:num>
                      <m:den>
                        <m:r>
                          <a:rPr lang="en-US" sz="2400" b="1" i="1" smtClean="0">
                            <a:solidFill>
                              <a:srgbClr val="C00000"/>
                            </a:solidFill>
                            <a:latin typeface="Cambria Math" panose="02040503050406030204" pitchFamily="18" charset="0"/>
                          </a:rPr>
                          <m:t>𝟓</m:t>
                        </m:r>
                      </m:den>
                    </m:f>
                  </m:oMath>
                </a14:m>
                <a:r>
                  <a:rPr lang="en-US" sz="2400" b="1">
                    <a:solidFill>
                      <a:srgbClr val="C00000"/>
                    </a:solidFill>
                    <a:latin typeface="Calibri" pitchFamily="34" charset="0"/>
                  </a:rPr>
                  <a:t> =11.6 ≈ 12</a:t>
                </a:r>
              </a:p>
            </p:txBody>
          </p:sp>
        </mc:Choice>
        <mc:Fallback xmlns="">
          <p:sp>
            <p:nvSpPr>
              <p:cNvPr id="9" name="Text Box 65"/>
              <p:cNvSpPr txBox="1">
                <a:spLocks noRot="1" noChangeAspect="1" noMove="1" noResize="1" noEditPoints="1" noAdjustHandles="1" noChangeArrowheads="1" noChangeShapeType="1" noTextEdit="1"/>
              </p:cNvSpPr>
              <p:nvPr/>
            </p:nvSpPr>
            <p:spPr bwMode="auto">
              <a:xfrm>
                <a:off x="4950628" y="5999849"/>
                <a:ext cx="5737042" cy="631327"/>
              </a:xfrm>
              <a:prstGeom prst="rect">
                <a:avLst/>
              </a:prstGeom>
              <a:blipFill>
                <a:blip r:embed="rId2"/>
                <a:stretch>
                  <a:fillRect b="-865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Flowchart: Alternate Process 9"/>
              <p:cNvSpPr/>
              <p:nvPr/>
            </p:nvSpPr>
            <p:spPr>
              <a:xfrm>
                <a:off x="5467834" y="4524954"/>
                <a:ext cx="4702630" cy="1278349"/>
              </a:xfrm>
              <a:prstGeom prst="flowChartAlternateProcess">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bg2"/>
                    </a:solidFill>
                    <a:latin typeface="Calibri" pitchFamily="34" charset="0"/>
                  </a:rPr>
                  <a:t>Range = Maximum – Minimum</a:t>
                </a:r>
                <a:r>
                  <a:rPr lang="en-US" sz="2400" b="1">
                    <a:latin typeface="Calibri" pitchFamily="34" charset="0"/>
                  </a:rPr>
                  <a:t>.</a:t>
                </a:r>
              </a:p>
              <a:p>
                <a:pPr algn="ctr"/>
                <a14:m>
                  <m:oMath xmlns:m="http://schemas.openxmlformats.org/officeDocument/2006/math">
                    <m:r>
                      <a:rPr lang="en-US" sz="2800" b="1" i="1">
                        <a:solidFill>
                          <a:srgbClr val="C00000"/>
                        </a:solidFill>
                        <a:latin typeface="Cambria Math" panose="02040503050406030204" pitchFamily="18" charset="0"/>
                      </a:rPr>
                      <m:t>𝒄𝒍𝒂𝒔𝒔</m:t>
                    </m:r>
                    <m:r>
                      <a:rPr lang="en-US" sz="2800" b="1" i="1">
                        <a:solidFill>
                          <a:srgbClr val="C00000"/>
                        </a:solidFill>
                        <a:latin typeface="Cambria Math" panose="02040503050406030204" pitchFamily="18" charset="0"/>
                      </a:rPr>
                      <m:t> </m:t>
                    </m:r>
                    <m:r>
                      <a:rPr lang="en-US" sz="2800" b="1" i="1">
                        <a:solidFill>
                          <a:srgbClr val="C00000"/>
                        </a:solidFill>
                        <a:latin typeface="Cambria Math" panose="02040503050406030204" pitchFamily="18" charset="0"/>
                      </a:rPr>
                      <m:t>𝒘𝒊𝒅𝒕𝒉</m:t>
                    </m:r>
                    <m:r>
                      <a:rPr lang="en-US" sz="2800" b="1" i="1">
                        <a:solidFill>
                          <a:srgbClr val="C00000"/>
                        </a:solidFill>
                        <a:latin typeface="Cambria Math" panose="02040503050406030204" pitchFamily="18" charset="0"/>
                      </a:rPr>
                      <m:t>=</m:t>
                    </m:r>
                    <m:f>
                      <m:fPr>
                        <m:ctrlPr>
                          <a:rPr lang="en-US" sz="2800" b="1" i="1">
                            <a:solidFill>
                              <a:srgbClr val="C00000"/>
                            </a:solidFill>
                            <a:latin typeface="Cambria Math" panose="02040503050406030204" pitchFamily="18" charset="0"/>
                          </a:rPr>
                        </m:ctrlPr>
                      </m:fPr>
                      <m:num>
                        <m:r>
                          <a:rPr lang="en-US" sz="2800" b="1" i="1" smtClean="0">
                            <a:solidFill>
                              <a:srgbClr val="C00000"/>
                            </a:solidFill>
                            <a:latin typeface="Cambria Math" panose="02040503050406030204" pitchFamily="18" charset="0"/>
                          </a:rPr>
                          <m:t>𝑹𝒂𝒏𝒈𝒆</m:t>
                        </m:r>
                      </m:num>
                      <m:den>
                        <m:r>
                          <a:rPr lang="en-US" sz="2800" b="1" i="1" smtClean="0">
                            <a:solidFill>
                              <a:srgbClr val="C00000"/>
                            </a:solidFill>
                            <a:latin typeface="Cambria Math" panose="02040503050406030204" pitchFamily="18" charset="0"/>
                          </a:rPr>
                          <m:t># </m:t>
                        </m:r>
                        <m:r>
                          <a:rPr lang="en-US" sz="2800" b="1" i="1" smtClean="0">
                            <a:solidFill>
                              <a:srgbClr val="C00000"/>
                            </a:solidFill>
                            <a:latin typeface="Cambria Math" panose="02040503050406030204" pitchFamily="18" charset="0"/>
                          </a:rPr>
                          <m:t>𝒐𝒇</m:t>
                        </m:r>
                        <m:r>
                          <a:rPr lang="en-US" sz="2800" b="1" i="1" smtClean="0">
                            <a:solidFill>
                              <a:srgbClr val="C00000"/>
                            </a:solidFill>
                            <a:latin typeface="Cambria Math" panose="02040503050406030204" pitchFamily="18" charset="0"/>
                          </a:rPr>
                          <m:t> </m:t>
                        </m:r>
                        <m:r>
                          <a:rPr lang="en-US" sz="2800" b="1" i="1" smtClean="0">
                            <a:solidFill>
                              <a:srgbClr val="C00000"/>
                            </a:solidFill>
                            <a:latin typeface="Cambria Math" panose="02040503050406030204" pitchFamily="18" charset="0"/>
                          </a:rPr>
                          <m:t>𝒄𝒍𝒂𝒔𝒔𝒆𝒔</m:t>
                        </m:r>
                      </m:den>
                    </m:f>
                  </m:oMath>
                </a14:m>
                <a:r>
                  <a:rPr lang="en-US" sz="2800" b="1">
                    <a:latin typeface="Calibri" pitchFamily="34" charset="0"/>
                  </a:rPr>
                  <a:t> </a:t>
                </a:r>
                <a:endParaRPr lang="en-US" sz="2800"/>
              </a:p>
            </p:txBody>
          </p:sp>
        </mc:Choice>
        <mc:Fallback xmlns="">
          <p:sp>
            <p:nvSpPr>
              <p:cNvPr id="10" name="Flowchart: Alternate Process 9"/>
              <p:cNvSpPr>
                <a:spLocks noRot="1" noChangeAspect="1" noMove="1" noResize="1" noEditPoints="1" noAdjustHandles="1" noChangeArrowheads="1" noChangeShapeType="1" noTextEdit="1"/>
              </p:cNvSpPr>
              <p:nvPr/>
            </p:nvSpPr>
            <p:spPr>
              <a:xfrm>
                <a:off x="5467834" y="4524954"/>
                <a:ext cx="4702630" cy="1278349"/>
              </a:xfrm>
              <a:prstGeom prst="flowChartAlternateProcess">
                <a:avLst/>
              </a:prstGeom>
              <a:blipFill>
                <a:blip r:embed="rId3"/>
                <a:stretch>
                  <a:fillRect/>
                </a:stretch>
              </a:blipFill>
            </p:spPr>
            <p:txBody>
              <a:bodyPr/>
              <a:lstStyle/>
              <a:p>
                <a:r>
                  <a:rPr lang="en-US">
                    <a:noFill/>
                  </a:rPr>
                  <a:t> </a:t>
                </a:r>
              </a:p>
            </p:txBody>
          </p:sp>
        </mc:Fallback>
      </mc:AlternateContent>
      <p:graphicFrame>
        <p:nvGraphicFramePr>
          <p:cNvPr id="14" name="Table 13"/>
          <p:cNvGraphicFramePr>
            <a:graphicFrameLocks noGrp="1"/>
          </p:cNvGraphicFramePr>
          <p:nvPr>
            <p:extLst>
              <p:ext uri="{D42A27DB-BD31-4B8C-83A1-F6EECF244321}">
                <p14:modId xmlns:p14="http://schemas.microsoft.com/office/powerpoint/2010/main" val="932732749"/>
              </p:ext>
            </p:extLst>
          </p:nvPr>
        </p:nvGraphicFramePr>
        <p:xfrm>
          <a:off x="2027471" y="1491113"/>
          <a:ext cx="8660199" cy="2837293"/>
        </p:xfrm>
        <a:graphic>
          <a:graphicData uri="http://schemas.openxmlformats.org/drawingml/2006/table">
            <a:tbl>
              <a:tblPr firstRow="1" bandRow="1">
                <a:tableStyleId>{5940675A-B579-460E-94D1-54222C63F5DA}</a:tableStyleId>
              </a:tblPr>
              <a:tblGrid>
                <a:gridCol w="2387766">
                  <a:extLst>
                    <a:ext uri="{9D8B030D-6E8A-4147-A177-3AD203B41FA5}">
                      <a16:colId xmlns:a16="http://schemas.microsoft.com/office/drawing/2014/main" val="3861671775"/>
                    </a:ext>
                  </a:extLst>
                </a:gridCol>
                <a:gridCol w="2602750">
                  <a:extLst>
                    <a:ext uri="{9D8B030D-6E8A-4147-A177-3AD203B41FA5}">
                      <a16:colId xmlns:a16="http://schemas.microsoft.com/office/drawing/2014/main" val="2647796143"/>
                    </a:ext>
                  </a:extLst>
                </a:gridCol>
                <a:gridCol w="1896411">
                  <a:extLst>
                    <a:ext uri="{9D8B030D-6E8A-4147-A177-3AD203B41FA5}">
                      <a16:colId xmlns:a16="http://schemas.microsoft.com/office/drawing/2014/main" val="802288398"/>
                    </a:ext>
                  </a:extLst>
                </a:gridCol>
                <a:gridCol w="1773272">
                  <a:extLst>
                    <a:ext uri="{9D8B030D-6E8A-4147-A177-3AD203B41FA5}">
                      <a16:colId xmlns:a16="http://schemas.microsoft.com/office/drawing/2014/main" val="3503537700"/>
                    </a:ext>
                  </a:extLst>
                </a:gridCol>
              </a:tblGrid>
              <a:tr h="494088">
                <a:tc>
                  <a:txBody>
                    <a:bodyPr/>
                    <a:lstStyle/>
                    <a:p>
                      <a:pPr algn="ctr"/>
                      <a:r>
                        <a:rPr lang="en-US" sz="1600" b="1">
                          <a:solidFill>
                            <a:schemeClr val="accent6"/>
                          </a:solidFill>
                        </a:rPr>
                        <a:t>Class Limits</a:t>
                      </a:r>
                    </a:p>
                  </a:txBody>
                  <a:tcPr anchor="ct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solidFill>
                      <a:schemeClr val="accent4">
                        <a:lumMod val="40000"/>
                        <a:lumOff val="60000"/>
                      </a:schemeClr>
                    </a:solidFill>
                  </a:tcPr>
                </a:tc>
                <a:tc>
                  <a:txBody>
                    <a:bodyPr/>
                    <a:lstStyle/>
                    <a:p>
                      <a:pPr algn="ctr"/>
                      <a:r>
                        <a:rPr lang="en-US" sz="1600" b="1">
                          <a:solidFill>
                            <a:schemeClr val="accent6"/>
                          </a:solidFill>
                        </a:rPr>
                        <a:t>Class Boundaries</a:t>
                      </a:r>
                    </a:p>
                  </a:txBody>
                  <a:tcPr anchor="ct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solidFill>
                      <a:schemeClr val="accent4">
                        <a:lumMod val="40000"/>
                        <a:lumOff val="60000"/>
                      </a:schemeClr>
                    </a:solidFill>
                  </a:tcPr>
                </a:tc>
                <a:tc>
                  <a:txBody>
                    <a:bodyPr/>
                    <a:lstStyle/>
                    <a:p>
                      <a:pPr algn="ctr"/>
                      <a:r>
                        <a:rPr lang="en-US" sz="1600" b="1">
                          <a:solidFill>
                            <a:schemeClr val="accent6"/>
                          </a:solidFill>
                        </a:rPr>
                        <a:t>Tally</a:t>
                      </a:r>
                    </a:p>
                  </a:txBody>
                  <a:tcPr anchor="ct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solidFill>
                      <a:schemeClr val="accent4">
                        <a:lumMod val="40000"/>
                        <a:lumOff val="60000"/>
                      </a:schemeClr>
                    </a:solidFill>
                  </a:tcPr>
                </a:tc>
                <a:tc>
                  <a:txBody>
                    <a:bodyPr/>
                    <a:lstStyle/>
                    <a:p>
                      <a:pPr algn="ctr"/>
                      <a:r>
                        <a:rPr lang="en-US" sz="1600" b="1">
                          <a:solidFill>
                            <a:schemeClr val="accent6"/>
                          </a:solidFill>
                        </a:rPr>
                        <a:t>Frequency</a:t>
                      </a:r>
                    </a:p>
                  </a:txBody>
                  <a:tcPr anchor="ct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176976831"/>
                  </a:ext>
                </a:extLst>
              </a:tr>
              <a:tr h="468641">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extLst>
                  <a:ext uri="{0D108BD9-81ED-4DB2-BD59-A6C34878D82A}">
                    <a16:rowId xmlns:a16="http://schemas.microsoft.com/office/drawing/2014/main" val="1636605561"/>
                  </a:ext>
                </a:extLst>
              </a:tr>
              <a:tr h="468641">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extLst>
                  <a:ext uri="{0D108BD9-81ED-4DB2-BD59-A6C34878D82A}">
                    <a16:rowId xmlns:a16="http://schemas.microsoft.com/office/drawing/2014/main" val="2555308432"/>
                  </a:ext>
                </a:extLst>
              </a:tr>
              <a:tr h="468641">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extLst>
                  <a:ext uri="{0D108BD9-81ED-4DB2-BD59-A6C34878D82A}">
                    <a16:rowId xmlns:a16="http://schemas.microsoft.com/office/drawing/2014/main" val="1472976407"/>
                  </a:ext>
                </a:extLst>
              </a:tr>
              <a:tr h="468641">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extLst>
                  <a:ext uri="{0D108BD9-81ED-4DB2-BD59-A6C34878D82A}">
                    <a16:rowId xmlns:a16="http://schemas.microsoft.com/office/drawing/2014/main" val="2306718235"/>
                  </a:ext>
                </a:extLst>
              </a:tr>
              <a:tr h="468641">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extLst>
                  <a:ext uri="{0D108BD9-81ED-4DB2-BD59-A6C34878D82A}">
                    <a16:rowId xmlns:a16="http://schemas.microsoft.com/office/drawing/2014/main" val="3138924514"/>
                  </a:ext>
                </a:extLst>
              </a:tr>
            </a:tbl>
          </a:graphicData>
        </a:graphic>
      </p:graphicFrame>
    </p:spTree>
    <p:extLst>
      <p:ext uri="{BB962C8B-B14F-4D97-AF65-F5344CB8AC3E}">
        <p14:creationId xmlns:p14="http://schemas.microsoft.com/office/powerpoint/2010/main" val="4014189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8" grpId="0" animBg="1"/>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able 22"/>
          <p:cNvGraphicFramePr>
            <a:graphicFrameLocks noGrp="1"/>
          </p:cNvGraphicFramePr>
          <p:nvPr>
            <p:extLst>
              <p:ext uri="{D42A27DB-BD31-4B8C-83A1-F6EECF244321}">
                <p14:modId xmlns:p14="http://schemas.microsoft.com/office/powerpoint/2010/main" val="1605121505"/>
              </p:ext>
            </p:extLst>
          </p:nvPr>
        </p:nvGraphicFramePr>
        <p:xfrm>
          <a:off x="1835095" y="2649379"/>
          <a:ext cx="8660199" cy="2837293"/>
        </p:xfrm>
        <a:graphic>
          <a:graphicData uri="http://schemas.openxmlformats.org/drawingml/2006/table">
            <a:tbl>
              <a:tblPr firstRow="1" bandRow="1">
                <a:tableStyleId>{5940675A-B579-460E-94D1-54222C63F5DA}</a:tableStyleId>
              </a:tblPr>
              <a:tblGrid>
                <a:gridCol w="2387766">
                  <a:extLst>
                    <a:ext uri="{9D8B030D-6E8A-4147-A177-3AD203B41FA5}">
                      <a16:colId xmlns:a16="http://schemas.microsoft.com/office/drawing/2014/main" val="3861671775"/>
                    </a:ext>
                  </a:extLst>
                </a:gridCol>
                <a:gridCol w="2602750">
                  <a:extLst>
                    <a:ext uri="{9D8B030D-6E8A-4147-A177-3AD203B41FA5}">
                      <a16:colId xmlns:a16="http://schemas.microsoft.com/office/drawing/2014/main" val="2647796143"/>
                    </a:ext>
                  </a:extLst>
                </a:gridCol>
                <a:gridCol w="1896411">
                  <a:extLst>
                    <a:ext uri="{9D8B030D-6E8A-4147-A177-3AD203B41FA5}">
                      <a16:colId xmlns:a16="http://schemas.microsoft.com/office/drawing/2014/main" val="802288398"/>
                    </a:ext>
                  </a:extLst>
                </a:gridCol>
                <a:gridCol w="1773272">
                  <a:extLst>
                    <a:ext uri="{9D8B030D-6E8A-4147-A177-3AD203B41FA5}">
                      <a16:colId xmlns:a16="http://schemas.microsoft.com/office/drawing/2014/main" val="3503537700"/>
                    </a:ext>
                  </a:extLst>
                </a:gridCol>
              </a:tblGrid>
              <a:tr h="494088">
                <a:tc>
                  <a:txBody>
                    <a:bodyPr/>
                    <a:lstStyle/>
                    <a:p>
                      <a:pPr algn="ctr"/>
                      <a:r>
                        <a:rPr lang="en-US" sz="1600" b="1">
                          <a:solidFill>
                            <a:schemeClr val="accent6"/>
                          </a:solidFill>
                        </a:rPr>
                        <a:t>Class Limits</a:t>
                      </a:r>
                    </a:p>
                  </a:txBody>
                  <a:tcPr anchor="ct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solidFill>
                      <a:schemeClr val="accent4">
                        <a:lumMod val="40000"/>
                        <a:lumOff val="60000"/>
                      </a:schemeClr>
                    </a:solidFill>
                  </a:tcPr>
                </a:tc>
                <a:tc>
                  <a:txBody>
                    <a:bodyPr/>
                    <a:lstStyle/>
                    <a:p>
                      <a:pPr algn="ctr"/>
                      <a:r>
                        <a:rPr lang="en-US" sz="1600" b="1">
                          <a:solidFill>
                            <a:schemeClr val="accent6"/>
                          </a:solidFill>
                        </a:rPr>
                        <a:t>Class Boundaries</a:t>
                      </a:r>
                    </a:p>
                  </a:txBody>
                  <a:tcPr anchor="ct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solidFill>
                      <a:schemeClr val="accent4">
                        <a:lumMod val="40000"/>
                        <a:lumOff val="60000"/>
                      </a:schemeClr>
                    </a:solidFill>
                  </a:tcPr>
                </a:tc>
                <a:tc>
                  <a:txBody>
                    <a:bodyPr/>
                    <a:lstStyle/>
                    <a:p>
                      <a:pPr algn="ctr"/>
                      <a:r>
                        <a:rPr lang="en-US" sz="1600" b="1">
                          <a:solidFill>
                            <a:schemeClr val="accent6"/>
                          </a:solidFill>
                        </a:rPr>
                        <a:t>Tally</a:t>
                      </a:r>
                    </a:p>
                  </a:txBody>
                  <a:tcPr anchor="ct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solidFill>
                      <a:schemeClr val="accent4">
                        <a:lumMod val="40000"/>
                        <a:lumOff val="60000"/>
                      </a:schemeClr>
                    </a:solidFill>
                  </a:tcPr>
                </a:tc>
                <a:tc>
                  <a:txBody>
                    <a:bodyPr/>
                    <a:lstStyle/>
                    <a:p>
                      <a:pPr algn="ctr"/>
                      <a:r>
                        <a:rPr lang="en-US" sz="1600" b="1">
                          <a:solidFill>
                            <a:schemeClr val="accent6"/>
                          </a:solidFill>
                        </a:rPr>
                        <a:t>Frequency</a:t>
                      </a:r>
                    </a:p>
                  </a:txBody>
                  <a:tcPr anchor="ct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176976831"/>
                  </a:ext>
                </a:extLst>
              </a:tr>
              <a:tr h="468641">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extLst>
                  <a:ext uri="{0D108BD9-81ED-4DB2-BD59-A6C34878D82A}">
                    <a16:rowId xmlns:a16="http://schemas.microsoft.com/office/drawing/2014/main" val="1636605561"/>
                  </a:ext>
                </a:extLst>
              </a:tr>
              <a:tr h="468641">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extLst>
                  <a:ext uri="{0D108BD9-81ED-4DB2-BD59-A6C34878D82A}">
                    <a16:rowId xmlns:a16="http://schemas.microsoft.com/office/drawing/2014/main" val="2555308432"/>
                  </a:ext>
                </a:extLst>
              </a:tr>
              <a:tr h="468641">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extLst>
                  <a:ext uri="{0D108BD9-81ED-4DB2-BD59-A6C34878D82A}">
                    <a16:rowId xmlns:a16="http://schemas.microsoft.com/office/drawing/2014/main" val="1472976407"/>
                  </a:ext>
                </a:extLst>
              </a:tr>
              <a:tr h="468641">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extLst>
                  <a:ext uri="{0D108BD9-81ED-4DB2-BD59-A6C34878D82A}">
                    <a16:rowId xmlns:a16="http://schemas.microsoft.com/office/drawing/2014/main" val="2306718235"/>
                  </a:ext>
                </a:extLst>
              </a:tr>
              <a:tr h="468641">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extLst>
                  <a:ext uri="{0D108BD9-81ED-4DB2-BD59-A6C34878D82A}">
                    <a16:rowId xmlns:a16="http://schemas.microsoft.com/office/drawing/2014/main" val="3138924514"/>
                  </a:ext>
                </a:extLst>
              </a:tr>
            </a:tbl>
          </a:graphicData>
        </a:graphic>
      </p:graphicFrame>
      <p:sp>
        <p:nvSpPr>
          <p:cNvPr id="2" name="Rectangle 2"/>
          <p:cNvSpPr>
            <a:spLocks noGrp="1" noChangeArrowheads="1"/>
          </p:cNvSpPr>
          <p:nvPr>
            <p:ph type="title"/>
          </p:nvPr>
        </p:nvSpPr>
        <p:spPr>
          <a:xfrm>
            <a:off x="753237" y="289825"/>
            <a:ext cx="8833215" cy="481315"/>
          </a:xfrm>
        </p:spPr>
        <p:txBody>
          <a:bodyPr vert="horz" lIns="92075" tIns="46038" rIns="92075" bIns="46038" rtlCol="0" anchor="b">
            <a:noAutofit/>
          </a:bodyPr>
          <a:lstStyle/>
          <a:p>
            <a:pPr eaLnBrk="1" fontAlgn="auto" hangingPunct="1">
              <a:spcAft>
                <a:spcPts val="0"/>
              </a:spcAft>
              <a:defRPr/>
            </a:pPr>
            <a:r>
              <a:rPr lang="en-US" sz="2800" b="1">
                <a:solidFill>
                  <a:srgbClr val="C00000"/>
                </a:solidFill>
                <a:latin typeface="+mj-lt"/>
                <a:cs typeface="Calibri" panose="020F0502020204030204" pitchFamily="34" charset="0"/>
              </a:rPr>
              <a:t>Example 1:</a:t>
            </a:r>
            <a:r>
              <a:rPr lang="en-US" sz="2800" b="1">
                <a:solidFill>
                  <a:srgbClr val="002060"/>
                </a:solidFill>
                <a:latin typeface="+mj-lt"/>
                <a:cs typeface="Calibri" panose="020F0502020204030204" pitchFamily="34" charset="0"/>
              </a:rPr>
              <a:t> Grouped Frequency Distribution</a:t>
            </a:r>
            <a:endParaRPr lang="en-US" sz="2800">
              <a:solidFill>
                <a:srgbClr val="0070C0"/>
              </a:solidFill>
              <a:latin typeface="+mj-lt"/>
            </a:endParaRPr>
          </a:p>
        </p:txBody>
      </p:sp>
      <p:sp>
        <p:nvSpPr>
          <p:cNvPr id="11" name="Text Box 60"/>
          <p:cNvSpPr txBox="1">
            <a:spLocks noChangeArrowheads="1"/>
          </p:cNvSpPr>
          <p:nvPr/>
        </p:nvSpPr>
        <p:spPr bwMode="auto">
          <a:xfrm>
            <a:off x="887704" y="1048722"/>
            <a:ext cx="4193154" cy="461665"/>
          </a:xfrm>
          <a:prstGeom prst="rect">
            <a:avLst/>
          </a:prstGeom>
          <a:solidFill>
            <a:srgbClr val="FFD961"/>
          </a:solidFill>
          <a:ln>
            <a:noFill/>
          </a:ln>
        </p:spPr>
        <p:txBody>
          <a:bodyPr wrap="square">
            <a:spAutoFit/>
          </a:bodyPr>
          <a:lstStyle>
            <a:defPPr>
              <a:defRPr lang="en-US"/>
            </a:defPPr>
            <a:lvl1pPr>
              <a:spcBef>
                <a:spcPct val="10000"/>
              </a:spcBef>
              <a:buClr>
                <a:schemeClr val="bg2"/>
              </a:buClr>
              <a:buFont typeface="Monotype Sorts" pitchFamily="2" charset="2"/>
              <a:buNone/>
              <a:defRPr sz="2400" b="1">
                <a:solidFill>
                  <a:schemeClr val="accent6"/>
                </a:solidFill>
                <a:latin typeface="Calibri" pitchFamily="34" charset="0"/>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0"/>
              </a:spcBef>
              <a:spcAft>
                <a:spcPct val="0"/>
              </a:spcAft>
              <a:defRPr>
                <a:latin typeface="Arial" charset="0"/>
              </a:defRPr>
            </a:lvl6pPr>
            <a:lvl7pPr marL="2971800" indent="-228600" eaLnBrk="0" fontAlgn="base" hangingPunct="0">
              <a:spcBef>
                <a:spcPct val="0"/>
              </a:spcBef>
              <a:spcAft>
                <a:spcPct val="0"/>
              </a:spcAft>
              <a:defRPr>
                <a:latin typeface="Arial" charset="0"/>
              </a:defRPr>
            </a:lvl7pPr>
            <a:lvl8pPr marL="3429000" indent="-228600" eaLnBrk="0" fontAlgn="base" hangingPunct="0">
              <a:spcBef>
                <a:spcPct val="0"/>
              </a:spcBef>
              <a:spcAft>
                <a:spcPct val="0"/>
              </a:spcAft>
              <a:defRPr>
                <a:latin typeface="Arial" charset="0"/>
              </a:defRPr>
            </a:lvl8pPr>
            <a:lvl9pPr marL="3886200" indent="-228600" eaLnBrk="0" fontAlgn="base" hangingPunct="0">
              <a:spcBef>
                <a:spcPct val="0"/>
              </a:spcBef>
              <a:spcAft>
                <a:spcPct val="0"/>
              </a:spcAft>
              <a:defRPr>
                <a:latin typeface="Arial" charset="0"/>
              </a:defRPr>
            </a:lvl9pPr>
          </a:lstStyle>
          <a:p>
            <a:r>
              <a:rPr lang="en-US"/>
              <a:t>3. Determine All Class Limits </a:t>
            </a:r>
          </a:p>
        </p:txBody>
      </p:sp>
      <p:sp>
        <p:nvSpPr>
          <p:cNvPr id="12" name="Text Box 66"/>
          <p:cNvSpPr txBox="1">
            <a:spLocks noChangeArrowheads="1"/>
          </p:cNvSpPr>
          <p:nvPr/>
        </p:nvSpPr>
        <p:spPr bwMode="auto">
          <a:xfrm>
            <a:off x="5237572" y="970756"/>
            <a:ext cx="662373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spcBef>
                <a:spcPct val="10000"/>
              </a:spcBef>
              <a:buClr>
                <a:schemeClr val="bg2"/>
              </a:buClr>
              <a:buFont typeface="Monotype Sorts" pitchFamily="2" charset="2"/>
              <a:buNone/>
            </a:pPr>
            <a:r>
              <a:rPr lang="en-US" sz="2400" b="1">
                <a:solidFill>
                  <a:schemeClr val="accent6"/>
                </a:solidFill>
                <a:latin typeface="Calibri" pitchFamily="34" charset="0"/>
              </a:rPr>
              <a:t>The</a:t>
            </a:r>
            <a:r>
              <a:rPr lang="en-US" sz="2400" b="1">
                <a:latin typeface="Calibri" pitchFamily="34" charset="0"/>
              </a:rPr>
              <a:t> </a:t>
            </a:r>
            <a:r>
              <a:rPr lang="en-US" sz="2400" b="1">
                <a:solidFill>
                  <a:srgbClr val="C00000"/>
                </a:solidFill>
                <a:latin typeface="Calibri" pitchFamily="34" charset="0"/>
              </a:rPr>
              <a:t>lower class limit </a:t>
            </a:r>
            <a:r>
              <a:rPr lang="en-US" sz="2400" b="1">
                <a:solidFill>
                  <a:schemeClr val="accent6"/>
                </a:solidFill>
                <a:latin typeface="Calibri" pitchFamily="34" charset="0"/>
              </a:rPr>
              <a:t>is the </a:t>
            </a:r>
            <a:r>
              <a:rPr lang="en-US" sz="2400" b="1">
                <a:solidFill>
                  <a:srgbClr val="0070C0"/>
                </a:solidFill>
                <a:latin typeface="Calibri" pitchFamily="34" charset="0"/>
              </a:rPr>
              <a:t>lowest data value </a:t>
            </a:r>
            <a:r>
              <a:rPr lang="en-US" sz="2400" b="1">
                <a:solidFill>
                  <a:schemeClr val="accent6"/>
                </a:solidFill>
                <a:latin typeface="Calibri" pitchFamily="34" charset="0"/>
              </a:rPr>
              <a:t>that belongs in a class and the</a:t>
            </a:r>
            <a:r>
              <a:rPr lang="en-US" sz="2400" b="1">
                <a:latin typeface="Calibri" pitchFamily="34" charset="0"/>
              </a:rPr>
              <a:t> </a:t>
            </a:r>
            <a:r>
              <a:rPr lang="en-US" sz="2400" b="1">
                <a:solidFill>
                  <a:srgbClr val="C00000"/>
                </a:solidFill>
                <a:latin typeface="Calibri" pitchFamily="34" charset="0"/>
              </a:rPr>
              <a:t>upper class limit</a:t>
            </a:r>
            <a:r>
              <a:rPr lang="en-US" sz="2400" b="1">
                <a:latin typeface="Calibri" pitchFamily="34" charset="0"/>
              </a:rPr>
              <a:t> </a:t>
            </a:r>
            <a:r>
              <a:rPr lang="en-US" sz="2400" b="1">
                <a:solidFill>
                  <a:schemeClr val="accent6"/>
                </a:solidFill>
                <a:latin typeface="Calibri" pitchFamily="34" charset="0"/>
              </a:rPr>
              <a:t>is the </a:t>
            </a:r>
            <a:r>
              <a:rPr lang="en-US" sz="2400" b="1">
                <a:solidFill>
                  <a:srgbClr val="0070C0"/>
                </a:solidFill>
                <a:latin typeface="Calibri" pitchFamily="34" charset="0"/>
              </a:rPr>
              <a:t>highest</a:t>
            </a:r>
            <a:r>
              <a:rPr lang="en-US" sz="2400" b="1">
                <a:latin typeface="Calibri" pitchFamily="34" charset="0"/>
              </a:rPr>
              <a:t>. </a:t>
            </a:r>
            <a:r>
              <a:rPr lang="en-US" sz="2400" b="1">
                <a:solidFill>
                  <a:schemeClr val="accent6"/>
                </a:solidFill>
                <a:latin typeface="Calibri" pitchFamily="34" charset="0"/>
              </a:rPr>
              <a:t>Use the minimum value as the lower class limit in the first class. (67) </a:t>
            </a:r>
            <a:endParaRPr lang="en-US" sz="2400">
              <a:solidFill>
                <a:schemeClr val="accent6"/>
              </a:solidFill>
              <a:latin typeface="Calibri" pitchFamily="34" charset="0"/>
            </a:endParaRPr>
          </a:p>
        </p:txBody>
      </p:sp>
      <p:sp>
        <p:nvSpPr>
          <p:cNvPr id="14" name="TextBox 13"/>
          <p:cNvSpPr txBox="1"/>
          <p:nvPr/>
        </p:nvSpPr>
        <p:spPr>
          <a:xfrm>
            <a:off x="2165075" y="3213325"/>
            <a:ext cx="470000" cy="400110"/>
          </a:xfrm>
          <a:prstGeom prst="rect">
            <a:avLst/>
          </a:prstGeom>
          <a:noFill/>
        </p:spPr>
        <p:txBody>
          <a:bodyPr wrap="none" rtlCol="0">
            <a:spAutoFit/>
          </a:bodyPr>
          <a:lstStyle/>
          <a:p>
            <a:r>
              <a:rPr lang="en-US" sz="2000" b="1">
                <a:solidFill>
                  <a:schemeClr val="accent6"/>
                </a:solidFill>
              </a:rPr>
              <a:t>67</a:t>
            </a:r>
          </a:p>
        </p:txBody>
      </p:sp>
      <p:sp>
        <p:nvSpPr>
          <p:cNvPr id="15" name="TextBox 14"/>
          <p:cNvSpPr txBox="1"/>
          <p:nvPr/>
        </p:nvSpPr>
        <p:spPr>
          <a:xfrm>
            <a:off x="1962248" y="5670947"/>
            <a:ext cx="1620957" cy="400110"/>
          </a:xfrm>
          <a:prstGeom prst="rect">
            <a:avLst/>
          </a:prstGeom>
          <a:noFill/>
        </p:spPr>
        <p:txBody>
          <a:bodyPr wrap="none" rtlCol="0">
            <a:spAutoFit/>
          </a:bodyPr>
          <a:lstStyle/>
          <a:p>
            <a:r>
              <a:rPr lang="en-US" sz="2000" b="1">
                <a:solidFill>
                  <a:srgbClr val="C00000"/>
                </a:solidFill>
              </a:rPr>
              <a:t>67 + 12 = 79</a:t>
            </a:r>
          </a:p>
        </p:txBody>
      </p:sp>
      <p:sp>
        <p:nvSpPr>
          <p:cNvPr id="16" name="TextBox 15"/>
          <p:cNvSpPr txBox="1"/>
          <p:nvPr/>
        </p:nvSpPr>
        <p:spPr>
          <a:xfrm>
            <a:off x="2164351" y="3600766"/>
            <a:ext cx="470000" cy="400110"/>
          </a:xfrm>
          <a:prstGeom prst="rect">
            <a:avLst/>
          </a:prstGeom>
          <a:noFill/>
        </p:spPr>
        <p:txBody>
          <a:bodyPr wrap="none" rtlCol="0">
            <a:spAutoFit/>
          </a:bodyPr>
          <a:lstStyle/>
          <a:p>
            <a:r>
              <a:rPr lang="en-US" sz="2000" b="1">
                <a:solidFill>
                  <a:schemeClr val="accent6"/>
                </a:solidFill>
              </a:rPr>
              <a:t>79</a:t>
            </a:r>
          </a:p>
        </p:txBody>
      </p:sp>
      <p:sp>
        <p:nvSpPr>
          <p:cNvPr id="17" name="TextBox 16"/>
          <p:cNvSpPr txBox="1"/>
          <p:nvPr/>
        </p:nvSpPr>
        <p:spPr>
          <a:xfrm>
            <a:off x="6055277" y="5672967"/>
            <a:ext cx="1763624" cy="400110"/>
          </a:xfrm>
          <a:prstGeom prst="rect">
            <a:avLst/>
          </a:prstGeom>
          <a:noFill/>
        </p:spPr>
        <p:txBody>
          <a:bodyPr wrap="none" rtlCol="0">
            <a:spAutoFit/>
          </a:bodyPr>
          <a:lstStyle/>
          <a:p>
            <a:r>
              <a:rPr lang="en-US" sz="2000" b="1">
                <a:solidFill>
                  <a:srgbClr val="C00000"/>
                </a:solidFill>
              </a:rPr>
              <a:t>91 + 12 = 103</a:t>
            </a:r>
          </a:p>
        </p:txBody>
      </p:sp>
      <p:sp>
        <p:nvSpPr>
          <p:cNvPr id="18" name="TextBox 17"/>
          <p:cNvSpPr txBox="1"/>
          <p:nvPr/>
        </p:nvSpPr>
        <p:spPr>
          <a:xfrm>
            <a:off x="2165075" y="4109839"/>
            <a:ext cx="470000" cy="400110"/>
          </a:xfrm>
          <a:prstGeom prst="rect">
            <a:avLst/>
          </a:prstGeom>
          <a:noFill/>
        </p:spPr>
        <p:txBody>
          <a:bodyPr wrap="none" rtlCol="0">
            <a:spAutoFit/>
          </a:bodyPr>
          <a:lstStyle/>
          <a:p>
            <a:r>
              <a:rPr lang="en-US" sz="2000" b="1">
                <a:solidFill>
                  <a:schemeClr val="accent6"/>
                </a:solidFill>
              </a:rPr>
              <a:t>91</a:t>
            </a:r>
          </a:p>
        </p:txBody>
      </p:sp>
      <p:sp>
        <p:nvSpPr>
          <p:cNvPr id="19" name="TextBox 18"/>
          <p:cNvSpPr txBox="1"/>
          <p:nvPr/>
        </p:nvSpPr>
        <p:spPr>
          <a:xfrm>
            <a:off x="4008762" y="5674058"/>
            <a:ext cx="1620957" cy="400110"/>
          </a:xfrm>
          <a:prstGeom prst="rect">
            <a:avLst/>
          </a:prstGeom>
          <a:noFill/>
        </p:spPr>
        <p:txBody>
          <a:bodyPr wrap="none" rtlCol="0">
            <a:spAutoFit/>
          </a:bodyPr>
          <a:lstStyle/>
          <a:p>
            <a:r>
              <a:rPr lang="en-US" sz="2000" b="1">
                <a:solidFill>
                  <a:srgbClr val="C00000"/>
                </a:solidFill>
              </a:rPr>
              <a:t>79 + 12 = 91</a:t>
            </a:r>
          </a:p>
        </p:txBody>
      </p:sp>
      <p:sp>
        <p:nvSpPr>
          <p:cNvPr id="20" name="TextBox 19"/>
          <p:cNvSpPr txBox="1"/>
          <p:nvPr/>
        </p:nvSpPr>
        <p:spPr>
          <a:xfrm>
            <a:off x="2093017" y="4551168"/>
            <a:ext cx="612668" cy="400110"/>
          </a:xfrm>
          <a:prstGeom prst="rect">
            <a:avLst/>
          </a:prstGeom>
          <a:noFill/>
        </p:spPr>
        <p:txBody>
          <a:bodyPr wrap="none" rtlCol="0">
            <a:spAutoFit/>
          </a:bodyPr>
          <a:lstStyle/>
          <a:p>
            <a:r>
              <a:rPr lang="en-US" sz="2000" b="1">
                <a:solidFill>
                  <a:schemeClr val="accent6"/>
                </a:solidFill>
              </a:rPr>
              <a:t>103</a:t>
            </a:r>
          </a:p>
        </p:txBody>
      </p:sp>
      <p:sp>
        <p:nvSpPr>
          <p:cNvPr id="21" name="TextBox 20"/>
          <p:cNvSpPr txBox="1"/>
          <p:nvPr/>
        </p:nvSpPr>
        <p:spPr>
          <a:xfrm>
            <a:off x="8101791" y="5674058"/>
            <a:ext cx="1892121" cy="400110"/>
          </a:xfrm>
          <a:prstGeom prst="rect">
            <a:avLst/>
          </a:prstGeom>
          <a:noFill/>
        </p:spPr>
        <p:txBody>
          <a:bodyPr wrap="none" rtlCol="0">
            <a:spAutoFit/>
          </a:bodyPr>
          <a:lstStyle/>
          <a:p>
            <a:r>
              <a:rPr lang="en-US" sz="2000" b="1">
                <a:solidFill>
                  <a:srgbClr val="C00000"/>
                </a:solidFill>
              </a:rPr>
              <a:t>103 + 12 = 115</a:t>
            </a:r>
          </a:p>
        </p:txBody>
      </p:sp>
      <p:sp>
        <p:nvSpPr>
          <p:cNvPr id="22" name="TextBox 21"/>
          <p:cNvSpPr txBox="1"/>
          <p:nvPr/>
        </p:nvSpPr>
        <p:spPr>
          <a:xfrm>
            <a:off x="2093017" y="5042963"/>
            <a:ext cx="598497" cy="400110"/>
          </a:xfrm>
          <a:prstGeom prst="rect">
            <a:avLst/>
          </a:prstGeom>
          <a:noFill/>
        </p:spPr>
        <p:txBody>
          <a:bodyPr wrap="none" rtlCol="0">
            <a:spAutoFit/>
          </a:bodyPr>
          <a:lstStyle/>
          <a:p>
            <a:r>
              <a:rPr lang="en-US" sz="2000" b="1">
                <a:solidFill>
                  <a:schemeClr val="accent6"/>
                </a:solidFill>
              </a:rPr>
              <a:t>115</a:t>
            </a:r>
          </a:p>
        </p:txBody>
      </p:sp>
      <p:sp>
        <p:nvSpPr>
          <p:cNvPr id="24" name="TextBox 23"/>
          <p:cNvSpPr txBox="1"/>
          <p:nvPr/>
        </p:nvSpPr>
        <p:spPr>
          <a:xfrm>
            <a:off x="2634351" y="3188571"/>
            <a:ext cx="625492" cy="400110"/>
          </a:xfrm>
          <a:prstGeom prst="rect">
            <a:avLst/>
          </a:prstGeom>
          <a:noFill/>
        </p:spPr>
        <p:txBody>
          <a:bodyPr wrap="none" rtlCol="0">
            <a:spAutoFit/>
          </a:bodyPr>
          <a:lstStyle/>
          <a:p>
            <a:r>
              <a:rPr lang="en-US" sz="2000" b="1">
                <a:solidFill>
                  <a:schemeClr val="accent6"/>
                </a:solidFill>
              </a:rPr>
              <a:t>- 78</a:t>
            </a:r>
          </a:p>
        </p:txBody>
      </p:sp>
      <p:sp>
        <p:nvSpPr>
          <p:cNvPr id="25" name="TextBox 24"/>
          <p:cNvSpPr txBox="1"/>
          <p:nvPr/>
        </p:nvSpPr>
        <p:spPr>
          <a:xfrm>
            <a:off x="2629884" y="3636067"/>
            <a:ext cx="625492" cy="400110"/>
          </a:xfrm>
          <a:prstGeom prst="rect">
            <a:avLst/>
          </a:prstGeom>
          <a:noFill/>
        </p:spPr>
        <p:txBody>
          <a:bodyPr wrap="none" rtlCol="0">
            <a:spAutoFit/>
          </a:bodyPr>
          <a:lstStyle/>
          <a:p>
            <a:r>
              <a:rPr lang="en-US" sz="2000" b="1">
                <a:solidFill>
                  <a:schemeClr val="accent6"/>
                </a:solidFill>
              </a:rPr>
              <a:t>- 90</a:t>
            </a:r>
          </a:p>
        </p:txBody>
      </p:sp>
      <p:sp>
        <p:nvSpPr>
          <p:cNvPr id="26" name="TextBox 25"/>
          <p:cNvSpPr txBox="1"/>
          <p:nvPr/>
        </p:nvSpPr>
        <p:spPr>
          <a:xfrm>
            <a:off x="2629884" y="4137566"/>
            <a:ext cx="768159" cy="400110"/>
          </a:xfrm>
          <a:prstGeom prst="rect">
            <a:avLst/>
          </a:prstGeom>
          <a:noFill/>
        </p:spPr>
        <p:txBody>
          <a:bodyPr wrap="none" rtlCol="0">
            <a:spAutoFit/>
          </a:bodyPr>
          <a:lstStyle/>
          <a:p>
            <a:r>
              <a:rPr lang="en-US" sz="2000" b="1">
                <a:solidFill>
                  <a:schemeClr val="accent6"/>
                </a:solidFill>
              </a:rPr>
              <a:t>- 102</a:t>
            </a:r>
          </a:p>
        </p:txBody>
      </p:sp>
      <p:sp>
        <p:nvSpPr>
          <p:cNvPr id="27" name="TextBox 26"/>
          <p:cNvSpPr txBox="1"/>
          <p:nvPr/>
        </p:nvSpPr>
        <p:spPr>
          <a:xfrm>
            <a:off x="2645630" y="4575324"/>
            <a:ext cx="753989" cy="400110"/>
          </a:xfrm>
          <a:prstGeom prst="rect">
            <a:avLst/>
          </a:prstGeom>
          <a:noFill/>
        </p:spPr>
        <p:txBody>
          <a:bodyPr wrap="none" rtlCol="0">
            <a:spAutoFit/>
          </a:bodyPr>
          <a:lstStyle/>
          <a:p>
            <a:r>
              <a:rPr lang="en-US" sz="2000" b="1">
                <a:solidFill>
                  <a:schemeClr val="accent6"/>
                </a:solidFill>
              </a:rPr>
              <a:t>- 114</a:t>
            </a:r>
          </a:p>
        </p:txBody>
      </p:sp>
      <p:sp>
        <p:nvSpPr>
          <p:cNvPr id="28" name="TextBox 27"/>
          <p:cNvSpPr txBox="1"/>
          <p:nvPr/>
        </p:nvSpPr>
        <p:spPr>
          <a:xfrm>
            <a:off x="2661376" y="5026595"/>
            <a:ext cx="768159" cy="400110"/>
          </a:xfrm>
          <a:prstGeom prst="rect">
            <a:avLst/>
          </a:prstGeom>
          <a:noFill/>
        </p:spPr>
        <p:txBody>
          <a:bodyPr wrap="none" rtlCol="0">
            <a:spAutoFit/>
          </a:bodyPr>
          <a:lstStyle/>
          <a:p>
            <a:r>
              <a:rPr lang="en-US" sz="2000" b="1">
                <a:solidFill>
                  <a:schemeClr val="accent6"/>
                </a:solidFill>
              </a:rPr>
              <a:t>- 126</a:t>
            </a:r>
          </a:p>
        </p:txBody>
      </p:sp>
    </p:spTree>
    <p:extLst>
      <p:ext uri="{BB962C8B-B14F-4D97-AF65-F5344CB8AC3E}">
        <p14:creationId xmlns:p14="http://schemas.microsoft.com/office/powerpoint/2010/main" val="108896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wipe(left)">
                                      <p:cBhvr>
                                        <p:cTn id="12" dur="500"/>
                                        <p:tgtEl>
                                          <p:spTgt spid="1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left)">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left)">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wipe(left)">
                                      <p:cBhvr>
                                        <p:cTn id="47" dur="500"/>
                                        <p:tgtEl>
                                          <p:spTgt spid="2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wipe(left)">
                                      <p:cBhvr>
                                        <p:cTn id="52" dur="500"/>
                                        <p:tgtEl>
                                          <p:spTgt spid="2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wipe(left)">
                                      <p:cBhvr>
                                        <p:cTn id="57" dur="500"/>
                                        <p:tgtEl>
                                          <p:spTgt spid="2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wipe(left)">
                                      <p:cBhvr>
                                        <p:cTn id="62" dur="500"/>
                                        <p:tgtEl>
                                          <p:spTgt spid="2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wipe(left)">
                                      <p:cBhvr>
                                        <p:cTn id="67" dur="500"/>
                                        <p:tgtEl>
                                          <p:spTgt spid="25"/>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wipe(left)">
                                      <p:cBhvr>
                                        <p:cTn id="72" dur="500"/>
                                        <p:tgtEl>
                                          <p:spTgt spid="26"/>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wipe(left)">
                                      <p:cBhvr>
                                        <p:cTn id="77" dur="500"/>
                                        <p:tgtEl>
                                          <p:spTgt spid="27"/>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wipe(left)">
                                      <p:cBhvr>
                                        <p:cTn id="8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p:bldP spid="15" grpId="0"/>
      <p:bldP spid="16" grpId="0"/>
      <p:bldP spid="17" grpId="0"/>
      <p:bldP spid="18" grpId="0"/>
      <p:bldP spid="19" grpId="0"/>
      <p:bldP spid="20" grpId="0"/>
      <p:bldP spid="21" grpId="0"/>
      <p:bldP spid="22" grpId="0"/>
      <p:bldP spid="24" grpId="0"/>
      <p:bldP spid="25" grpId="0"/>
      <p:bldP spid="26" grpId="0"/>
      <p:bldP spid="27" grpId="0"/>
      <p:bldP spid="2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753237" y="289825"/>
            <a:ext cx="8833215" cy="481315"/>
          </a:xfrm>
        </p:spPr>
        <p:txBody>
          <a:bodyPr vert="horz" lIns="92075" tIns="46038" rIns="92075" bIns="46038" rtlCol="0" anchor="b">
            <a:noAutofit/>
          </a:bodyPr>
          <a:lstStyle/>
          <a:p>
            <a:pPr eaLnBrk="1" fontAlgn="auto" hangingPunct="1">
              <a:spcAft>
                <a:spcPts val="0"/>
              </a:spcAft>
              <a:defRPr/>
            </a:pPr>
            <a:r>
              <a:rPr lang="en-US" sz="2800" b="1">
                <a:solidFill>
                  <a:srgbClr val="C00000"/>
                </a:solidFill>
                <a:latin typeface="+mj-lt"/>
                <a:cs typeface="Calibri" panose="020F0502020204030204" pitchFamily="34" charset="0"/>
              </a:rPr>
              <a:t>Example 1:</a:t>
            </a:r>
            <a:r>
              <a:rPr lang="en-US" sz="2800" b="1">
                <a:solidFill>
                  <a:srgbClr val="002060"/>
                </a:solidFill>
                <a:latin typeface="+mj-lt"/>
                <a:cs typeface="Calibri" panose="020F0502020204030204" pitchFamily="34" charset="0"/>
              </a:rPr>
              <a:t> Grouped Frequency Distribution</a:t>
            </a:r>
            <a:endParaRPr lang="en-US" sz="2800">
              <a:solidFill>
                <a:srgbClr val="0070C0"/>
              </a:solidFill>
              <a:latin typeface="+mj-lt"/>
            </a:endParaRPr>
          </a:p>
        </p:txBody>
      </p:sp>
      <p:sp>
        <p:nvSpPr>
          <p:cNvPr id="3" name="Text Box 60"/>
          <p:cNvSpPr txBox="1">
            <a:spLocks noChangeArrowheads="1"/>
          </p:cNvSpPr>
          <p:nvPr/>
        </p:nvSpPr>
        <p:spPr bwMode="auto">
          <a:xfrm>
            <a:off x="887704" y="1048722"/>
            <a:ext cx="3055031" cy="830997"/>
          </a:xfrm>
          <a:prstGeom prst="rect">
            <a:avLst/>
          </a:prstGeom>
          <a:solidFill>
            <a:srgbClr val="FFD961"/>
          </a:solidFill>
          <a:ln>
            <a:noFill/>
          </a:ln>
        </p:spPr>
        <p:txBody>
          <a:bodyPr wrap="square">
            <a:spAutoFit/>
          </a:bodyPr>
          <a:lstStyle>
            <a:defPPr>
              <a:defRPr lang="en-US"/>
            </a:defPPr>
            <a:lvl1pPr>
              <a:spcBef>
                <a:spcPct val="10000"/>
              </a:spcBef>
              <a:buClr>
                <a:schemeClr val="bg2"/>
              </a:buClr>
              <a:buFont typeface="Monotype Sorts" pitchFamily="2" charset="2"/>
              <a:buNone/>
              <a:defRPr sz="2400" b="1">
                <a:solidFill>
                  <a:schemeClr val="accent6"/>
                </a:solidFill>
                <a:latin typeface="Calibri" pitchFamily="34" charset="0"/>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0"/>
              </a:spcBef>
              <a:spcAft>
                <a:spcPct val="0"/>
              </a:spcAft>
              <a:defRPr>
                <a:latin typeface="Arial" charset="0"/>
              </a:defRPr>
            </a:lvl6pPr>
            <a:lvl7pPr marL="2971800" indent="-228600" eaLnBrk="0" fontAlgn="base" hangingPunct="0">
              <a:spcBef>
                <a:spcPct val="0"/>
              </a:spcBef>
              <a:spcAft>
                <a:spcPct val="0"/>
              </a:spcAft>
              <a:defRPr>
                <a:latin typeface="Arial" charset="0"/>
              </a:defRPr>
            </a:lvl7pPr>
            <a:lvl8pPr marL="3429000" indent="-228600" eaLnBrk="0" fontAlgn="base" hangingPunct="0">
              <a:spcBef>
                <a:spcPct val="0"/>
              </a:spcBef>
              <a:spcAft>
                <a:spcPct val="0"/>
              </a:spcAft>
              <a:defRPr>
                <a:latin typeface="Arial" charset="0"/>
              </a:defRPr>
            </a:lvl8pPr>
            <a:lvl9pPr marL="3886200" indent="-228600" eaLnBrk="0" fontAlgn="base" hangingPunct="0">
              <a:spcBef>
                <a:spcPct val="0"/>
              </a:spcBef>
              <a:spcAft>
                <a:spcPct val="0"/>
              </a:spcAft>
              <a:defRPr>
                <a:latin typeface="Arial" charset="0"/>
              </a:defRPr>
            </a:lvl9pPr>
          </a:lstStyle>
          <a:p>
            <a:pPr marL="344488" indent="-344488" algn="just"/>
            <a:r>
              <a:rPr lang="en-US"/>
              <a:t>4. Construct the class boundaries</a:t>
            </a:r>
          </a:p>
        </p:txBody>
      </p:sp>
      <p:sp>
        <p:nvSpPr>
          <p:cNvPr id="5" name="Flowchart: Alternate Process 4"/>
          <p:cNvSpPr/>
          <p:nvPr/>
        </p:nvSpPr>
        <p:spPr>
          <a:xfrm>
            <a:off x="4426965" y="1048722"/>
            <a:ext cx="7461112" cy="850604"/>
          </a:xfrm>
          <a:prstGeom prst="flowChartAlternateProcess">
            <a:avLst/>
          </a:prstGeom>
          <a:solidFill>
            <a:srgbClr val="00B050"/>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bg2"/>
                </a:solidFill>
              </a:rPr>
              <a:t>Lower Class Boundary= Lower class limit – 0.5</a:t>
            </a:r>
          </a:p>
          <a:p>
            <a:pPr algn="ctr"/>
            <a:r>
              <a:rPr lang="en-US" sz="2400" b="1">
                <a:solidFill>
                  <a:schemeClr val="bg2"/>
                </a:solidFill>
              </a:rPr>
              <a:t>Upper Class Boundary= Upper class limit + 0.5</a:t>
            </a:r>
            <a:endParaRPr lang="en-US" sz="2400">
              <a:solidFill>
                <a:schemeClr val="bg2"/>
              </a:solidFill>
            </a:endParaRPr>
          </a:p>
        </p:txBody>
      </p:sp>
      <p:graphicFrame>
        <p:nvGraphicFramePr>
          <p:cNvPr id="8" name="Table 7"/>
          <p:cNvGraphicFramePr>
            <a:graphicFrameLocks noGrp="1"/>
          </p:cNvGraphicFramePr>
          <p:nvPr>
            <p:extLst>
              <p:ext uri="{D42A27DB-BD31-4B8C-83A1-F6EECF244321}">
                <p14:modId xmlns:p14="http://schemas.microsoft.com/office/powerpoint/2010/main" val="3227844799"/>
              </p:ext>
            </p:extLst>
          </p:nvPr>
        </p:nvGraphicFramePr>
        <p:xfrm>
          <a:off x="1835095" y="2482230"/>
          <a:ext cx="8660199" cy="2837293"/>
        </p:xfrm>
        <a:graphic>
          <a:graphicData uri="http://schemas.openxmlformats.org/drawingml/2006/table">
            <a:tbl>
              <a:tblPr firstRow="1" bandRow="1">
                <a:tableStyleId>{5940675A-B579-460E-94D1-54222C63F5DA}</a:tableStyleId>
              </a:tblPr>
              <a:tblGrid>
                <a:gridCol w="2387766">
                  <a:extLst>
                    <a:ext uri="{9D8B030D-6E8A-4147-A177-3AD203B41FA5}">
                      <a16:colId xmlns:a16="http://schemas.microsoft.com/office/drawing/2014/main" val="3861671775"/>
                    </a:ext>
                  </a:extLst>
                </a:gridCol>
                <a:gridCol w="2602750">
                  <a:extLst>
                    <a:ext uri="{9D8B030D-6E8A-4147-A177-3AD203B41FA5}">
                      <a16:colId xmlns:a16="http://schemas.microsoft.com/office/drawing/2014/main" val="2647796143"/>
                    </a:ext>
                  </a:extLst>
                </a:gridCol>
                <a:gridCol w="1896411">
                  <a:extLst>
                    <a:ext uri="{9D8B030D-6E8A-4147-A177-3AD203B41FA5}">
                      <a16:colId xmlns:a16="http://schemas.microsoft.com/office/drawing/2014/main" val="802288398"/>
                    </a:ext>
                  </a:extLst>
                </a:gridCol>
                <a:gridCol w="1773272">
                  <a:extLst>
                    <a:ext uri="{9D8B030D-6E8A-4147-A177-3AD203B41FA5}">
                      <a16:colId xmlns:a16="http://schemas.microsoft.com/office/drawing/2014/main" val="3503537700"/>
                    </a:ext>
                  </a:extLst>
                </a:gridCol>
              </a:tblGrid>
              <a:tr h="494088">
                <a:tc>
                  <a:txBody>
                    <a:bodyPr/>
                    <a:lstStyle/>
                    <a:p>
                      <a:pPr algn="ctr"/>
                      <a:r>
                        <a:rPr lang="en-US" sz="1600" b="1">
                          <a:solidFill>
                            <a:schemeClr val="accent6"/>
                          </a:solidFill>
                        </a:rPr>
                        <a:t>Class Limits</a:t>
                      </a:r>
                    </a:p>
                  </a:txBody>
                  <a:tcPr anchor="ct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solidFill>
                      <a:schemeClr val="accent4">
                        <a:lumMod val="40000"/>
                        <a:lumOff val="60000"/>
                      </a:schemeClr>
                    </a:solidFill>
                  </a:tcPr>
                </a:tc>
                <a:tc>
                  <a:txBody>
                    <a:bodyPr/>
                    <a:lstStyle/>
                    <a:p>
                      <a:pPr algn="ctr"/>
                      <a:r>
                        <a:rPr lang="en-US" sz="1600" b="1">
                          <a:solidFill>
                            <a:schemeClr val="accent6"/>
                          </a:solidFill>
                        </a:rPr>
                        <a:t>Class Boundaries</a:t>
                      </a:r>
                    </a:p>
                  </a:txBody>
                  <a:tcPr anchor="ct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solidFill>
                      <a:schemeClr val="accent4">
                        <a:lumMod val="40000"/>
                        <a:lumOff val="60000"/>
                      </a:schemeClr>
                    </a:solidFill>
                  </a:tcPr>
                </a:tc>
                <a:tc>
                  <a:txBody>
                    <a:bodyPr/>
                    <a:lstStyle/>
                    <a:p>
                      <a:pPr algn="ctr"/>
                      <a:r>
                        <a:rPr lang="en-US" sz="1600" b="1">
                          <a:solidFill>
                            <a:schemeClr val="accent6"/>
                          </a:solidFill>
                        </a:rPr>
                        <a:t>Tally</a:t>
                      </a:r>
                    </a:p>
                  </a:txBody>
                  <a:tcPr anchor="ct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solidFill>
                      <a:schemeClr val="accent4">
                        <a:lumMod val="40000"/>
                        <a:lumOff val="60000"/>
                      </a:schemeClr>
                    </a:solidFill>
                  </a:tcPr>
                </a:tc>
                <a:tc>
                  <a:txBody>
                    <a:bodyPr/>
                    <a:lstStyle/>
                    <a:p>
                      <a:pPr algn="ctr"/>
                      <a:r>
                        <a:rPr lang="en-US" sz="1600" b="1">
                          <a:solidFill>
                            <a:schemeClr val="accent6"/>
                          </a:solidFill>
                        </a:rPr>
                        <a:t>Frequency</a:t>
                      </a:r>
                    </a:p>
                  </a:txBody>
                  <a:tcPr anchor="ct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176976831"/>
                  </a:ext>
                </a:extLst>
              </a:tr>
              <a:tr h="468641">
                <a:tc>
                  <a:txBody>
                    <a:bodyPr/>
                    <a:lstStyle/>
                    <a:p>
                      <a:pPr algn="ctr"/>
                      <a:r>
                        <a:rPr lang="en-US" b="1">
                          <a:solidFill>
                            <a:schemeClr val="accent6"/>
                          </a:solidFill>
                        </a:rPr>
                        <a:t>67 – 78 </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extLst>
                  <a:ext uri="{0D108BD9-81ED-4DB2-BD59-A6C34878D82A}">
                    <a16:rowId xmlns:a16="http://schemas.microsoft.com/office/drawing/2014/main" val="1636605561"/>
                  </a:ext>
                </a:extLst>
              </a:tr>
              <a:tr h="468641">
                <a:tc>
                  <a:txBody>
                    <a:bodyPr/>
                    <a:lstStyle/>
                    <a:p>
                      <a:pPr algn="ctr"/>
                      <a:r>
                        <a:rPr lang="en-US" b="1">
                          <a:solidFill>
                            <a:schemeClr val="accent6"/>
                          </a:solidFill>
                        </a:rPr>
                        <a:t>79 – 90 </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extLst>
                  <a:ext uri="{0D108BD9-81ED-4DB2-BD59-A6C34878D82A}">
                    <a16:rowId xmlns:a16="http://schemas.microsoft.com/office/drawing/2014/main" val="2555308432"/>
                  </a:ext>
                </a:extLst>
              </a:tr>
              <a:tr h="468641">
                <a:tc>
                  <a:txBody>
                    <a:bodyPr/>
                    <a:lstStyle/>
                    <a:p>
                      <a:pPr algn="ctr"/>
                      <a:r>
                        <a:rPr lang="en-US" b="1">
                          <a:solidFill>
                            <a:schemeClr val="accent6"/>
                          </a:solidFill>
                        </a:rPr>
                        <a:t>91 – 102 </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extLst>
                  <a:ext uri="{0D108BD9-81ED-4DB2-BD59-A6C34878D82A}">
                    <a16:rowId xmlns:a16="http://schemas.microsoft.com/office/drawing/2014/main" val="1472976407"/>
                  </a:ext>
                </a:extLst>
              </a:tr>
              <a:tr h="468641">
                <a:tc>
                  <a:txBody>
                    <a:bodyPr/>
                    <a:lstStyle/>
                    <a:p>
                      <a:pPr algn="ctr"/>
                      <a:r>
                        <a:rPr lang="en-US" b="1">
                          <a:solidFill>
                            <a:schemeClr val="accent6"/>
                          </a:solidFill>
                        </a:rPr>
                        <a:t>103 – 114 </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extLst>
                  <a:ext uri="{0D108BD9-81ED-4DB2-BD59-A6C34878D82A}">
                    <a16:rowId xmlns:a16="http://schemas.microsoft.com/office/drawing/2014/main" val="2306718235"/>
                  </a:ext>
                </a:extLst>
              </a:tr>
              <a:tr h="468641">
                <a:tc>
                  <a:txBody>
                    <a:bodyPr/>
                    <a:lstStyle/>
                    <a:p>
                      <a:pPr algn="ctr"/>
                      <a:r>
                        <a:rPr lang="en-US" b="1">
                          <a:solidFill>
                            <a:schemeClr val="accent6"/>
                          </a:solidFill>
                        </a:rPr>
                        <a:t>115 – 126 </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extLst>
                  <a:ext uri="{0D108BD9-81ED-4DB2-BD59-A6C34878D82A}">
                    <a16:rowId xmlns:a16="http://schemas.microsoft.com/office/drawing/2014/main" val="3138924514"/>
                  </a:ext>
                </a:extLst>
              </a:tr>
            </a:tbl>
          </a:graphicData>
        </a:graphic>
      </p:graphicFrame>
      <p:sp>
        <p:nvSpPr>
          <p:cNvPr id="10" name="TextBox 9"/>
          <p:cNvSpPr txBox="1"/>
          <p:nvPr/>
        </p:nvSpPr>
        <p:spPr>
          <a:xfrm>
            <a:off x="4809952" y="3026951"/>
            <a:ext cx="1465466" cy="400110"/>
          </a:xfrm>
          <a:prstGeom prst="rect">
            <a:avLst/>
          </a:prstGeom>
          <a:noFill/>
        </p:spPr>
        <p:txBody>
          <a:bodyPr wrap="none" rtlCol="0">
            <a:spAutoFit/>
          </a:bodyPr>
          <a:lstStyle/>
          <a:p>
            <a:r>
              <a:rPr lang="en-US" sz="2000" b="1">
                <a:solidFill>
                  <a:schemeClr val="accent6"/>
                </a:solidFill>
              </a:rPr>
              <a:t>66.5 – 78.5</a:t>
            </a:r>
          </a:p>
        </p:txBody>
      </p:sp>
      <p:sp>
        <p:nvSpPr>
          <p:cNvPr id="11" name="TextBox 10"/>
          <p:cNvSpPr txBox="1"/>
          <p:nvPr/>
        </p:nvSpPr>
        <p:spPr>
          <a:xfrm>
            <a:off x="4809952" y="3466909"/>
            <a:ext cx="1465466" cy="400110"/>
          </a:xfrm>
          <a:prstGeom prst="rect">
            <a:avLst/>
          </a:prstGeom>
          <a:noFill/>
        </p:spPr>
        <p:txBody>
          <a:bodyPr wrap="none" rtlCol="0">
            <a:spAutoFit/>
          </a:bodyPr>
          <a:lstStyle/>
          <a:p>
            <a:r>
              <a:rPr lang="en-US" sz="2000" b="1">
                <a:solidFill>
                  <a:schemeClr val="accent6"/>
                </a:solidFill>
              </a:rPr>
              <a:t>78.5 – 90.5</a:t>
            </a:r>
          </a:p>
        </p:txBody>
      </p:sp>
      <p:sp>
        <p:nvSpPr>
          <p:cNvPr id="12" name="TextBox 11"/>
          <p:cNvSpPr txBox="1"/>
          <p:nvPr/>
        </p:nvSpPr>
        <p:spPr>
          <a:xfrm>
            <a:off x="4800488" y="3906867"/>
            <a:ext cx="1608133" cy="400110"/>
          </a:xfrm>
          <a:prstGeom prst="rect">
            <a:avLst/>
          </a:prstGeom>
          <a:noFill/>
        </p:spPr>
        <p:txBody>
          <a:bodyPr wrap="none" rtlCol="0">
            <a:spAutoFit/>
          </a:bodyPr>
          <a:lstStyle/>
          <a:p>
            <a:r>
              <a:rPr lang="en-US" sz="2000" b="1">
                <a:solidFill>
                  <a:schemeClr val="accent6"/>
                </a:solidFill>
              </a:rPr>
              <a:t>90.5 – 102.5</a:t>
            </a:r>
          </a:p>
        </p:txBody>
      </p:sp>
      <p:sp>
        <p:nvSpPr>
          <p:cNvPr id="13" name="TextBox 12"/>
          <p:cNvSpPr txBox="1"/>
          <p:nvPr/>
        </p:nvSpPr>
        <p:spPr>
          <a:xfrm>
            <a:off x="4770624" y="4413140"/>
            <a:ext cx="1736629" cy="400110"/>
          </a:xfrm>
          <a:prstGeom prst="rect">
            <a:avLst/>
          </a:prstGeom>
          <a:noFill/>
        </p:spPr>
        <p:txBody>
          <a:bodyPr wrap="none" rtlCol="0">
            <a:spAutoFit/>
          </a:bodyPr>
          <a:lstStyle/>
          <a:p>
            <a:r>
              <a:rPr lang="en-US" sz="2000" b="1">
                <a:solidFill>
                  <a:schemeClr val="accent6"/>
                </a:solidFill>
              </a:rPr>
              <a:t>102.5 – 114.5</a:t>
            </a:r>
          </a:p>
        </p:txBody>
      </p:sp>
      <p:sp>
        <p:nvSpPr>
          <p:cNvPr id="14" name="TextBox 13"/>
          <p:cNvSpPr txBox="1"/>
          <p:nvPr/>
        </p:nvSpPr>
        <p:spPr>
          <a:xfrm>
            <a:off x="4768089" y="4889881"/>
            <a:ext cx="1736629" cy="400110"/>
          </a:xfrm>
          <a:prstGeom prst="rect">
            <a:avLst/>
          </a:prstGeom>
          <a:noFill/>
        </p:spPr>
        <p:txBody>
          <a:bodyPr wrap="none" rtlCol="0">
            <a:spAutoFit/>
          </a:bodyPr>
          <a:lstStyle/>
          <a:p>
            <a:r>
              <a:rPr lang="en-US" sz="2000" b="1">
                <a:solidFill>
                  <a:schemeClr val="accent6"/>
                </a:solidFill>
              </a:rPr>
              <a:t>114.5 – 126.5</a:t>
            </a:r>
          </a:p>
        </p:txBody>
      </p:sp>
    </p:spTree>
    <p:extLst>
      <p:ext uri="{BB962C8B-B14F-4D97-AF65-F5344CB8AC3E}">
        <p14:creationId xmlns:p14="http://schemas.microsoft.com/office/powerpoint/2010/main" val="2566687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left)">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left)">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left)">
                                      <p:cBhvr>
                                        <p:cTn id="3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10" grpId="0"/>
      <p:bldP spid="11" grpId="0"/>
      <p:bldP spid="12" grpId="0"/>
      <p:bldP spid="13" grpId="0"/>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753237" y="289825"/>
            <a:ext cx="8833215" cy="481315"/>
          </a:xfrm>
        </p:spPr>
        <p:txBody>
          <a:bodyPr vert="horz" lIns="92075" tIns="46038" rIns="92075" bIns="46038" rtlCol="0" anchor="b">
            <a:noAutofit/>
          </a:bodyPr>
          <a:lstStyle/>
          <a:p>
            <a:pPr eaLnBrk="1" fontAlgn="auto" hangingPunct="1">
              <a:spcAft>
                <a:spcPts val="0"/>
              </a:spcAft>
              <a:defRPr/>
            </a:pPr>
            <a:r>
              <a:rPr lang="en-US" sz="2800" b="1">
                <a:solidFill>
                  <a:srgbClr val="C00000"/>
                </a:solidFill>
                <a:latin typeface="+mj-lt"/>
                <a:cs typeface="Calibri" panose="020F0502020204030204" pitchFamily="34" charset="0"/>
              </a:rPr>
              <a:t>Example 1:</a:t>
            </a:r>
            <a:r>
              <a:rPr lang="en-US" sz="2800" b="1">
                <a:solidFill>
                  <a:srgbClr val="002060"/>
                </a:solidFill>
                <a:latin typeface="+mj-lt"/>
                <a:cs typeface="Calibri" panose="020F0502020204030204" pitchFamily="34" charset="0"/>
              </a:rPr>
              <a:t> Grouped Frequency Distribution</a:t>
            </a:r>
            <a:endParaRPr lang="en-US" sz="2800">
              <a:solidFill>
                <a:srgbClr val="0070C0"/>
              </a:solidFill>
              <a:latin typeface="+mj-lt"/>
            </a:endParaRPr>
          </a:p>
        </p:txBody>
      </p:sp>
      <p:sp>
        <p:nvSpPr>
          <p:cNvPr id="3" name="Text Box 60"/>
          <p:cNvSpPr txBox="1">
            <a:spLocks noChangeArrowheads="1"/>
          </p:cNvSpPr>
          <p:nvPr/>
        </p:nvSpPr>
        <p:spPr bwMode="auto">
          <a:xfrm>
            <a:off x="753237" y="858412"/>
            <a:ext cx="4756012" cy="830997"/>
          </a:xfrm>
          <a:prstGeom prst="rect">
            <a:avLst/>
          </a:prstGeom>
          <a:solidFill>
            <a:srgbClr val="FFD961"/>
          </a:solidFill>
          <a:ln>
            <a:noFill/>
          </a:ln>
        </p:spPr>
        <p:txBody>
          <a:bodyPr wrap="square">
            <a:spAutoFit/>
          </a:bodyPr>
          <a:lstStyle>
            <a:defPPr>
              <a:defRPr lang="en-US"/>
            </a:defPPr>
            <a:lvl1pPr>
              <a:spcBef>
                <a:spcPct val="10000"/>
              </a:spcBef>
              <a:buClr>
                <a:schemeClr val="bg2"/>
              </a:buClr>
              <a:buFont typeface="Monotype Sorts" pitchFamily="2" charset="2"/>
              <a:buNone/>
              <a:defRPr sz="2400" b="1">
                <a:solidFill>
                  <a:schemeClr val="accent6"/>
                </a:solidFill>
                <a:latin typeface="Calibri" pitchFamily="34" charset="0"/>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0"/>
              </a:spcBef>
              <a:spcAft>
                <a:spcPct val="0"/>
              </a:spcAft>
              <a:defRPr>
                <a:latin typeface="Arial" charset="0"/>
              </a:defRPr>
            </a:lvl6pPr>
            <a:lvl7pPr marL="2971800" indent="-228600" eaLnBrk="0" fontAlgn="base" hangingPunct="0">
              <a:spcBef>
                <a:spcPct val="0"/>
              </a:spcBef>
              <a:spcAft>
                <a:spcPct val="0"/>
              </a:spcAft>
              <a:defRPr>
                <a:latin typeface="Arial" charset="0"/>
              </a:defRPr>
            </a:lvl7pPr>
            <a:lvl8pPr marL="3429000" indent="-228600" eaLnBrk="0" fontAlgn="base" hangingPunct="0">
              <a:spcBef>
                <a:spcPct val="0"/>
              </a:spcBef>
              <a:spcAft>
                <a:spcPct val="0"/>
              </a:spcAft>
              <a:defRPr>
                <a:latin typeface="Arial" charset="0"/>
              </a:defRPr>
            </a:lvl8pPr>
            <a:lvl9pPr marL="3886200" indent="-228600" eaLnBrk="0" fontAlgn="base" hangingPunct="0">
              <a:spcBef>
                <a:spcPct val="0"/>
              </a:spcBef>
              <a:spcAft>
                <a:spcPct val="0"/>
              </a:spcAft>
              <a:defRPr>
                <a:latin typeface="Arial" charset="0"/>
              </a:defRPr>
            </a:lvl9pPr>
          </a:lstStyle>
          <a:p>
            <a:pPr marL="285750" indent="-285750" algn="just"/>
            <a:r>
              <a:rPr lang="en-US"/>
              <a:t>5. Mark a tally I  to the appropriate class for each data value. </a:t>
            </a:r>
          </a:p>
        </p:txBody>
      </p:sp>
      <p:graphicFrame>
        <p:nvGraphicFramePr>
          <p:cNvPr id="8" name="Table 7"/>
          <p:cNvGraphicFramePr>
            <a:graphicFrameLocks noGrp="1"/>
          </p:cNvGraphicFramePr>
          <p:nvPr>
            <p:extLst>
              <p:ext uri="{D42A27DB-BD31-4B8C-83A1-F6EECF244321}">
                <p14:modId xmlns:p14="http://schemas.microsoft.com/office/powerpoint/2010/main" val="1741756052"/>
              </p:ext>
            </p:extLst>
          </p:nvPr>
        </p:nvGraphicFramePr>
        <p:xfrm>
          <a:off x="1179149" y="3199986"/>
          <a:ext cx="8660199" cy="2837293"/>
        </p:xfrm>
        <a:graphic>
          <a:graphicData uri="http://schemas.openxmlformats.org/drawingml/2006/table">
            <a:tbl>
              <a:tblPr firstRow="1" bandRow="1">
                <a:tableStyleId>{5940675A-B579-460E-94D1-54222C63F5DA}</a:tableStyleId>
              </a:tblPr>
              <a:tblGrid>
                <a:gridCol w="2387766">
                  <a:extLst>
                    <a:ext uri="{9D8B030D-6E8A-4147-A177-3AD203B41FA5}">
                      <a16:colId xmlns:a16="http://schemas.microsoft.com/office/drawing/2014/main" val="3861671775"/>
                    </a:ext>
                  </a:extLst>
                </a:gridCol>
                <a:gridCol w="2602750">
                  <a:extLst>
                    <a:ext uri="{9D8B030D-6E8A-4147-A177-3AD203B41FA5}">
                      <a16:colId xmlns:a16="http://schemas.microsoft.com/office/drawing/2014/main" val="2647796143"/>
                    </a:ext>
                  </a:extLst>
                </a:gridCol>
                <a:gridCol w="1896411">
                  <a:extLst>
                    <a:ext uri="{9D8B030D-6E8A-4147-A177-3AD203B41FA5}">
                      <a16:colId xmlns:a16="http://schemas.microsoft.com/office/drawing/2014/main" val="802288398"/>
                    </a:ext>
                  </a:extLst>
                </a:gridCol>
                <a:gridCol w="1773272">
                  <a:extLst>
                    <a:ext uri="{9D8B030D-6E8A-4147-A177-3AD203B41FA5}">
                      <a16:colId xmlns:a16="http://schemas.microsoft.com/office/drawing/2014/main" val="3503537700"/>
                    </a:ext>
                  </a:extLst>
                </a:gridCol>
              </a:tblGrid>
              <a:tr h="494088">
                <a:tc>
                  <a:txBody>
                    <a:bodyPr/>
                    <a:lstStyle/>
                    <a:p>
                      <a:pPr algn="ctr"/>
                      <a:r>
                        <a:rPr lang="en-US" sz="1600" b="1">
                          <a:solidFill>
                            <a:schemeClr val="accent6"/>
                          </a:solidFill>
                        </a:rPr>
                        <a:t>Class Limits</a:t>
                      </a:r>
                    </a:p>
                  </a:txBody>
                  <a:tcPr anchor="ct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solidFill>
                      <a:schemeClr val="accent4">
                        <a:lumMod val="40000"/>
                        <a:lumOff val="60000"/>
                      </a:schemeClr>
                    </a:solidFill>
                  </a:tcPr>
                </a:tc>
                <a:tc>
                  <a:txBody>
                    <a:bodyPr/>
                    <a:lstStyle/>
                    <a:p>
                      <a:pPr algn="ctr"/>
                      <a:r>
                        <a:rPr lang="en-US" sz="1600" b="1">
                          <a:solidFill>
                            <a:schemeClr val="accent6"/>
                          </a:solidFill>
                        </a:rPr>
                        <a:t>Class Boundaries</a:t>
                      </a:r>
                    </a:p>
                  </a:txBody>
                  <a:tcPr anchor="ct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solidFill>
                      <a:schemeClr val="accent4">
                        <a:lumMod val="40000"/>
                        <a:lumOff val="60000"/>
                      </a:schemeClr>
                    </a:solidFill>
                  </a:tcPr>
                </a:tc>
                <a:tc>
                  <a:txBody>
                    <a:bodyPr/>
                    <a:lstStyle/>
                    <a:p>
                      <a:pPr algn="ctr"/>
                      <a:r>
                        <a:rPr lang="en-US" sz="1600" b="1">
                          <a:solidFill>
                            <a:schemeClr val="accent6"/>
                          </a:solidFill>
                        </a:rPr>
                        <a:t>Tally</a:t>
                      </a:r>
                    </a:p>
                  </a:txBody>
                  <a:tcPr anchor="ct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solidFill>
                      <a:schemeClr val="accent4">
                        <a:lumMod val="40000"/>
                        <a:lumOff val="60000"/>
                      </a:schemeClr>
                    </a:solidFill>
                  </a:tcPr>
                </a:tc>
                <a:tc>
                  <a:txBody>
                    <a:bodyPr/>
                    <a:lstStyle/>
                    <a:p>
                      <a:pPr algn="ctr"/>
                      <a:r>
                        <a:rPr lang="en-US" sz="1600" b="1">
                          <a:solidFill>
                            <a:schemeClr val="accent6"/>
                          </a:solidFill>
                        </a:rPr>
                        <a:t>Frequency</a:t>
                      </a:r>
                    </a:p>
                  </a:txBody>
                  <a:tcPr anchor="ct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176976831"/>
                  </a:ext>
                </a:extLst>
              </a:tr>
              <a:tr h="468641">
                <a:tc>
                  <a:txBody>
                    <a:bodyPr/>
                    <a:lstStyle/>
                    <a:p>
                      <a:pPr algn="ctr"/>
                      <a:r>
                        <a:rPr lang="en-US" b="1">
                          <a:solidFill>
                            <a:schemeClr val="accent6"/>
                          </a:solidFill>
                        </a:rPr>
                        <a:t>67 – 78 </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pPr algn="ctr"/>
                      <a:r>
                        <a:rPr lang="en-US" b="1">
                          <a:solidFill>
                            <a:schemeClr val="accent6"/>
                          </a:solidFill>
                        </a:rPr>
                        <a:t>66.5 – 78.5 </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extLst>
                  <a:ext uri="{0D108BD9-81ED-4DB2-BD59-A6C34878D82A}">
                    <a16:rowId xmlns:a16="http://schemas.microsoft.com/office/drawing/2014/main" val="1636605561"/>
                  </a:ext>
                </a:extLst>
              </a:tr>
              <a:tr h="468641">
                <a:tc>
                  <a:txBody>
                    <a:bodyPr/>
                    <a:lstStyle/>
                    <a:p>
                      <a:pPr algn="ctr"/>
                      <a:r>
                        <a:rPr lang="en-US" b="1">
                          <a:solidFill>
                            <a:schemeClr val="accent6"/>
                          </a:solidFill>
                        </a:rPr>
                        <a:t>79 – 90 </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pPr algn="ctr"/>
                      <a:r>
                        <a:rPr lang="en-US" b="1">
                          <a:solidFill>
                            <a:schemeClr val="accent6"/>
                          </a:solidFill>
                        </a:rPr>
                        <a:t>78.5 – 90.5 </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extLst>
                  <a:ext uri="{0D108BD9-81ED-4DB2-BD59-A6C34878D82A}">
                    <a16:rowId xmlns:a16="http://schemas.microsoft.com/office/drawing/2014/main" val="2555308432"/>
                  </a:ext>
                </a:extLst>
              </a:tr>
              <a:tr h="468641">
                <a:tc>
                  <a:txBody>
                    <a:bodyPr/>
                    <a:lstStyle/>
                    <a:p>
                      <a:pPr algn="ctr"/>
                      <a:r>
                        <a:rPr lang="en-US" b="1">
                          <a:solidFill>
                            <a:schemeClr val="accent6"/>
                          </a:solidFill>
                        </a:rPr>
                        <a:t>91 – 102 </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pPr algn="ctr"/>
                      <a:r>
                        <a:rPr lang="en-US" b="1">
                          <a:solidFill>
                            <a:schemeClr val="accent6"/>
                          </a:solidFill>
                        </a:rPr>
                        <a:t>90.5 – 102.5 </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extLst>
                  <a:ext uri="{0D108BD9-81ED-4DB2-BD59-A6C34878D82A}">
                    <a16:rowId xmlns:a16="http://schemas.microsoft.com/office/drawing/2014/main" val="1472976407"/>
                  </a:ext>
                </a:extLst>
              </a:tr>
              <a:tr h="468641">
                <a:tc>
                  <a:txBody>
                    <a:bodyPr/>
                    <a:lstStyle/>
                    <a:p>
                      <a:pPr algn="ctr"/>
                      <a:r>
                        <a:rPr lang="en-US" b="1">
                          <a:solidFill>
                            <a:schemeClr val="accent6"/>
                          </a:solidFill>
                        </a:rPr>
                        <a:t>103 – 114 </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pPr algn="ctr"/>
                      <a:r>
                        <a:rPr lang="en-US" b="1">
                          <a:solidFill>
                            <a:schemeClr val="accent6"/>
                          </a:solidFill>
                        </a:rPr>
                        <a:t>102.5 – 114.5 </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extLst>
                  <a:ext uri="{0D108BD9-81ED-4DB2-BD59-A6C34878D82A}">
                    <a16:rowId xmlns:a16="http://schemas.microsoft.com/office/drawing/2014/main" val="2306718235"/>
                  </a:ext>
                </a:extLst>
              </a:tr>
              <a:tr h="468641">
                <a:tc>
                  <a:txBody>
                    <a:bodyPr/>
                    <a:lstStyle/>
                    <a:p>
                      <a:pPr algn="ctr"/>
                      <a:r>
                        <a:rPr lang="en-US" b="1">
                          <a:solidFill>
                            <a:schemeClr val="accent6"/>
                          </a:solidFill>
                        </a:rPr>
                        <a:t>115 – 126 </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pPr algn="ctr"/>
                      <a:r>
                        <a:rPr lang="en-US" b="1">
                          <a:solidFill>
                            <a:schemeClr val="accent6"/>
                          </a:solidFill>
                        </a:rPr>
                        <a:t>114.5 – 126.5 </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endParaRPr lang="en-US"/>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extLst>
                  <a:ext uri="{0D108BD9-81ED-4DB2-BD59-A6C34878D82A}">
                    <a16:rowId xmlns:a16="http://schemas.microsoft.com/office/drawing/2014/main" val="3138924514"/>
                  </a:ext>
                </a:extLst>
              </a:tr>
            </a:tbl>
          </a:graphicData>
        </a:graphic>
      </p:graphicFrame>
      <p:sp>
        <p:nvSpPr>
          <p:cNvPr id="15" name="Text Box 67"/>
          <p:cNvSpPr txBox="1">
            <a:spLocks noChangeArrowheads="1"/>
          </p:cNvSpPr>
          <p:nvPr/>
        </p:nvSpPr>
        <p:spPr bwMode="auto">
          <a:xfrm>
            <a:off x="931307" y="1798087"/>
            <a:ext cx="648221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10000"/>
              </a:spcBef>
              <a:buClr>
                <a:schemeClr val="bg2"/>
              </a:buClr>
              <a:buFont typeface="Monotype Sorts" pitchFamily="2" charset="2"/>
              <a:buNone/>
            </a:pPr>
            <a:r>
              <a:rPr lang="en-US" sz="2400" b="1">
                <a:solidFill>
                  <a:schemeClr val="accent6"/>
                </a:solidFill>
                <a:latin typeface="Calibri" pitchFamily="34" charset="0"/>
              </a:rPr>
              <a:t>After all data values are tallied, count the tallies in each class for the class frequencies.</a:t>
            </a:r>
            <a:endParaRPr lang="en-US" sz="2400">
              <a:solidFill>
                <a:schemeClr val="accent6"/>
              </a:solidFill>
              <a:latin typeface="Calibri" pitchFamily="34" charset="0"/>
            </a:endParaRPr>
          </a:p>
        </p:txBody>
      </p:sp>
      <p:pic>
        <p:nvPicPr>
          <p:cNvPr id="16" name="Picture 15"/>
          <p:cNvPicPr>
            <a:picLocks noChangeAspect="1"/>
          </p:cNvPicPr>
          <p:nvPr/>
        </p:nvPicPr>
        <p:blipFill>
          <a:blip r:embed="rId2"/>
          <a:stretch>
            <a:fillRect/>
          </a:stretch>
        </p:blipFill>
        <p:spPr>
          <a:xfrm>
            <a:off x="7229075" y="783715"/>
            <a:ext cx="4714753" cy="2217866"/>
          </a:xfrm>
          <a:prstGeom prst="rect">
            <a:avLst/>
          </a:prstGeom>
          <a:ln>
            <a:solidFill>
              <a:schemeClr val="accent2">
                <a:lumMod val="75000"/>
              </a:schemeClr>
            </a:solidFill>
          </a:ln>
        </p:spPr>
      </p:pic>
      <p:grpSp>
        <p:nvGrpSpPr>
          <p:cNvPr id="17" name="Group 16"/>
          <p:cNvGrpSpPr/>
          <p:nvPr/>
        </p:nvGrpSpPr>
        <p:grpSpPr>
          <a:xfrm>
            <a:off x="6288234" y="3572483"/>
            <a:ext cx="1482761" cy="2566166"/>
            <a:chOff x="7350118" y="2876078"/>
            <a:chExt cx="1482761" cy="2566166"/>
          </a:xfrm>
        </p:grpSpPr>
        <p:cxnSp>
          <p:nvCxnSpPr>
            <p:cNvPr id="18" name="Straight Connector 17"/>
            <p:cNvCxnSpPr/>
            <p:nvPr/>
          </p:nvCxnSpPr>
          <p:spPr>
            <a:xfrm flipH="1">
              <a:off x="7489960" y="4466561"/>
              <a:ext cx="487858" cy="312274"/>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7492755" y="4014851"/>
              <a:ext cx="487858" cy="312274"/>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20" name="Group 19"/>
            <p:cNvGrpSpPr/>
            <p:nvPr/>
          </p:nvGrpSpPr>
          <p:grpSpPr>
            <a:xfrm>
              <a:off x="7350118" y="2876078"/>
              <a:ext cx="1482761" cy="2566166"/>
              <a:chOff x="6983441" y="2862762"/>
              <a:chExt cx="1482761" cy="2566166"/>
            </a:xfrm>
          </p:grpSpPr>
          <p:sp>
            <p:nvSpPr>
              <p:cNvPr id="21" name="TextBox 20"/>
              <p:cNvSpPr txBox="1"/>
              <p:nvPr/>
            </p:nvSpPr>
            <p:spPr>
              <a:xfrm>
                <a:off x="7027195" y="3842559"/>
                <a:ext cx="697627" cy="646331"/>
              </a:xfrm>
              <a:prstGeom prst="rect">
                <a:avLst/>
              </a:prstGeom>
              <a:noFill/>
            </p:spPr>
            <p:txBody>
              <a:bodyPr wrap="none" rtlCol="0">
                <a:spAutoFit/>
              </a:bodyPr>
              <a:lstStyle/>
              <a:p>
                <a:r>
                  <a:rPr lang="en-US" sz="3600">
                    <a:solidFill>
                      <a:schemeClr val="accent6"/>
                    </a:solidFill>
                  </a:rPr>
                  <a:t>IIII</a:t>
                </a:r>
              </a:p>
            </p:txBody>
          </p:sp>
          <p:sp>
            <p:nvSpPr>
              <p:cNvPr id="22" name="TextBox 21"/>
              <p:cNvSpPr txBox="1"/>
              <p:nvPr/>
            </p:nvSpPr>
            <p:spPr>
              <a:xfrm>
                <a:off x="7027455" y="2862762"/>
                <a:ext cx="569387" cy="646331"/>
              </a:xfrm>
              <a:prstGeom prst="rect">
                <a:avLst/>
              </a:prstGeom>
              <a:noFill/>
            </p:spPr>
            <p:txBody>
              <a:bodyPr wrap="none" rtlCol="0">
                <a:spAutoFit/>
              </a:bodyPr>
              <a:lstStyle/>
              <a:p>
                <a:r>
                  <a:rPr lang="en-US" sz="3600">
                    <a:solidFill>
                      <a:schemeClr val="accent6"/>
                    </a:solidFill>
                  </a:rPr>
                  <a:t>III</a:t>
                </a:r>
              </a:p>
            </p:txBody>
          </p:sp>
          <p:sp>
            <p:nvSpPr>
              <p:cNvPr id="23" name="TextBox 22"/>
              <p:cNvSpPr txBox="1"/>
              <p:nvPr/>
            </p:nvSpPr>
            <p:spPr>
              <a:xfrm>
                <a:off x="7027455" y="3338327"/>
                <a:ext cx="697627" cy="646331"/>
              </a:xfrm>
              <a:prstGeom prst="rect">
                <a:avLst/>
              </a:prstGeom>
              <a:noFill/>
            </p:spPr>
            <p:txBody>
              <a:bodyPr wrap="none" rtlCol="0">
                <a:spAutoFit/>
              </a:bodyPr>
              <a:lstStyle/>
              <a:p>
                <a:r>
                  <a:rPr lang="en-US" sz="3600">
                    <a:solidFill>
                      <a:schemeClr val="accent6"/>
                    </a:solidFill>
                  </a:rPr>
                  <a:t>IIII</a:t>
                </a:r>
              </a:p>
            </p:txBody>
          </p:sp>
          <p:cxnSp>
            <p:nvCxnSpPr>
              <p:cNvPr id="24" name="Straight Connector 23"/>
              <p:cNvCxnSpPr/>
              <p:nvPr/>
            </p:nvCxnSpPr>
            <p:spPr>
              <a:xfrm flipH="1">
                <a:off x="7108984" y="3509093"/>
                <a:ext cx="487858" cy="312274"/>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7024920" y="4273667"/>
                <a:ext cx="697627" cy="646331"/>
              </a:xfrm>
              <a:prstGeom prst="rect">
                <a:avLst/>
              </a:prstGeom>
              <a:noFill/>
            </p:spPr>
            <p:txBody>
              <a:bodyPr wrap="none" rtlCol="0">
                <a:spAutoFit/>
              </a:bodyPr>
              <a:lstStyle/>
              <a:p>
                <a:r>
                  <a:rPr lang="en-US" sz="3600">
                    <a:solidFill>
                      <a:schemeClr val="accent6"/>
                    </a:solidFill>
                  </a:rPr>
                  <a:t>IIII</a:t>
                </a:r>
              </a:p>
            </p:txBody>
          </p:sp>
          <p:sp>
            <p:nvSpPr>
              <p:cNvPr id="26" name="TextBox 25"/>
              <p:cNvSpPr txBox="1"/>
              <p:nvPr/>
            </p:nvSpPr>
            <p:spPr>
              <a:xfrm>
                <a:off x="6983441" y="4782597"/>
                <a:ext cx="697627" cy="646331"/>
              </a:xfrm>
              <a:prstGeom prst="rect">
                <a:avLst/>
              </a:prstGeom>
              <a:noFill/>
            </p:spPr>
            <p:txBody>
              <a:bodyPr wrap="none" rtlCol="0">
                <a:spAutoFit/>
              </a:bodyPr>
              <a:lstStyle/>
              <a:p>
                <a:r>
                  <a:rPr lang="en-US" sz="3600">
                    <a:solidFill>
                      <a:schemeClr val="accent6"/>
                    </a:solidFill>
                  </a:rPr>
                  <a:t>IIII</a:t>
                </a:r>
              </a:p>
            </p:txBody>
          </p:sp>
          <p:cxnSp>
            <p:nvCxnSpPr>
              <p:cNvPr id="27" name="Straight Connector 26"/>
              <p:cNvCxnSpPr/>
              <p:nvPr/>
            </p:nvCxnSpPr>
            <p:spPr>
              <a:xfrm flipH="1">
                <a:off x="7064970" y="4953363"/>
                <a:ext cx="487858" cy="312274"/>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7615311" y="3813497"/>
                <a:ext cx="723275" cy="646331"/>
              </a:xfrm>
              <a:prstGeom prst="rect">
                <a:avLst/>
              </a:prstGeom>
              <a:noFill/>
            </p:spPr>
            <p:txBody>
              <a:bodyPr wrap="none" rtlCol="0">
                <a:spAutoFit/>
              </a:bodyPr>
              <a:lstStyle/>
              <a:p>
                <a:r>
                  <a:rPr lang="en-US" sz="3600">
                    <a:solidFill>
                      <a:schemeClr val="accent6"/>
                    </a:solidFill>
                  </a:rPr>
                  <a:t>-III</a:t>
                </a:r>
              </a:p>
            </p:txBody>
          </p:sp>
          <p:sp>
            <p:nvSpPr>
              <p:cNvPr id="29" name="TextBox 28"/>
              <p:cNvSpPr txBox="1"/>
              <p:nvPr/>
            </p:nvSpPr>
            <p:spPr>
              <a:xfrm>
                <a:off x="7614687" y="4290349"/>
                <a:ext cx="851515" cy="646331"/>
              </a:xfrm>
              <a:prstGeom prst="rect">
                <a:avLst/>
              </a:prstGeom>
              <a:noFill/>
            </p:spPr>
            <p:txBody>
              <a:bodyPr wrap="none" rtlCol="0">
                <a:spAutoFit/>
              </a:bodyPr>
              <a:lstStyle/>
              <a:p>
                <a:r>
                  <a:rPr lang="en-US" sz="3600">
                    <a:solidFill>
                      <a:schemeClr val="accent6"/>
                    </a:solidFill>
                  </a:rPr>
                  <a:t>-IIII</a:t>
                </a:r>
              </a:p>
            </p:txBody>
          </p:sp>
        </p:grpSp>
      </p:grpSp>
      <p:sp>
        <p:nvSpPr>
          <p:cNvPr id="30" name="TextBox 29"/>
          <p:cNvSpPr txBox="1"/>
          <p:nvPr/>
        </p:nvSpPr>
        <p:spPr>
          <a:xfrm>
            <a:off x="8775654" y="3695593"/>
            <a:ext cx="327334" cy="400110"/>
          </a:xfrm>
          <a:prstGeom prst="rect">
            <a:avLst/>
          </a:prstGeom>
          <a:noFill/>
        </p:spPr>
        <p:txBody>
          <a:bodyPr wrap="none" rtlCol="0">
            <a:spAutoFit/>
          </a:bodyPr>
          <a:lstStyle/>
          <a:p>
            <a:r>
              <a:rPr lang="en-US" sz="2000" b="1">
                <a:solidFill>
                  <a:schemeClr val="accent6"/>
                </a:solidFill>
              </a:rPr>
              <a:t>3</a:t>
            </a:r>
          </a:p>
        </p:txBody>
      </p:sp>
      <p:sp>
        <p:nvSpPr>
          <p:cNvPr id="31" name="TextBox 30"/>
          <p:cNvSpPr txBox="1"/>
          <p:nvPr/>
        </p:nvSpPr>
        <p:spPr>
          <a:xfrm>
            <a:off x="8775654" y="4191200"/>
            <a:ext cx="327334" cy="400110"/>
          </a:xfrm>
          <a:prstGeom prst="rect">
            <a:avLst/>
          </a:prstGeom>
          <a:noFill/>
        </p:spPr>
        <p:txBody>
          <a:bodyPr wrap="none" rtlCol="0">
            <a:spAutoFit/>
          </a:bodyPr>
          <a:lstStyle/>
          <a:p>
            <a:r>
              <a:rPr lang="en-US" sz="2000" b="1">
                <a:solidFill>
                  <a:schemeClr val="accent6"/>
                </a:solidFill>
              </a:rPr>
              <a:t>5</a:t>
            </a:r>
          </a:p>
        </p:txBody>
      </p:sp>
      <p:sp>
        <p:nvSpPr>
          <p:cNvPr id="32" name="TextBox 31"/>
          <p:cNvSpPr txBox="1"/>
          <p:nvPr/>
        </p:nvSpPr>
        <p:spPr>
          <a:xfrm>
            <a:off x="8775654" y="4686807"/>
            <a:ext cx="327334" cy="400110"/>
          </a:xfrm>
          <a:prstGeom prst="rect">
            <a:avLst/>
          </a:prstGeom>
          <a:noFill/>
        </p:spPr>
        <p:txBody>
          <a:bodyPr wrap="none" rtlCol="0">
            <a:spAutoFit/>
          </a:bodyPr>
          <a:lstStyle/>
          <a:p>
            <a:r>
              <a:rPr lang="en-US" sz="2000" b="1">
                <a:solidFill>
                  <a:schemeClr val="accent6"/>
                </a:solidFill>
              </a:rPr>
              <a:t>8</a:t>
            </a:r>
          </a:p>
        </p:txBody>
      </p:sp>
      <p:sp>
        <p:nvSpPr>
          <p:cNvPr id="33" name="TextBox 32"/>
          <p:cNvSpPr txBox="1"/>
          <p:nvPr/>
        </p:nvSpPr>
        <p:spPr>
          <a:xfrm>
            <a:off x="8775654" y="5161988"/>
            <a:ext cx="327334" cy="400110"/>
          </a:xfrm>
          <a:prstGeom prst="rect">
            <a:avLst/>
          </a:prstGeom>
          <a:noFill/>
        </p:spPr>
        <p:txBody>
          <a:bodyPr wrap="none" rtlCol="0">
            <a:spAutoFit/>
          </a:bodyPr>
          <a:lstStyle/>
          <a:p>
            <a:r>
              <a:rPr lang="en-US" sz="2000" b="1">
                <a:solidFill>
                  <a:schemeClr val="accent6"/>
                </a:solidFill>
              </a:rPr>
              <a:t>9</a:t>
            </a:r>
          </a:p>
        </p:txBody>
      </p:sp>
      <p:sp>
        <p:nvSpPr>
          <p:cNvPr id="34" name="TextBox 33"/>
          <p:cNvSpPr txBox="1"/>
          <p:nvPr/>
        </p:nvSpPr>
        <p:spPr>
          <a:xfrm>
            <a:off x="8775654" y="5629719"/>
            <a:ext cx="327334" cy="400110"/>
          </a:xfrm>
          <a:prstGeom prst="rect">
            <a:avLst/>
          </a:prstGeom>
          <a:noFill/>
        </p:spPr>
        <p:txBody>
          <a:bodyPr wrap="none" rtlCol="0">
            <a:spAutoFit/>
          </a:bodyPr>
          <a:lstStyle/>
          <a:p>
            <a:r>
              <a:rPr lang="en-US" sz="2000" b="1">
                <a:solidFill>
                  <a:schemeClr val="accent6"/>
                </a:solidFill>
              </a:rPr>
              <a:t>5</a:t>
            </a:r>
          </a:p>
        </p:txBody>
      </p:sp>
      <p:sp>
        <p:nvSpPr>
          <p:cNvPr id="35" name="TextBox 34"/>
          <p:cNvSpPr txBox="1"/>
          <p:nvPr/>
        </p:nvSpPr>
        <p:spPr>
          <a:xfrm>
            <a:off x="8233005" y="6112350"/>
            <a:ext cx="1353447" cy="400110"/>
          </a:xfrm>
          <a:prstGeom prst="rect">
            <a:avLst/>
          </a:prstGeom>
          <a:noFill/>
        </p:spPr>
        <p:txBody>
          <a:bodyPr wrap="none" rtlCol="0">
            <a:spAutoFit/>
          </a:bodyPr>
          <a:lstStyle/>
          <a:p>
            <a:r>
              <a:rPr lang="en-US" sz="2000" b="1">
                <a:solidFill>
                  <a:schemeClr val="accent6"/>
                </a:solidFill>
              </a:rPr>
              <a:t>Total = 30</a:t>
            </a:r>
          </a:p>
        </p:txBody>
      </p:sp>
    </p:spTree>
    <p:extLst>
      <p:ext uri="{BB962C8B-B14F-4D97-AF65-F5344CB8AC3E}">
        <p14:creationId xmlns:p14="http://schemas.microsoft.com/office/powerpoint/2010/main" val="2448843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1"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left)">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wipe(left)">
                                      <p:cBhvr>
                                        <p:cTn id="32" dur="5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wipe(left)">
                                      <p:cBhvr>
                                        <p:cTn id="37" dur="5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wipe(left)">
                                      <p:cBhvr>
                                        <p:cTn id="42" dur="500"/>
                                        <p:tgtEl>
                                          <p:spTgt spid="3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wipe(left)">
                                      <p:cBhvr>
                                        <p:cTn id="47" dur="500"/>
                                        <p:tgtEl>
                                          <p:spTgt spid="3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wipe(left)">
                                      <p:cBhvr>
                                        <p:cTn id="5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5" grpId="0"/>
      <p:bldP spid="30" grpId="0"/>
      <p:bldP spid="31" grpId="0"/>
      <p:bldP spid="32" grpId="0"/>
      <p:bldP spid="33" grpId="0"/>
      <p:bldP spid="34" grpId="0"/>
      <p:bldP spid="3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18"/>
          <p:cNvGraphicFramePr>
            <a:graphicFrameLocks noGrp="1"/>
          </p:cNvGraphicFramePr>
          <p:nvPr>
            <p:extLst>
              <p:ext uri="{D42A27DB-BD31-4B8C-83A1-F6EECF244321}">
                <p14:modId xmlns:p14="http://schemas.microsoft.com/office/powerpoint/2010/main" val="213543939"/>
              </p:ext>
            </p:extLst>
          </p:nvPr>
        </p:nvGraphicFramePr>
        <p:xfrm>
          <a:off x="6183768" y="1468449"/>
          <a:ext cx="5477290" cy="3305934"/>
        </p:xfrm>
        <a:graphic>
          <a:graphicData uri="http://schemas.openxmlformats.org/drawingml/2006/table">
            <a:tbl>
              <a:tblPr firstRow="1" bandRow="1">
                <a:tableStyleId>{5940675A-B579-460E-94D1-54222C63F5DA}</a:tableStyleId>
              </a:tblPr>
              <a:tblGrid>
                <a:gridCol w="1758039">
                  <a:extLst>
                    <a:ext uri="{9D8B030D-6E8A-4147-A177-3AD203B41FA5}">
                      <a16:colId xmlns:a16="http://schemas.microsoft.com/office/drawing/2014/main" val="3861671775"/>
                    </a:ext>
                  </a:extLst>
                </a:gridCol>
                <a:gridCol w="2394759">
                  <a:extLst>
                    <a:ext uri="{9D8B030D-6E8A-4147-A177-3AD203B41FA5}">
                      <a16:colId xmlns:a16="http://schemas.microsoft.com/office/drawing/2014/main" val="2647796143"/>
                    </a:ext>
                  </a:extLst>
                </a:gridCol>
                <a:gridCol w="1324492">
                  <a:extLst>
                    <a:ext uri="{9D8B030D-6E8A-4147-A177-3AD203B41FA5}">
                      <a16:colId xmlns:a16="http://schemas.microsoft.com/office/drawing/2014/main" val="3503537700"/>
                    </a:ext>
                  </a:extLst>
                </a:gridCol>
              </a:tblGrid>
              <a:tr h="494088">
                <a:tc>
                  <a:txBody>
                    <a:bodyPr/>
                    <a:lstStyle/>
                    <a:p>
                      <a:pPr algn="ctr"/>
                      <a:r>
                        <a:rPr lang="en-US" sz="1600" b="1">
                          <a:solidFill>
                            <a:schemeClr val="accent6"/>
                          </a:solidFill>
                        </a:rPr>
                        <a:t>Class Limits</a:t>
                      </a:r>
                    </a:p>
                  </a:txBody>
                  <a:tcPr anchor="ct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solidFill>
                      <a:schemeClr val="accent4">
                        <a:lumMod val="40000"/>
                        <a:lumOff val="60000"/>
                      </a:schemeClr>
                    </a:solidFill>
                  </a:tcPr>
                </a:tc>
                <a:tc>
                  <a:txBody>
                    <a:bodyPr/>
                    <a:lstStyle/>
                    <a:p>
                      <a:pPr algn="ctr"/>
                      <a:r>
                        <a:rPr lang="en-US" sz="1600" b="1">
                          <a:solidFill>
                            <a:schemeClr val="accent6"/>
                          </a:solidFill>
                        </a:rPr>
                        <a:t>Class Boundaries</a:t>
                      </a:r>
                    </a:p>
                  </a:txBody>
                  <a:tcPr anchor="ct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solidFill>
                      <a:schemeClr val="accent4">
                        <a:lumMod val="40000"/>
                        <a:lumOff val="60000"/>
                      </a:schemeClr>
                    </a:solidFill>
                  </a:tcPr>
                </a:tc>
                <a:tc>
                  <a:txBody>
                    <a:bodyPr/>
                    <a:lstStyle/>
                    <a:p>
                      <a:pPr algn="ctr"/>
                      <a:r>
                        <a:rPr lang="en-US" sz="1600" b="1">
                          <a:solidFill>
                            <a:schemeClr val="accent6"/>
                          </a:solidFill>
                        </a:rPr>
                        <a:t>Frequency</a:t>
                      </a:r>
                    </a:p>
                  </a:txBody>
                  <a:tcPr anchor="ct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176976831"/>
                  </a:ext>
                </a:extLst>
              </a:tr>
              <a:tr h="468641">
                <a:tc>
                  <a:txBody>
                    <a:bodyPr/>
                    <a:lstStyle/>
                    <a:p>
                      <a:pPr algn="ctr"/>
                      <a:r>
                        <a:rPr lang="en-US" b="1">
                          <a:solidFill>
                            <a:schemeClr val="accent6"/>
                          </a:solidFill>
                        </a:rPr>
                        <a:t>67 – 78 </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pPr algn="ctr"/>
                      <a:r>
                        <a:rPr lang="en-US" b="1">
                          <a:solidFill>
                            <a:schemeClr val="accent6"/>
                          </a:solidFill>
                        </a:rPr>
                        <a:t>66.5 – 78.5 </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pPr algn="ctr"/>
                      <a:r>
                        <a:rPr lang="en-US" b="1">
                          <a:solidFill>
                            <a:schemeClr val="accent6"/>
                          </a:solidFill>
                        </a:rPr>
                        <a:t>3</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extLst>
                  <a:ext uri="{0D108BD9-81ED-4DB2-BD59-A6C34878D82A}">
                    <a16:rowId xmlns:a16="http://schemas.microsoft.com/office/drawing/2014/main" val="1636605561"/>
                  </a:ext>
                </a:extLst>
              </a:tr>
              <a:tr h="468641">
                <a:tc>
                  <a:txBody>
                    <a:bodyPr/>
                    <a:lstStyle/>
                    <a:p>
                      <a:pPr algn="ctr"/>
                      <a:r>
                        <a:rPr lang="en-US" b="1">
                          <a:solidFill>
                            <a:schemeClr val="accent6"/>
                          </a:solidFill>
                        </a:rPr>
                        <a:t>79 – 90 </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pPr algn="ctr"/>
                      <a:r>
                        <a:rPr lang="en-US" b="1">
                          <a:solidFill>
                            <a:schemeClr val="accent6"/>
                          </a:solidFill>
                        </a:rPr>
                        <a:t>78.5 – 90.5 </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pPr algn="ctr"/>
                      <a:r>
                        <a:rPr lang="en-US" b="1">
                          <a:solidFill>
                            <a:schemeClr val="accent6"/>
                          </a:solidFill>
                        </a:rPr>
                        <a:t>5</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extLst>
                  <a:ext uri="{0D108BD9-81ED-4DB2-BD59-A6C34878D82A}">
                    <a16:rowId xmlns:a16="http://schemas.microsoft.com/office/drawing/2014/main" val="2555308432"/>
                  </a:ext>
                </a:extLst>
              </a:tr>
              <a:tr h="468641">
                <a:tc>
                  <a:txBody>
                    <a:bodyPr/>
                    <a:lstStyle/>
                    <a:p>
                      <a:pPr algn="ctr"/>
                      <a:r>
                        <a:rPr lang="en-US" b="1">
                          <a:solidFill>
                            <a:schemeClr val="accent6"/>
                          </a:solidFill>
                        </a:rPr>
                        <a:t>91 – 102 </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pPr algn="ctr"/>
                      <a:r>
                        <a:rPr lang="en-US" b="1">
                          <a:solidFill>
                            <a:schemeClr val="accent6"/>
                          </a:solidFill>
                        </a:rPr>
                        <a:t>90.5 – 102.5 </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pPr algn="ctr"/>
                      <a:r>
                        <a:rPr lang="en-US" b="1">
                          <a:solidFill>
                            <a:schemeClr val="accent6"/>
                          </a:solidFill>
                        </a:rPr>
                        <a:t>8</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extLst>
                  <a:ext uri="{0D108BD9-81ED-4DB2-BD59-A6C34878D82A}">
                    <a16:rowId xmlns:a16="http://schemas.microsoft.com/office/drawing/2014/main" val="1472976407"/>
                  </a:ext>
                </a:extLst>
              </a:tr>
              <a:tr h="468641">
                <a:tc>
                  <a:txBody>
                    <a:bodyPr/>
                    <a:lstStyle/>
                    <a:p>
                      <a:pPr algn="ctr"/>
                      <a:r>
                        <a:rPr lang="en-US" b="1">
                          <a:solidFill>
                            <a:schemeClr val="accent6"/>
                          </a:solidFill>
                        </a:rPr>
                        <a:t>103 – 114 </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pPr algn="ctr"/>
                      <a:r>
                        <a:rPr lang="en-US" b="1">
                          <a:solidFill>
                            <a:schemeClr val="accent6"/>
                          </a:solidFill>
                        </a:rPr>
                        <a:t>102.5 – 114.5 </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pPr algn="ctr"/>
                      <a:r>
                        <a:rPr lang="en-US" b="1">
                          <a:solidFill>
                            <a:schemeClr val="accent6"/>
                          </a:solidFill>
                        </a:rPr>
                        <a:t>9</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extLst>
                  <a:ext uri="{0D108BD9-81ED-4DB2-BD59-A6C34878D82A}">
                    <a16:rowId xmlns:a16="http://schemas.microsoft.com/office/drawing/2014/main" val="2306718235"/>
                  </a:ext>
                </a:extLst>
              </a:tr>
              <a:tr h="468641">
                <a:tc>
                  <a:txBody>
                    <a:bodyPr/>
                    <a:lstStyle/>
                    <a:p>
                      <a:pPr algn="ctr"/>
                      <a:r>
                        <a:rPr lang="en-US" b="1">
                          <a:solidFill>
                            <a:schemeClr val="accent6"/>
                          </a:solidFill>
                        </a:rPr>
                        <a:t>115 – 126 </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pPr algn="ctr"/>
                      <a:r>
                        <a:rPr lang="en-US" b="1">
                          <a:solidFill>
                            <a:schemeClr val="accent6"/>
                          </a:solidFill>
                        </a:rPr>
                        <a:t>114.5 – 126.5 </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pPr algn="ctr"/>
                      <a:r>
                        <a:rPr lang="en-US" b="1">
                          <a:solidFill>
                            <a:schemeClr val="accent6"/>
                          </a:solidFill>
                        </a:rPr>
                        <a:t>5</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extLst>
                  <a:ext uri="{0D108BD9-81ED-4DB2-BD59-A6C34878D82A}">
                    <a16:rowId xmlns:a16="http://schemas.microsoft.com/office/drawing/2014/main" val="3138924514"/>
                  </a:ext>
                </a:extLst>
              </a:tr>
              <a:tr h="468641">
                <a:tc>
                  <a:txBody>
                    <a:bodyPr/>
                    <a:lstStyle/>
                    <a:p>
                      <a:pPr algn="ctr"/>
                      <a:endParaRPr lang="en-US" b="1">
                        <a:solidFill>
                          <a:schemeClr val="accent6"/>
                        </a:solidFill>
                      </a:endParaRP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pPr algn="r"/>
                      <a:r>
                        <a:rPr lang="en-US" b="1">
                          <a:solidFill>
                            <a:schemeClr val="accent6"/>
                          </a:solidFill>
                        </a:rPr>
                        <a:t>Total =</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tc>
                  <a:txBody>
                    <a:bodyPr/>
                    <a:lstStyle/>
                    <a:p>
                      <a:pPr algn="ctr"/>
                      <a:r>
                        <a:rPr lang="en-US" b="1">
                          <a:solidFill>
                            <a:schemeClr val="accent6"/>
                          </a:solidFill>
                        </a:rPr>
                        <a:t>30</a:t>
                      </a:r>
                    </a:p>
                  </a:txBody>
                  <a:tcPr>
                    <a:lnL w="12700" cap="flat" cmpd="sng" algn="ctr">
                      <a:solidFill>
                        <a:schemeClr val="accent6">
                          <a:lumMod val="90000"/>
                          <a:lumOff val="10000"/>
                        </a:schemeClr>
                      </a:solidFill>
                      <a:prstDash val="solid"/>
                      <a:round/>
                      <a:headEnd type="none" w="med" len="med"/>
                      <a:tailEnd type="none" w="med" len="med"/>
                    </a:lnL>
                    <a:lnR w="12700" cap="flat" cmpd="sng" algn="ctr">
                      <a:solidFill>
                        <a:schemeClr val="accent6">
                          <a:lumMod val="90000"/>
                          <a:lumOff val="10000"/>
                        </a:schemeClr>
                      </a:solidFill>
                      <a:prstDash val="solid"/>
                      <a:round/>
                      <a:headEnd type="none" w="med" len="med"/>
                      <a:tailEnd type="none" w="med" len="med"/>
                    </a:lnR>
                    <a:lnT w="12700" cap="flat" cmpd="sng" algn="ctr">
                      <a:solidFill>
                        <a:schemeClr val="accent6">
                          <a:lumMod val="90000"/>
                          <a:lumOff val="10000"/>
                        </a:schemeClr>
                      </a:solidFill>
                      <a:prstDash val="solid"/>
                      <a:round/>
                      <a:headEnd type="none" w="med" len="med"/>
                      <a:tailEnd type="none" w="med" len="med"/>
                    </a:lnT>
                    <a:lnB w="12700" cap="flat" cmpd="sng" algn="ctr">
                      <a:solidFill>
                        <a:schemeClr val="accent6">
                          <a:lumMod val="90000"/>
                          <a:lumOff val="10000"/>
                        </a:schemeClr>
                      </a:solidFill>
                      <a:prstDash val="solid"/>
                      <a:round/>
                      <a:headEnd type="none" w="med" len="med"/>
                      <a:tailEnd type="none" w="med" len="med"/>
                    </a:lnB>
                  </a:tcPr>
                </a:tc>
                <a:extLst>
                  <a:ext uri="{0D108BD9-81ED-4DB2-BD59-A6C34878D82A}">
                    <a16:rowId xmlns:a16="http://schemas.microsoft.com/office/drawing/2014/main" val="290247157"/>
                  </a:ext>
                </a:extLst>
              </a:tr>
            </a:tbl>
          </a:graphicData>
        </a:graphic>
      </p:graphicFrame>
      <p:sp>
        <p:nvSpPr>
          <p:cNvPr id="2" name="Rectangle 2"/>
          <p:cNvSpPr>
            <a:spLocks noGrp="1" noChangeArrowheads="1"/>
          </p:cNvSpPr>
          <p:nvPr>
            <p:ph type="title"/>
          </p:nvPr>
        </p:nvSpPr>
        <p:spPr>
          <a:xfrm>
            <a:off x="753237" y="289825"/>
            <a:ext cx="8833215" cy="481315"/>
          </a:xfrm>
        </p:spPr>
        <p:txBody>
          <a:bodyPr vert="horz" lIns="92075" tIns="46038" rIns="92075" bIns="46038" rtlCol="0" anchor="b">
            <a:noAutofit/>
          </a:bodyPr>
          <a:lstStyle/>
          <a:p>
            <a:pPr eaLnBrk="1" fontAlgn="auto" hangingPunct="1">
              <a:spcAft>
                <a:spcPts val="0"/>
              </a:spcAft>
              <a:defRPr/>
            </a:pPr>
            <a:r>
              <a:rPr lang="en-US" sz="2800" b="1">
                <a:solidFill>
                  <a:srgbClr val="C00000"/>
                </a:solidFill>
                <a:latin typeface="+mj-lt"/>
                <a:cs typeface="Calibri" panose="020F0502020204030204" pitchFamily="34" charset="0"/>
              </a:rPr>
              <a:t>Example 1:</a:t>
            </a:r>
            <a:r>
              <a:rPr lang="en-US" sz="2800" b="1">
                <a:solidFill>
                  <a:srgbClr val="002060"/>
                </a:solidFill>
                <a:latin typeface="+mj-lt"/>
                <a:cs typeface="Calibri" panose="020F0502020204030204" pitchFamily="34" charset="0"/>
              </a:rPr>
              <a:t> Grouped Frequency Distribution</a:t>
            </a:r>
            <a:endParaRPr lang="en-US" sz="2800">
              <a:solidFill>
                <a:srgbClr val="0070C0"/>
              </a:solidFill>
              <a:latin typeface="+mj-lt"/>
            </a:endParaRPr>
          </a:p>
        </p:txBody>
      </p:sp>
      <p:sp>
        <p:nvSpPr>
          <p:cNvPr id="12" name="TextBox 11"/>
          <p:cNvSpPr txBox="1"/>
          <p:nvPr/>
        </p:nvSpPr>
        <p:spPr>
          <a:xfrm>
            <a:off x="775462" y="893538"/>
            <a:ext cx="6411919" cy="830997"/>
          </a:xfrm>
          <a:prstGeom prst="rect">
            <a:avLst/>
          </a:prstGeom>
          <a:noFill/>
        </p:spPr>
        <p:txBody>
          <a:bodyPr wrap="square" rtlCol="0">
            <a:spAutoFit/>
          </a:bodyPr>
          <a:lstStyle/>
          <a:p>
            <a:r>
              <a:rPr lang="en-US" sz="2400" b="1">
                <a:solidFill>
                  <a:srgbClr val="C00000"/>
                </a:solidFill>
              </a:rPr>
              <a:t>From this grouped frequency distribution, answer the following questions:</a:t>
            </a:r>
          </a:p>
        </p:txBody>
      </p:sp>
      <p:sp>
        <p:nvSpPr>
          <p:cNvPr id="13" name="TextBox 12"/>
          <p:cNvSpPr txBox="1"/>
          <p:nvPr/>
        </p:nvSpPr>
        <p:spPr>
          <a:xfrm>
            <a:off x="770975" y="2056099"/>
            <a:ext cx="4969163" cy="830997"/>
          </a:xfrm>
          <a:prstGeom prst="rect">
            <a:avLst/>
          </a:prstGeom>
          <a:noFill/>
        </p:spPr>
        <p:txBody>
          <a:bodyPr wrap="square" rtlCol="0">
            <a:spAutoFit/>
          </a:bodyPr>
          <a:lstStyle/>
          <a:p>
            <a:r>
              <a:rPr lang="en-US" sz="2400" b="1" i="1">
                <a:solidFill>
                  <a:srgbClr val="002060"/>
                </a:solidFill>
              </a:rPr>
              <a:t>1. What is the class width  of the frequency distribution?</a:t>
            </a:r>
          </a:p>
        </p:txBody>
      </p:sp>
      <p:sp>
        <p:nvSpPr>
          <p:cNvPr id="14" name="TextBox 13"/>
          <p:cNvSpPr txBox="1"/>
          <p:nvPr/>
        </p:nvSpPr>
        <p:spPr>
          <a:xfrm>
            <a:off x="1103480" y="2976938"/>
            <a:ext cx="3820394" cy="461665"/>
          </a:xfrm>
          <a:prstGeom prst="rect">
            <a:avLst/>
          </a:prstGeom>
          <a:noFill/>
        </p:spPr>
        <p:txBody>
          <a:bodyPr wrap="square" rtlCol="0">
            <a:spAutoFit/>
          </a:bodyPr>
          <a:lstStyle/>
          <a:p>
            <a:r>
              <a:rPr lang="en-US" sz="2400" b="1" i="1">
                <a:solidFill>
                  <a:srgbClr val="FF0000"/>
                </a:solidFill>
              </a:rPr>
              <a:t>Answer = 12     </a:t>
            </a:r>
            <a:r>
              <a:rPr lang="en-US" sz="2400" i="1"/>
              <a:t>(79 - 67)</a:t>
            </a:r>
          </a:p>
        </p:txBody>
      </p:sp>
      <p:sp>
        <p:nvSpPr>
          <p:cNvPr id="15" name="TextBox 14"/>
          <p:cNvSpPr txBox="1"/>
          <p:nvPr/>
        </p:nvSpPr>
        <p:spPr>
          <a:xfrm>
            <a:off x="770975" y="3687145"/>
            <a:ext cx="5200650" cy="830997"/>
          </a:xfrm>
          <a:prstGeom prst="rect">
            <a:avLst/>
          </a:prstGeom>
          <a:noFill/>
        </p:spPr>
        <p:txBody>
          <a:bodyPr wrap="square" rtlCol="0">
            <a:spAutoFit/>
          </a:bodyPr>
          <a:lstStyle/>
          <a:p>
            <a:r>
              <a:rPr lang="en-US" sz="2400" b="1" i="1">
                <a:solidFill>
                  <a:srgbClr val="002060"/>
                </a:solidFill>
              </a:rPr>
              <a:t>2. How many states have a temperature at most 90 degrees ?</a:t>
            </a:r>
          </a:p>
        </p:txBody>
      </p:sp>
      <p:sp>
        <p:nvSpPr>
          <p:cNvPr id="16" name="TextBox 15"/>
          <p:cNvSpPr txBox="1"/>
          <p:nvPr/>
        </p:nvSpPr>
        <p:spPr>
          <a:xfrm>
            <a:off x="1103479" y="4620544"/>
            <a:ext cx="3820395" cy="461665"/>
          </a:xfrm>
          <a:prstGeom prst="rect">
            <a:avLst/>
          </a:prstGeom>
          <a:noFill/>
        </p:spPr>
        <p:txBody>
          <a:bodyPr wrap="square" rtlCol="0">
            <a:spAutoFit/>
          </a:bodyPr>
          <a:lstStyle/>
          <a:p>
            <a:r>
              <a:rPr lang="en-US" sz="2400" b="1" i="1">
                <a:solidFill>
                  <a:srgbClr val="FF0000"/>
                </a:solidFill>
              </a:rPr>
              <a:t>Answer = 8     </a:t>
            </a:r>
            <a:r>
              <a:rPr lang="en-US" sz="2400" i="1"/>
              <a:t>(3 + 5)</a:t>
            </a:r>
          </a:p>
        </p:txBody>
      </p:sp>
      <p:sp>
        <p:nvSpPr>
          <p:cNvPr id="17" name="Rounded Rectangle 16"/>
          <p:cNvSpPr/>
          <p:nvPr/>
        </p:nvSpPr>
        <p:spPr>
          <a:xfrm>
            <a:off x="6410633" y="1979140"/>
            <a:ext cx="607777" cy="885407"/>
          </a:xfrm>
          <a:prstGeom prst="roundRect">
            <a:avLst/>
          </a:prstGeom>
          <a:solidFill>
            <a:srgbClr val="FFA3A3">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10707329" y="1913685"/>
            <a:ext cx="678426" cy="973411"/>
          </a:xfrm>
          <a:prstGeom prst="roundRect">
            <a:avLst/>
          </a:prstGeom>
          <a:solidFill>
            <a:srgbClr val="CCFFCC">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753237" y="5225972"/>
            <a:ext cx="7368208" cy="461665"/>
          </a:xfrm>
          <a:prstGeom prst="rect">
            <a:avLst/>
          </a:prstGeom>
          <a:noFill/>
        </p:spPr>
        <p:txBody>
          <a:bodyPr wrap="square" rtlCol="0">
            <a:spAutoFit/>
          </a:bodyPr>
          <a:lstStyle/>
          <a:p>
            <a:r>
              <a:rPr lang="en-US" sz="2400" b="1" i="1">
                <a:solidFill>
                  <a:srgbClr val="002060"/>
                </a:solidFill>
              </a:rPr>
              <a:t>3. How many states have at least 103 degrees? </a:t>
            </a:r>
          </a:p>
        </p:txBody>
      </p:sp>
      <p:sp>
        <p:nvSpPr>
          <p:cNvPr id="21" name="TextBox 20"/>
          <p:cNvSpPr txBox="1"/>
          <p:nvPr/>
        </p:nvSpPr>
        <p:spPr>
          <a:xfrm>
            <a:off x="1103480" y="5768845"/>
            <a:ext cx="3820394" cy="461665"/>
          </a:xfrm>
          <a:prstGeom prst="rect">
            <a:avLst/>
          </a:prstGeom>
          <a:noFill/>
        </p:spPr>
        <p:txBody>
          <a:bodyPr wrap="square" rtlCol="0">
            <a:spAutoFit/>
          </a:bodyPr>
          <a:lstStyle/>
          <a:p>
            <a:r>
              <a:rPr lang="en-US" sz="2400" b="1" i="1">
                <a:solidFill>
                  <a:srgbClr val="FF0000"/>
                </a:solidFill>
              </a:rPr>
              <a:t>Answer = 14     </a:t>
            </a:r>
            <a:r>
              <a:rPr lang="en-US" sz="2400" i="1"/>
              <a:t>(9+5=14)</a:t>
            </a:r>
          </a:p>
        </p:txBody>
      </p:sp>
      <p:sp>
        <p:nvSpPr>
          <p:cNvPr id="22" name="Rounded Rectangle 21"/>
          <p:cNvSpPr/>
          <p:nvPr/>
        </p:nvSpPr>
        <p:spPr>
          <a:xfrm>
            <a:off x="10701505" y="3344034"/>
            <a:ext cx="678426" cy="973411"/>
          </a:xfrm>
          <a:prstGeom prst="roundRect">
            <a:avLst/>
          </a:prstGeom>
          <a:solidFill>
            <a:srgbClr val="CCECFF">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5375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par>
                          <p:cTn id="13" fill="hold">
                            <p:stCondLst>
                              <p:cond delay="500"/>
                            </p:stCondLst>
                            <p:childTnLst>
                              <p:par>
                                <p:cTn id="14" presetID="21" presetClass="entr" presetSubtype="1" fill="hold" grpId="0" nodeType="after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heel(1)">
                                      <p:cBhvr>
                                        <p:cTn id="16" dur="500"/>
                                        <p:tgtEl>
                                          <p:spTgt spid="17"/>
                                        </p:tgtEl>
                                      </p:cBhvr>
                                    </p:animEffect>
                                  </p:childTnLst>
                                </p:cTn>
                              </p:par>
                            </p:childTnLst>
                          </p:cTn>
                        </p:par>
                        <p:par>
                          <p:cTn id="17" fill="hold">
                            <p:stCondLst>
                              <p:cond delay="1000"/>
                            </p:stCondLst>
                            <p:childTnLst>
                              <p:par>
                                <p:cTn id="18" presetID="32" presetClass="emph" presetSubtype="0" fill="hold" grpId="1" nodeType="afterEffect">
                                  <p:stCondLst>
                                    <p:cond delay="0"/>
                                  </p:stCondLst>
                                  <p:childTnLst>
                                    <p:animRot by="120000">
                                      <p:cBhvr>
                                        <p:cTn id="19" dur="200" fill="hold">
                                          <p:stCondLst>
                                            <p:cond delay="0"/>
                                          </p:stCondLst>
                                        </p:cTn>
                                        <p:tgtEl>
                                          <p:spTgt spid="17"/>
                                        </p:tgtEl>
                                        <p:attrNameLst>
                                          <p:attrName>r</p:attrName>
                                        </p:attrNameLst>
                                      </p:cBhvr>
                                    </p:animRot>
                                    <p:animRot by="-240000">
                                      <p:cBhvr>
                                        <p:cTn id="20" dur="400" fill="hold">
                                          <p:stCondLst>
                                            <p:cond delay="400"/>
                                          </p:stCondLst>
                                        </p:cTn>
                                        <p:tgtEl>
                                          <p:spTgt spid="17"/>
                                        </p:tgtEl>
                                        <p:attrNameLst>
                                          <p:attrName>r</p:attrName>
                                        </p:attrNameLst>
                                      </p:cBhvr>
                                    </p:animRot>
                                    <p:animRot by="240000">
                                      <p:cBhvr>
                                        <p:cTn id="21" dur="400" fill="hold">
                                          <p:stCondLst>
                                            <p:cond delay="800"/>
                                          </p:stCondLst>
                                        </p:cTn>
                                        <p:tgtEl>
                                          <p:spTgt spid="17"/>
                                        </p:tgtEl>
                                        <p:attrNameLst>
                                          <p:attrName>r</p:attrName>
                                        </p:attrNameLst>
                                      </p:cBhvr>
                                    </p:animRot>
                                    <p:animRot by="-240000">
                                      <p:cBhvr>
                                        <p:cTn id="22" dur="400" fill="hold">
                                          <p:stCondLst>
                                            <p:cond delay="1200"/>
                                          </p:stCondLst>
                                        </p:cTn>
                                        <p:tgtEl>
                                          <p:spTgt spid="17"/>
                                        </p:tgtEl>
                                        <p:attrNameLst>
                                          <p:attrName>r</p:attrName>
                                        </p:attrNameLst>
                                      </p:cBhvr>
                                    </p:animRot>
                                    <p:animRot by="120000">
                                      <p:cBhvr>
                                        <p:cTn id="23" dur="400" fill="hold">
                                          <p:stCondLst>
                                            <p:cond delay="1600"/>
                                          </p:stCondLst>
                                        </p:cTn>
                                        <p:tgtEl>
                                          <p:spTgt spid="17"/>
                                        </p:tgtEl>
                                        <p:attrNameLst>
                                          <p:attrName>r</p:attrName>
                                        </p:attrNameLst>
                                      </p:cBhvr>
                                    </p:animRot>
                                  </p:childTnLst>
                                </p:cTn>
                              </p:par>
                            </p:childTnLst>
                          </p:cTn>
                        </p:par>
                        <p:par>
                          <p:cTn id="24" fill="hold">
                            <p:stCondLst>
                              <p:cond delay="3000"/>
                            </p:stCondLst>
                            <p:childTnLst>
                              <p:par>
                                <p:cTn id="25" presetID="10" presetClass="exit" presetSubtype="0" fill="hold" grpId="2" nodeType="afterEffect">
                                  <p:stCondLst>
                                    <p:cond delay="0"/>
                                  </p:stCondLst>
                                  <p:childTnLst>
                                    <p:animEffect transition="out" filter="fade">
                                      <p:cBhvr>
                                        <p:cTn id="26" dur="500"/>
                                        <p:tgtEl>
                                          <p:spTgt spid="17"/>
                                        </p:tgtEl>
                                      </p:cBhvr>
                                    </p:animEffect>
                                    <p:set>
                                      <p:cBhvr>
                                        <p:cTn id="27" dur="1" fill="hold">
                                          <p:stCondLst>
                                            <p:cond delay="499"/>
                                          </p:stCondLst>
                                        </p:cTn>
                                        <p:tgtEl>
                                          <p:spTgt spid="17"/>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left)">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500"/>
                                        <p:tgtEl>
                                          <p:spTgt spid="16"/>
                                        </p:tgtEl>
                                      </p:cBhvr>
                                    </p:animEffect>
                                  </p:childTnLst>
                                </p:cTn>
                              </p:par>
                            </p:childTnLst>
                          </p:cTn>
                        </p:par>
                        <p:par>
                          <p:cTn id="38" fill="hold">
                            <p:stCondLst>
                              <p:cond delay="500"/>
                            </p:stCondLst>
                            <p:childTnLst>
                              <p:par>
                                <p:cTn id="39" presetID="21" presetClass="entr" presetSubtype="1" fill="hold" grpId="0"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heel(1)">
                                      <p:cBhvr>
                                        <p:cTn id="41" dur="500"/>
                                        <p:tgtEl>
                                          <p:spTgt spid="18"/>
                                        </p:tgtEl>
                                      </p:cBhvr>
                                    </p:animEffect>
                                  </p:childTnLst>
                                </p:cTn>
                              </p:par>
                            </p:childTnLst>
                          </p:cTn>
                        </p:par>
                        <p:par>
                          <p:cTn id="42" fill="hold">
                            <p:stCondLst>
                              <p:cond delay="1000"/>
                            </p:stCondLst>
                            <p:childTnLst>
                              <p:par>
                                <p:cTn id="43" presetID="32" presetClass="emph" presetSubtype="0" fill="hold" grpId="1" nodeType="afterEffect">
                                  <p:stCondLst>
                                    <p:cond delay="0"/>
                                  </p:stCondLst>
                                  <p:childTnLst>
                                    <p:animRot by="120000">
                                      <p:cBhvr>
                                        <p:cTn id="44" dur="200" fill="hold">
                                          <p:stCondLst>
                                            <p:cond delay="0"/>
                                          </p:stCondLst>
                                        </p:cTn>
                                        <p:tgtEl>
                                          <p:spTgt spid="18"/>
                                        </p:tgtEl>
                                        <p:attrNameLst>
                                          <p:attrName>r</p:attrName>
                                        </p:attrNameLst>
                                      </p:cBhvr>
                                    </p:animRot>
                                    <p:animRot by="-240000">
                                      <p:cBhvr>
                                        <p:cTn id="45" dur="400" fill="hold">
                                          <p:stCondLst>
                                            <p:cond delay="400"/>
                                          </p:stCondLst>
                                        </p:cTn>
                                        <p:tgtEl>
                                          <p:spTgt spid="18"/>
                                        </p:tgtEl>
                                        <p:attrNameLst>
                                          <p:attrName>r</p:attrName>
                                        </p:attrNameLst>
                                      </p:cBhvr>
                                    </p:animRot>
                                    <p:animRot by="240000">
                                      <p:cBhvr>
                                        <p:cTn id="46" dur="400" fill="hold">
                                          <p:stCondLst>
                                            <p:cond delay="800"/>
                                          </p:stCondLst>
                                        </p:cTn>
                                        <p:tgtEl>
                                          <p:spTgt spid="18"/>
                                        </p:tgtEl>
                                        <p:attrNameLst>
                                          <p:attrName>r</p:attrName>
                                        </p:attrNameLst>
                                      </p:cBhvr>
                                    </p:animRot>
                                    <p:animRot by="-240000">
                                      <p:cBhvr>
                                        <p:cTn id="47" dur="400" fill="hold">
                                          <p:stCondLst>
                                            <p:cond delay="1200"/>
                                          </p:stCondLst>
                                        </p:cTn>
                                        <p:tgtEl>
                                          <p:spTgt spid="18"/>
                                        </p:tgtEl>
                                        <p:attrNameLst>
                                          <p:attrName>r</p:attrName>
                                        </p:attrNameLst>
                                      </p:cBhvr>
                                    </p:animRot>
                                    <p:animRot by="120000">
                                      <p:cBhvr>
                                        <p:cTn id="48" dur="400" fill="hold">
                                          <p:stCondLst>
                                            <p:cond delay="1600"/>
                                          </p:stCondLst>
                                        </p:cTn>
                                        <p:tgtEl>
                                          <p:spTgt spid="18"/>
                                        </p:tgtEl>
                                        <p:attrNameLst>
                                          <p:attrName>r</p:attrName>
                                        </p:attrNameLst>
                                      </p:cBhvr>
                                    </p:animRot>
                                  </p:childTnLst>
                                </p:cTn>
                              </p:par>
                            </p:childTnLst>
                          </p:cTn>
                        </p:par>
                        <p:par>
                          <p:cTn id="49" fill="hold">
                            <p:stCondLst>
                              <p:cond delay="3000"/>
                            </p:stCondLst>
                            <p:childTnLst>
                              <p:par>
                                <p:cTn id="50" presetID="10" presetClass="exit" presetSubtype="0" fill="hold" grpId="2" nodeType="afterEffect">
                                  <p:stCondLst>
                                    <p:cond delay="0"/>
                                  </p:stCondLst>
                                  <p:childTnLst>
                                    <p:animEffect transition="out" filter="fade">
                                      <p:cBhvr>
                                        <p:cTn id="51" dur="500"/>
                                        <p:tgtEl>
                                          <p:spTgt spid="18"/>
                                        </p:tgtEl>
                                      </p:cBhvr>
                                    </p:animEffect>
                                    <p:set>
                                      <p:cBhvr>
                                        <p:cTn id="52" dur="1" fill="hold">
                                          <p:stCondLst>
                                            <p:cond delay="499"/>
                                          </p:stCondLst>
                                        </p:cTn>
                                        <p:tgtEl>
                                          <p:spTgt spid="18"/>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wipe(left)">
                                      <p:cBhvr>
                                        <p:cTn id="57" dur="500"/>
                                        <p:tgtEl>
                                          <p:spTgt spid="2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wipe(left)">
                                      <p:cBhvr>
                                        <p:cTn id="62" dur="500"/>
                                        <p:tgtEl>
                                          <p:spTgt spid="21"/>
                                        </p:tgtEl>
                                      </p:cBhvr>
                                    </p:animEffect>
                                  </p:childTnLst>
                                </p:cTn>
                              </p:par>
                            </p:childTnLst>
                          </p:cTn>
                        </p:par>
                        <p:par>
                          <p:cTn id="63" fill="hold">
                            <p:stCondLst>
                              <p:cond delay="500"/>
                            </p:stCondLst>
                            <p:childTnLst>
                              <p:par>
                                <p:cTn id="64" presetID="21" presetClass="entr" presetSubtype="1" fill="hold" grpId="0" nodeType="after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wheel(1)">
                                      <p:cBhvr>
                                        <p:cTn id="66" dur="500"/>
                                        <p:tgtEl>
                                          <p:spTgt spid="22"/>
                                        </p:tgtEl>
                                      </p:cBhvr>
                                    </p:animEffect>
                                  </p:childTnLst>
                                </p:cTn>
                              </p:par>
                            </p:childTnLst>
                          </p:cTn>
                        </p:par>
                        <p:par>
                          <p:cTn id="67" fill="hold">
                            <p:stCondLst>
                              <p:cond delay="1000"/>
                            </p:stCondLst>
                            <p:childTnLst>
                              <p:par>
                                <p:cTn id="68" presetID="32" presetClass="emph" presetSubtype="0" fill="hold" grpId="1" nodeType="afterEffect">
                                  <p:stCondLst>
                                    <p:cond delay="0"/>
                                  </p:stCondLst>
                                  <p:childTnLst>
                                    <p:animRot by="120000">
                                      <p:cBhvr>
                                        <p:cTn id="69" dur="200" fill="hold">
                                          <p:stCondLst>
                                            <p:cond delay="0"/>
                                          </p:stCondLst>
                                        </p:cTn>
                                        <p:tgtEl>
                                          <p:spTgt spid="22"/>
                                        </p:tgtEl>
                                        <p:attrNameLst>
                                          <p:attrName>r</p:attrName>
                                        </p:attrNameLst>
                                      </p:cBhvr>
                                    </p:animRot>
                                    <p:animRot by="-240000">
                                      <p:cBhvr>
                                        <p:cTn id="70" dur="400" fill="hold">
                                          <p:stCondLst>
                                            <p:cond delay="400"/>
                                          </p:stCondLst>
                                        </p:cTn>
                                        <p:tgtEl>
                                          <p:spTgt spid="22"/>
                                        </p:tgtEl>
                                        <p:attrNameLst>
                                          <p:attrName>r</p:attrName>
                                        </p:attrNameLst>
                                      </p:cBhvr>
                                    </p:animRot>
                                    <p:animRot by="240000">
                                      <p:cBhvr>
                                        <p:cTn id="71" dur="400" fill="hold">
                                          <p:stCondLst>
                                            <p:cond delay="800"/>
                                          </p:stCondLst>
                                        </p:cTn>
                                        <p:tgtEl>
                                          <p:spTgt spid="22"/>
                                        </p:tgtEl>
                                        <p:attrNameLst>
                                          <p:attrName>r</p:attrName>
                                        </p:attrNameLst>
                                      </p:cBhvr>
                                    </p:animRot>
                                    <p:animRot by="-240000">
                                      <p:cBhvr>
                                        <p:cTn id="72" dur="400" fill="hold">
                                          <p:stCondLst>
                                            <p:cond delay="1200"/>
                                          </p:stCondLst>
                                        </p:cTn>
                                        <p:tgtEl>
                                          <p:spTgt spid="22"/>
                                        </p:tgtEl>
                                        <p:attrNameLst>
                                          <p:attrName>r</p:attrName>
                                        </p:attrNameLst>
                                      </p:cBhvr>
                                    </p:animRot>
                                    <p:animRot by="120000">
                                      <p:cBhvr>
                                        <p:cTn id="73" dur="400" fill="hold">
                                          <p:stCondLst>
                                            <p:cond delay="1600"/>
                                          </p:stCondLst>
                                        </p:cTn>
                                        <p:tgtEl>
                                          <p:spTgt spid="22"/>
                                        </p:tgtEl>
                                        <p:attrNameLst>
                                          <p:attrName>r</p:attrName>
                                        </p:attrNameLst>
                                      </p:cBhvr>
                                    </p:animRot>
                                  </p:childTnLst>
                                </p:cTn>
                              </p:par>
                            </p:childTnLst>
                          </p:cTn>
                        </p:par>
                        <p:par>
                          <p:cTn id="74" fill="hold">
                            <p:stCondLst>
                              <p:cond delay="3000"/>
                            </p:stCondLst>
                            <p:childTnLst>
                              <p:par>
                                <p:cTn id="75" presetID="10" presetClass="exit" presetSubtype="0" fill="hold" grpId="2" nodeType="afterEffect">
                                  <p:stCondLst>
                                    <p:cond delay="0"/>
                                  </p:stCondLst>
                                  <p:childTnLst>
                                    <p:animEffect transition="out" filter="fade">
                                      <p:cBhvr>
                                        <p:cTn id="76" dur="500"/>
                                        <p:tgtEl>
                                          <p:spTgt spid="22"/>
                                        </p:tgtEl>
                                      </p:cBhvr>
                                    </p:animEffect>
                                    <p:set>
                                      <p:cBhvr>
                                        <p:cTn id="77"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animBg="1"/>
      <p:bldP spid="17" grpId="1" animBg="1"/>
      <p:bldP spid="17" grpId="2" animBg="1"/>
      <p:bldP spid="18" grpId="0" animBg="1"/>
      <p:bldP spid="18" grpId="1" animBg="1"/>
      <p:bldP spid="18" grpId="2" animBg="1"/>
      <p:bldP spid="20" grpId="0"/>
      <p:bldP spid="21" grpId="0"/>
      <p:bldP spid="22" grpId="0" animBg="1"/>
      <p:bldP spid="22" grpId="1" animBg="1"/>
      <p:bldP spid="22" grpId="2"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749788" y="273412"/>
            <a:ext cx="8563313" cy="535531"/>
          </a:xfrm>
          <a:noFill/>
        </p:spPr>
        <p:txBody>
          <a:bodyPr wrap="square" rtlCol="0">
            <a:spAutoFit/>
          </a:bodyPr>
          <a:lstStyle/>
          <a:p>
            <a:r>
              <a:rPr lang="en-US" sz="3200">
                <a:solidFill>
                  <a:srgbClr val="002060"/>
                </a:solidFill>
                <a:latin typeface="+mj-lt"/>
                <a:ea typeface="+mn-ea"/>
                <a:cs typeface="+mn-cs"/>
              </a:rPr>
              <a:t>C. Ungrouped Frequency Distribution</a:t>
            </a:r>
          </a:p>
        </p:txBody>
      </p:sp>
      <p:sp>
        <p:nvSpPr>
          <p:cNvPr id="3" name="TextBox 2"/>
          <p:cNvSpPr txBox="1"/>
          <p:nvPr/>
        </p:nvSpPr>
        <p:spPr>
          <a:xfrm>
            <a:off x="1262743" y="1026991"/>
            <a:ext cx="10417628" cy="1384995"/>
          </a:xfrm>
          <a:prstGeom prst="rect">
            <a:avLst/>
          </a:prstGeom>
          <a:noFill/>
        </p:spPr>
        <p:txBody>
          <a:bodyPr wrap="square" rtlCol="0">
            <a:spAutoFit/>
          </a:bodyPr>
          <a:lstStyle/>
          <a:p>
            <a:r>
              <a:rPr lang="en-US" sz="2800" i="1">
                <a:solidFill>
                  <a:schemeClr val="accent6"/>
                </a:solidFill>
              </a:rPr>
              <a:t>When the range of data is relatively small, we can use single data values for each class. This type is called </a:t>
            </a:r>
            <a:r>
              <a:rPr lang="en-US" sz="2800" b="1" i="1">
                <a:solidFill>
                  <a:srgbClr val="C00000"/>
                </a:solidFill>
              </a:rPr>
              <a:t>Ungrouped frequency distribution</a:t>
            </a:r>
            <a:r>
              <a:rPr lang="en-US" sz="2800" i="1"/>
              <a:t>.</a:t>
            </a:r>
          </a:p>
        </p:txBody>
      </p:sp>
      <p:sp>
        <p:nvSpPr>
          <p:cNvPr id="4" name="Rectangle 2"/>
          <p:cNvSpPr txBox="1">
            <a:spLocks noChangeArrowheads="1"/>
          </p:cNvSpPr>
          <p:nvPr/>
        </p:nvSpPr>
        <p:spPr>
          <a:xfrm>
            <a:off x="749788" y="2918722"/>
            <a:ext cx="7496397" cy="481315"/>
          </a:xfrm>
          <a:prstGeom prst="rect">
            <a:avLst/>
          </a:prstGeom>
        </p:spPr>
        <p:txBody>
          <a:bodyPr vert="horz" lIns="92075" tIns="46038" rIns="92075" bIns="46038" rtlCol="0" anchor="b">
            <a:noAutofit/>
          </a:bodyPr>
          <a:lstStyle>
            <a:lvl1pPr algn="l" defTabSz="914400" rtl="0" eaLnBrk="1" latinLnBrk="0" hangingPunct="1">
              <a:lnSpc>
                <a:spcPct val="90000"/>
              </a:lnSpc>
              <a:spcBef>
                <a:spcPct val="0"/>
              </a:spcBef>
              <a:buNone/>
              <a:defRPr sz="2800" b="1" kern="1200">
                <a:solidFill>
                  <a:srgbClr val="FEFEFE"/>
                </a:solidFill>
                <a:latin typeface="+mj-lt"/>
                <a:ea typeface="+mj-ea"/>
                <a:cs typeface="+mj-cs"/>
              </a:defRPr>
            </a:lvl1pPr>
          </a:lstStyle>
          <a:p>
            <a:pPr>
              <a:defRPr/>
            </a:pPr>
            <a:r>
              <a:rPr lang="en-US" sz="3200">
                <a:solidFill>
                  <a:srgbClr val="C00000"/>
                </a:solidFill>
                <a:latin typeface="Calibri" panose="020F0502020204030204" pitchFamily="34" charset="0"/>
                <a:cs typeface="Calibri" panose="020F0502020204030204" pitchFamily="34" charset="0"/>
              </a:rPr>
              <a:t>Example 2:</a:t>
            </a:r>
            <a:endParaRPr lang="en-US" sz="4800">
              <a:solidFill>
                <a:srgbClr val="0070C0"/>
              </a:solidFill>
            </a:endParaRPr>
          </a:p>
        </p:txBody>
      </p:sp>
      <p:pic>
        <p:nvPicPr>
          <p:cNvPr id="5" name="Picture 4"/>
          <p:cNvPicPr>
            <a:picLocks noChangeAspect="1"/>
          </p:cNvPicPr>
          <p:nvPr/>
        </p:nvPicPr>
        <p:blipFill>
          <a:blip r:embed="rId2"/>
          <a:stretch>
            <a:fillRect/>
          </a:stretch>
        </p:blipFill>
        <p:spPr>
          <a:xfrm>
            <a:off x="1344549" y="3374150"/>
            <a:ext cx="4773631" cy="2226724"/>
          </a:xfrm>
          <a:prstGeom prst="rect">
            <a:avLst/>
          </a:prstGeom>
        </p:spPr>
      </p:pic>
      <p:sp>
        <p:nvSpPr>
          <p:cNvPr id="6" name="Cloud 5"/>
          <p:cNvSpPr/>
          <p:nvPr/>
        </p:nvSpPr>
        <p:spPr>
          <a:xfrm>
            <a:off x="6712941" y="2509565"/>
            <a:ext cx="4967430" cy="3373676"/>
          </a:xfrm>
          <a:prstGeom prst="cloud">
            <a:avLst/>
          </a:prstGeom>
          <a:solidFill>
            <a:schemeClr val="accent6">
              <a:lumMod val="10000"/>
              <a:lumOff val="90000"/>
            </a:schemeClr>
          </a:solid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500">
                <a:solidFill>
                  <a:schemeClr val="accent6"/>
                </a:solidFill>
                <a:latin typeface="Calibri" pitchFamily="34" charset="0"/>
              </a:rPr>
              <a:t>The ages of 20 dogs in a pet shelter are shown. Construct the ungrouped frequency table for the data.</a:t>
            </a:r>
          </a:p>
        </p:txBody>
      </p:sp>
      <p:sp>
        <p:nvSpPr>
          <p:cNvPr id="7" name="Rectangle 6"/>
          <p:cNvSpPr/>
          <p:nvPr/>
        </p:nvSpPr>
        <p:spPr>
          <a:xfrm>
            <a:off x="753237" y="6397165"/>
            <a:ext cx="11382965" cy="338554"/>
          </a:xfrm>
          <a:prstGeom prst="rect">
            <a:avLst/>
          </a:prstGeom>
        </p:spPr>
        <p:txBody>
          <a:bodyPr wrap="square">
            <a:spAutoFit/>
          </a:bodyPr>
          <a:lstStyle/>
          <a:p>
            <a:pPr>
              <a:spcBef>
                <a:spcPct val="0"/>
              </a:spcBef>
            </a:pPr>
            <a:r>
              <a:rPr lang="en-US" sz="1600" i="1">
                <a:solidFill>
                  <a:schemeClr val="accent6">
                    <a:lumMod val="75000"/>
                    <a:lumOff val="25000"/>
                  </a:schemeClr>
                </a:solidFill>
              </a:rPr>
              <a:t>Note: This data will be used for several examples. You might want to duplicate it for use with the slides that follow.</a:t>
            </a:r>
          </a:p>
        </p:txBody>
      </p:sp>
    </p:spTree>
    <p:extLst>
      <p:ext uri="{BB962C8B-B14F-4D97-AF65-F5344CB8AC3E}">
        <p14:creationId xmlns:p14="http://schemas.microsoft.com/office/powerpoint/2010/main" val="28962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barn(inVertical)">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705543" y="258663"/>
            <a:ext cx="8563313" cy="535531"/>
          </a:xfrm>
          <a:prstGeom prst="rect">
            <a:avLst/>
          </a:prstGeom>
          <a:noFill/>
        </p:spPr>
        <p:txBody>
          <a:bodyPr vert="horz" wrap="square" lIns="91440" tIns="45720" rIns="91440" bIns="45720" rtlCol="0" anchor="t">
            <a:spAutoFit/>
          </a:bodyPr>
          <a:lstStyle>
            <a:lvl1pPr algn="l" defTabSz="914400" rtl="0" eaLnBrk="1" latinLnBrk="0" hangingPunct="1">
              <a:lnSpc>
                <a:spcPct val="90000"/>
              </a:lnSpc>
              <a:spcBef>
                <a:spcPct val="0"/>
              </a:spcBef>
              <a:buNone/>
              <a:defRPr sz="3000" b="1" kern="120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r>
              <a:rPr lang="en-US" sz="3200">
                <a:solidFill>
                  <a:srgbClr val="002060"/>
                </a:solidFill>
                <a:latin typeface="+mj-lt"/>
                <a:ea typeface="+mn-ea"/>
                <a:cs typeface="+mn-cs"/>
              </a:rPr>
              <a:t>C. Ungrouped Frequency Distribution</a:t>
            </a:r>
          </a:p>
        </p:txBody>
      </p:sp>
      <p:sp>
        <p:nvSpPr>
          <p:cNvPr id="3" name="Text Box 8"/>
          <p:cNvSpPr txBox="1">
            <a:spLocks noChangeArrowheads="1"/>
          </p:cNvSpPr>
          <p:nvPr/>
        </p:nvSpPr>
        <p:spPr bwMode="auto">
          <a:xfrm>
            <a:off x="6161016" y="1921353"/>
            <a:ext cx="3386107" cy="954107"/>
          </a:xfrm>
          <a:prstGeom prst="rect">
            <a:avLst/>
          </a:prstGeom>
          <a:solidFill>
            <a:srgbClr val="58AD63"/>
          </a:solidFill>
          <a:ln>
            <a:noFill/>
          </a:ln>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2800" b="1">
                <a:solidFill>
                  <a:schemeClr val="accent6"/>
                </a:solidFill>
                <a:latin typeface="Calibri" pitchFamily="34" charset="0"/>
              </a:rPr>
              <a:t>Minimum value</a:t>
            </a:r>
            <a:r>
              <a:rPr lang="en-US" sz="2800">
                <a:solidFill>
                  <a:schemeClr val="accent6"/>
                </a:solidFill>
                <a:latin typeface="Calibri" pitchFamily="34" charset="0"/>
              </a:rPr>
              <a:t> =</a:t>
            </a:r>
          </a:p>
          <a:p>
            <a:pPr eaLnBrk="1" hangingPunct="1"/>
            <a:r>
              <a:rPr lang="en-US" sz="2800" b="1">
                <a:solidFill>
                  <a:schemeClr val="accent6"/>
                </a:solidFill>
                <a:latin typeface="Calibri" pitchFamily="34" charset="0"/>
              </a:rPr>
              <a:t>Maximum value</a:t>
            </a:r>
            <a:r>
              <a:rPr lang="en-US" sz="2800">
                <a:solidFill>
                  <a:schemeClr val="accent6"/>
                </a:solidFill>
                <a:latin typeface="Calibri" pitchFamily="34" charset="0"/>
              </a:rPr>
              <a:t> =        </a:t>
            </a:r>
          </a:p>
        </p:txBody>
      </p:sp>
      <p:sp>
        <p:nvSpPr>
          <p:cNvPr id="4" name="Text Box 10"/>
          <p:cNvSpPr txBox="1">
            <a:spLocks noChangeArrowheads="1"/>
          </p:cNvSpPr>
          <p:nvPr/>
        </p:nvSpPr>
        <p:spPr bwMode="auto">
          <a:xfrm>
            <a:off x="8797116" y="1923360"/>
            <a:ext cx="53091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2800" b="1">
                <a:solidFill>
                  <a:schemeClr val="accent6"/>
                </a:solidFill>
                <a:latin typeface="Calibri" pitchFamily="34" charset="0"/>
              </a:rPr>
              <a:t>  3</a:t>
            </a:r>
            <a:endParaRPr lang="en-US" sz="1600" b="1">
              <a:solidFill>
                <a:schemeClr val="accent6"/>
              </a:solidFill>
              <a:latin typeface="Calibri" pitchFamily="34" charset="0"/>
            </a:endParaRPr>
          </a:p>
        </p:txBody>
      </p:sp>
      <p:sp>
        <p:nvSpPr>
          <p:cNvPr id="5" name="Text Box 11"/>
          <p:cNvSpPr txBox="1">
            <a:spLocks noChangeArrowheads="1"/>
          </p:cNvSpPr>
          <p:nvPr/>
        </p:nvSpPr>
        <p:spPr bwMode="auto">
          <a:xfrm>
            <a:off x="8938205" y="239391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2800" b="1">
                <a:solidFill>
                  <a:schemeClr val="accent6"/>
                </a:solidFill>
                <a:latin typeface="Calibri" pitchFamily="34" charset="0"/>
              </a:rPr>
              <a:t>9</a:t>
            </a:r>
            <a:endParaRPr lang="en-US" sz="1600" b="1">
              <a:solidFill>
                <a:schemeClr val="accent6"/>
              </a:solidFill>
              <a:latin typeface="Calibri" pitchFamily="34" charset="0"/>
            </a:endParaRPr>
          </a:p>
        </p:txBody>
      </p:sp>
      <p:sp>
        <p:nvSpPr>
          <p:cNvPr id="6" name="TextBox 5"/>
          <p:cNvSpPr txBox="1"/>
          <p:nvPr/>
        </p:nvSpPr>
        <p:spPr>
          <a:xfrm>
            <a:off x="6108343" y="821461"/>
            <a:ext cx="6014831" cy="1015663"/>
          </a:xfrm>
          <a:prstGeom prst="rect">
            <a:avLst/>
          </a:prstGeom>
          <a:noFill/>
        </p:spPr>
        <p:txBody>
          <a:bodyPr wrap="square" rtlCol="0">
            <a:spAutoFit/>
          </a:bodyPr>
          <a:lstStyle/>
          <a:p>
            <a:r>
              <a:rPr lang="en-US" sz="2000">
                <a:solidFill>
                  <a:schemeClr val="accent6"/>
                </a:solidFill>
              </a:rPr>
              <a:t>Because the Range of data is relatively small, we can use the single data value in the frequency distribution.</a:t>
            </a:r>
          </a:p>
        </p:txBody>
      </p:sp>
      <p:pic>
        <p:nvPicPr>
          <p:cNvPr id="8" name="Picture 7"/>
          <p:cNvPicPr>
            <a:picLocks noChangeAspect="1"/>
          </p:cNvPicPr>
          <p:nvPr/>
        </p:nvPicPr>
        <p:blipFill>
          <a:blip r:embed="rId2"/>
          <a:stretch>
            <a:fillRect/>
          </a:stretch>
        </p:blipFill>
        <p:spPr>
          <a:xfrm>
            <a:off x="1311146" y="821461"/>
            <a:ext cx="4511185" cy="2104303"/>
          </a:xfrm>
          <a:prstGeom prst="rect">
            <a:avLst/>
          </a:prstGeom>
        </p:spPr>
      </p:pic>
      <p:sp>
        <p:nvSpPr>
          <p:cNvPr id="9" name="Rectangle 55"/>
          <p:cNvSpPr>
            <a:spLocks noGrp="1" noChangeArrowheads="1"/>
          </p:cNvSpPr>
          <p:nvPr>
            <p:ph type="title" idx="4294967295"/>
          </p:nvPr>
        </p:nvSpPr>
        <p:spPr>
          <a:xfrm>
            <a:off x="881154" y="2993586"/>
            <a:ext cx="10501746" cy="641350"/>
          </a:xfrm>
        </p:spPr>
        <p:txBody>
          <a:bodyPr>
            <a:noAutofit/>
          </a:bodyPr>
          <a:lstStyle/>
          <a:p>
            <a:pPr eaLnBrk="1" hangingPunct="1"/>
            <a:r>
              <a:rPr lang="en-US" sz="3400" b="1">
                <a:solidFill>
                  <a:srgbClr val="002060"/>
                </a:solidFill>
                <a:latin typeface="Calibri" panose="020F0502020204030204" pitchFamily="34" charset="0"/>
                <a:cs typeface="Calibri" panose="020F0502020204030204" pitchFamily="34" charset="0"/>
              </a:rPr>
              <a:t>Steps to Construct the Ungrouped Frequency Distribution</a:t>
            </a:r>
          </a:p>
        </p:txBody>
      </p:sp>
      <p:sp>
        <p:nvSpPr>
          <p:cNvPr id="10" name="Text Box 57"/>
          <p:cNvSpPr txBox="1">
            <a:spLocks noChangeArrowheads="1"/>
          </p:cNvSpPr>
          <p:nvPr/>
        </p:nvSpPr>
        <p:spPr bwMode="auto">
          <a:xfrm>
            <a:off x="1019609" y="3589618"/>
            <a:ext cx="3579902" cy="461665"/>
          </a:xfrm>
          <a:prstGeom prst="rect">
            <a:avLst/>
          </a:prstGeom>
          <a:solidFill>
            <a:srgbClr val="FFD961"/>
          </a:solidFill>
          <a:ln>
            <a:noFill/>
          </a:ln>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10000"/>
              </a:spcBef>
              <a:buClr>
                <a:schemeClr val="bg2"/>
              </a:buClr>
              <a:buFont typeface="Monotype Sorts" pitchFamily="2" charset="2"/>
              <a:buNone/>
            </a:pPr>
            <a:r>
              <a:rPr lang="en-US" sz="2400" b="1">
                <a:solidFill>
                  <a:schemeClr val="accent6"/>
                </a:solidFill>
                <a:latin typeface="Calibri" pitchFamily="34" charset="0"/>
              </a:rPr>
              <a:t>1. Choose the # of classes       </a:t>
            </a:r>
            <a:endParaRPr lang="en-US" sz="2400">
              <a:solidFill>
                <a:schemeClr val="accent6"/>
              </a:solidFill>
              <a:latin typeface="Calibri" pitchFamily="34" charset="0"/>
            </a:endParaRPr>
          </a:p>
        </p:txBody>
      </p:sp>
      <mc:AlternateContent xmlns:mc="http://schemas.openxmlformats.org/markup-compatibility/2006" xmlns:a14="http://schemas.microsoft.com/office/drawing/2010/main">
        <mc:Choice Requires="a14">
          <p:sp>
            <p:nvSpPr>
              <p:cNvPr id="12" name="Flowchart: Alternate Process 11"/>
              <p:cNvSpPr/>
              <p:nvPr/>
            </p:nvSpPr>
            <p:spPr>
              <a:xfrm>
                <a:off x="5045149" y="4091380"/>
                <a:ext cx="4702630" cy="1278349"/>
              </a:xfrm>
              <a:prstGeom prst="flowChartAlternateProcess">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bg2"/>
                    </a:solidFill>
                    <a:latin typeface="Calibri" pitchFamily="34" charset="0"/>
                  </a:rPr>
                  <a:t>Range = Maximum – Minimum</a:t>
                </a:r>
                <a:r>
                  <a:rPr lang="en-US" sz="2400" b="1">
                    <a:latin typeface="Calibri" pitchFamily="34" charset="0"/>
                  </a:rPr>
                  <a:t>.</a:t>
                </a:r>
              </a:p>
              <a:p>
                <a:pPr algn="ctr"/>
                <a14:m>
                  <m:oMath xmlns:m="http://schemas.openxmlformats.org/officeDocument/2006/math">
                    <m:r>
                      <a:rPr lang="en-US" sz="2800" b="1" i="1">
                        <a:solidFill>
                          <a:srgbClr val="C00000"/>
                        </a:solidFill>
                        <a:latin typeface="Cambria Math" panose="02040503050406030204" pitchFamily="18" charset="0"/>
                      </a:rPr>
                      <m:t>𝒄𝒍𝒂𝒔𝒔</m:t>
                    </m:r>
                    <m:r>
                      <a:rPr lang="en-US" sz="2800" b="1" i="1">
                        <a:solidFill>
                          <a:srgbClr val="C00000"/>
                        </a:solidFill>
                        <a:latin typeface="Cambria Math" panose="02040503050406030204" pitchFamily="18" charset="0"/>
                      </a:rPr>
                      <m:t> </m:t>
                    </m:r>
                    <m:r>
                      <a:rPr lang="en-US" sz="2800" b="1" i="1">
                        <a:solidFill>
                          <a:srgbClr val="C00000"/>
                        </a:solidFill>
                        <a:latin typeface="Cambria Math" panose="02040503050406030204" pitchFamily="18" charset="0"/>
                      </a:rPr>
                      <m:t>𝒘𝒊𝒅𝒕𝒉</m:t>
                    </m:r>
                    <m:r>
                      <a:rPr lang="en-US" sz="2800" b="1" i="1">
                        <a:solidFill>
                          <a:srgbClr val="C00000"/>
                        </a:solidFill>
                        <a:latin typeface="Cambria Math" panose="02040503050406030204" pitchFamily="18" charset="0"/>
                      </a:rPr>
                      <m:t>=</m:t>
                    </m:r>
                    <m:f>
                      <m:fPr>
                        <m:ctrlPr>
                          <a:rPr lang="en-US" sz="2800" b="1" i="1">
                            <a:solidFill>
                              <a:srgbClr val="C00000"/>
                            </a:solidFill>
                            <a:latin typeface="Cambria Math" panose="02040503050406030204" pitchFamily="18" charset="0"/>
                          </a:rPr>
                        </m:ctrlPr>
                      </m:fPr>
                      <m:num>
                        <m:r>
                          <a:rPr lang="en-US" sz="2800" b="1" i="1" smtClean="0">
                            <a:solidFill>
                              <a:srgbClr val="C00000"/>
                            </a:solidFill>
                            <a:latin typeface="Cambria Math" panose="02040503050406030204" pitchFamily="18" charset="0"/>
                          </a:rPr>
                          <m:t>𝑹𝒂𝒏𝒈𝒆</m:t>
                        </m:r>
                      </m:num>
                      <m:den>
                        <m:r>
                          <a:rPr lang="en-US" sz="2800" b="1" i="1" smtClean="0">
                            <a:solidFill>
                              <a:srgbClr val="C00000"/>
                            </a:solidFill>
                            <a:latin typeface="Cambria Math" panose="02040503050406030204" pitchFamily="18" charset="0"/>
                          </a:rPr>
                          <m:t># </m:t>
                        </m:r>
                        <m:r>
                          <a:rPr lang="en-US" sz="2800" b="1" i="1" smtClean="0">
                            <a:solidFill>
                              <a:srgbClr val="C00000"/>
                            </a:solidFill>
                            <a:latin typeface="Cambria Math" panose="02040503050406030204" pitchFamily="18" charset="0"/>
                          </a:rPr>
                          <m:t>𝒐𝒇</m:t>
                        </m:r>
                        <m:r>
                          <a:rPr lang="en-US" sz="2800" b="1" i="1" smtClean="0">
                            <a:solidFill>
                              <a:srgbClr val="C00000"/>
                            </a:solidFill>
                            <a:latin typeface="Cambria Math" panose="02040503050406030204" pitchFamily="18" charset="0"/>
                          </a:rPr>
                          <m:t> </m:t>
                        </m:r>
                        <m:r>
                          <a:rPr lang="en-US" sz="2800" b="1" i="1" smtClean="0">
                            <a:solidFill>
                              <a:srgbClr val="C00000"/>
                            </a:solidFill>
                            <a:latin typeface="Cambria Math" panose="02040503050406030204" pitchFamily="18" charset="0"/>
                          </a:rPr>
                          <m:t>𝒄𝒍𝒂𝒔𝒔𝒆𝒔</m:t>
                        </m:r>
                      </m:den>
                    </m:f>
                  </m:oMath>
                </a14:m>
                <a:r>
                  <a:rPr lang="en-US" sz="2800" b="1">
                    <a:latin typeface="Calibri" pitchFamily="34" charset="0"/>
                  </a:rPr>
                  <a:t> </a:t>
                </a:r>
                <a:endParaRPr lang="en-US" sz="2800"/>
              </a:p>
            </p:txBody>
          </p:sp>
        </mc:Choice>
        <mc:Fallback xmlns="">
          <p:sp>
            <p:nvSpPr>
              <p:cNvPr id="12" name="Flowchart: Alternate Process 11"/>
              <p:cNvSpPr>
                <a:spLocks noRot="1" noChangeAspect="1" noMove="1" noResize="1" noEditPoints="1" noAdjustHandles="1" noChangeArrowheads="1" noChangeShapeType="1" noTextEdit="1"/>
              </p:cNvSpPr>
              <p:nvPr/>
            </p:nvSpPr>
            <p:spPr>
              <a:xfrm>
                <a:off x="5045149" y="4091380"/>
                <a:ext cx="4702630" cy="1278349"/>
              </a:xfrm>
              <a:prstGeom prst="flowChartAlternateProcess">
                <a:avLst/>
              </a:prstGeom>
              <a:blipFill>
                <a:blip r:embed="rId3"/>
                <a:stretch>
                  <a:fillRect/>
                </a:stretch>
              </a:blipFill>
            </p:spPr>
            <p:txBody>
              <a:bodyPr/>
              <a:lstStyle/>
              <a:p>
                <a:r>
                  <a:rPr lang="en-US">
                    <a:noFill/>
                  </a:rPr>
                  <a:t> </a:t>
                </a:r>
              </a:p>
            </p:txBody>
          </p:sp>
        </mc:Fallback>
      </mc:AlternateContent>
      <p:sp>
        <p:nvSpPr>
          <p:cNvPr id="13" name="Text Box 63"/>
          <p:cNvSpPr txBox="1">
            <a:spLocks noChangeArrowheads="1"/>
          </p:cNvSpPr>
          <p:nvPr/>
        </p:nvSpPr>
        <p:spPr bwMode="auto">
          <a:xfrm>
            <a:off x="4692660" y="3599358"/>
            <a:ext cx="280772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10000"/>
              </a:spcBef>
              <a:buClr>
                <a:schemeClr val="bg2"/>
              </a:buClr>
              <a:buFont typeface="Monotype Sorts" pitchFamily="2" charset="2"/>
              <a:buNone/>
            </a:pPr>
            <a:r>
              <a:rPr lang="en-US" sz="2400" b="1">
                <a:solidFill>
                  <a:schemeClr val="accent6"/>
                </a:solidFill>
                <a:latin typeface="Calibri" pitchFamily="34" charset="0"/>
              </a:rPr>
              <a:t>Let choose 7 classes</a:t>
            </a:r>
          </a:p>
        </p:txBody>
      </p:sp>
      <p:sp>
        <p:nvSpPr>
          <p:cNvPr id="14" name="Text Box 63"/>
          <p:cNvSpPr txBox="1">
            <a:spLocks noChangeArrowheads="1"/>
          </p:cNvSpPr>
          <p:nvPr/>
        </p:nvSpPr>
        <p:spPr bwMode="auto">
          <a:xfrm>
            <a:off x="7706226" y="3589618"/>
            <a:ext cx="280772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10000"/>
              </a:spcBef>
              <a:buClr>
                <a:schemeClr val="bg2"/>
              </a:buClr>
              <a:buFont typeface="Monotype Sorts" pitchFamily="2" charset="2"/>
              <a:buNone/>
            </a:pPr>
            <a:r>
              <a:rPr lang="en-US" sz="2400" b="1">
                <a:solidFill>
                  <a:schemeClr val="accent6"/>
                </a:solidFill>
                <a:latin typeface="Calibri" pitchFamily="34" charset="0"/>
              </a:rPr>
              <a:t>Range = 9 - 3  = 6</a:t>
            </a:r>
          </a:p>
        </p:txBody>
      </p:sp>
      <p:sp>
        <p:nvSpPr>
          <p:cNvPr id="15" name="Text Box 60"/>
          <p:cNvSpPr txBox="1">
            <a:spLocks noChangeArrowheads="1"/>
          </p:cNvSpPr>
          <p:nvPr/>
        </p:nvSpPr>
        <p:spPr bwMode="auto">
          <a:xfrm>
            <a:off x="1031428" y="4326809"/>
            <a:ext cx="3845372" cy="461665"/>
          </a:xfrm>
          <a:prstGeom prst="rect">
            <a:avLst/>
          </a:prstGeom>
          <a:solidFill>
            <a:srgbClr val="FFD961"/>
          </a:solidFill>
          <a:ln>
            <a:noFill/>
          </a:ln>
        </p:spPr>
        <p:txBody>
          <a:bodyPr wrap="square">
            <a:spAutoFit/>
          </a:bodyPr>
          <a:lstStyle>
            <a:defPPr>
              <a:defRPr lang="en-US"/>
            </a:defPPr>
            <a:lvl1pPr>
              <a:spcBef>
                <a:spcPct val="10000"/>
              </a:spcBef>
              <a:buClr>
                <a:schemeClr val="bg2"/>
              </a:buClr>
              <a:buFont typeface="Monotype Sorts" pitchFamily="2" charset="2"/>
              <a:buNone/>
              <a:defRPr sz="2400" b="1">
                <a:solidFill>
                  <a:schemeClr val="accent6"/>
                </a:solidFill>
                <a:latin typeface="Calibri" pitchFamily="34" charset="0"/>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0"/>
              </a:spcBef>
              <a:spcAft>
                <a:spcPct val="0"/>
              </a:spcAft>
              <a:defRPr>
                <a:latin typeface="Arial" charset="0"/>
              </a:defRPr>
            </a:lvl6pPr>
            <a:lvl7pPr marL="2971800" indent="-228600" eaLnBrk="0" fontAlgn="base" hangingPunct="0">
              <a:spcBef>
                <a:spcPct val="0"/>
              </a:spcBef>
              <a:spcAft>
                <a:spcPct val="0"/>
              </a:spcAft>
              <a:defRPr>
                <a:latin typeface="Arial" charset="0"/>
              </a:defRPr>
            </a:lvl7pPr>
            <a:lvl8pPr marL="3429000" indent="-228600" eaLnBrk="0" fontAlgn="base" hangingPunct="0">
              <a:spcBef>
                <a:spcPct val="0"/>
              </a:spcBef>
              <a:spcAft>
                <a:spcPct val="0"/>
              </a:spcAft>
              <a:defRPr>
                <a:latin typeface="Arial" charset="0"/>
              </a:defRPr>
            </a:lvl8pPr>
            <a:lvl9pPr marL="3886200" indent="-228600" eaLnBrk="0" fontAlgn="base" hangingPunct="0">
              <a:spcBef>
                <a:spcPct val="0"/>
              </a:spcBef>
              <a:spcAft>
                <a:spcPct val="0"/>
              </a:spcAft>
              <a:defRPr>
                <a:latin typeface="Arial" charset="0"/>
              </a:defRPr>
            </a:lvl9pPr>
          </a:lstStyle>
          <a:p>
            <a:r>
              <a:rPr lang="en-US"/>
              <a:t>2. Calculate the Class Width</a:t>
            </a:r>
          </a:p>
        </p:txBody>
      </p:sp>
      <mc:AlternateContent xmlns:mc="http://schemas.openxmlformats.org/markup-compatibility/2006" xmlns:a14="http://schemas.microsoft.com/office/drawing/2010/main">
        <mc:Choice Requires="a14">
          <p:sp>
            <p:nvSpPr>
              <p:cNvPr id="16" name="Text Box 65"/>
              <p:cNvSpPr txBox="1">
                <a:spLocks noChangeArrowheads="1"/>
              </p:cNvSpPr>
              <p:nvPr/>
            </p:nvSpPr>
            <p:spPr bwMode="auto">
              <a:xfrm>
                <a:off x="5045149" y="5462271"/>
                <a:ext cx="7169832" cy="993798"/>
              </a:xfrm>
              <a:prstGeom prst="rect">
                <a:avLst/>
              </a:prstGeom>
              <a:noFill/>
              <a:ln>
                <a:noFill/>
              </a:ln>
              <a:extLst>
                <a:ext uri="{909E8E84-426E-40DD-AFC4-6F175D3DCCD1}">
                  <a14:hiddenFill>
                    <a:solidFill>
                      <a:srgbClr val="FFFFFF"/>
                    </a:solidFill>
                  </a14:hiddenFill>
                </a:ext>
                <a:ext uri="{91240B29-F687-4F45-9708-019B960494DF}">
                  <a14:hiddenLine w="12700" cap="sq">
                    <a:solidFill>
                      <a:srgbClr val="000000"/>
                    </a:solidFill>
                    <a:miter lim="800000"/>
                    <a:headEnd type="none" w="sm" len="sm"/>
                    <a:tailEnd type="none" w="sm" len="sm"/>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10000"/>
                  </a:spcBef>
                  <a:buClr>
                    <a:schemeClr val="bg2"/>
                  </a:buClr>
                </a:pPr>
                <a14:m>
                  <m:oMath xmlns:m="http://schemas.openxmlformats.org/officeDocument/2006/math">
                    <m:r>
                      <a:rPr lang="en-US" sz="2400" b="1" i="1" smtClean="0">
                        <a:solidFill>
                          <a:srgbClr val="C00000"/>
                        </a:solidFill>
                        <a:latin typeface="Cambria Math" panose="02040503050406030204" pitchFamily="18" charset="0"/>
                      </a:rPr>
                      <m:t>𝑪𝒍𝒂𝒔𝒔</m:t>
                    </m:r>
                    <m:r>
                      <a:rPr lang="en-US" sz="2400" b="1" i="1" smtClean="0">
                        <a:solidFill>
                          <a:srgbClr val="C00000"/>
                        </a:solidFill>
                        <a:latin typeface="Cambria Math" panose="02040503050406030204" pitchFamily="18" charset="0"/>
                      </a:rPr>
                      <m:t> </m:t>
                    </m:r>
                    <m:r>
                      <a:rPr lang="en-US" sz="2400" b="1" i="1" smtClean="0">
                        <a:solidFill>
                          <a:srgbClr val="C00000"/>
                        </a:solidFill>
                        <a:latin typeface="Cambria Math" panose="02040503050406030204" pitchFamily="18" charset="0"/>
                      </a:rPr>
                      <m:t>𝒘𝒊𝒅𝒕𝒉</m:t>
                    </m:r>
                    <m:r>
                      <a:rPr lang="en-US" sz="2400" b="1" i="1" smtClean="0">
                        <a:solidFill>
                          <a:srgbClr val="C00000"/>
                        </a:solidFill>
                        <a:latin typeface="Cambria Math" panose="02040503050406030204" pitchFamily="18" charset="0"/>
                      </a:rPr>
                      <m:t>=</m:t>
                    </m:r>
                    <m:f>
                      <m:fPr>
                        <m:ctrlPr>
                          <a:rPr lang="en-US" sz="2400" b="1" i="1" smtClean="0">
                            <a:solidFill>
                              <a:srgbClr val="C00000"/>
                            </a:solidFill>
                            <a:latin typeface="Cambria Math" panose="02040503050406030204" pitchFamily="18" charset="0"/>
                          </a:rPr>
                        </m:ctrlPr>
                      </m:fPr>
                      <m:num>
                        <m:r>
                          <a:rPr lang="en-US" sz="2400" b="1" i="1" smtClean="0">
                            <a:solidFill>
                              <a:srgbClr val="C00000"/>
                            </a:solidFill>
                            <a:latin typeface="Cambria Math" panose="02040503050406030204" pitchFamily="18" charset="0"/>
                          </a:rPr>
                          <m:t>𝟗</m:t>
                        </m:r>
                        <m:r>
                          <a:rPr lang="en-US" sz="2400" b="1" i="1" smtClean="0">
                            <a:solidFill>
                              <a:srgbClr val="C00000"/>
                            </a:solidFill>
                            <a:latin typeface="Cambria Math" panose="02040503050406030204" pitchFamily="18" charset="0"/>
                          </a:rPr>
                          <m:t>−</m:t>
                        </m:r>
                        <m:r>
                          <a:rPr lang="en-US" sz="2400" b="1" i="1" smtClean="0">
                            <a:solidFill>
                              <a:srgbClr val="C00000"/>
                            </a:solidFill>
                            <a:latin typeface="Cambria Math" panose="02040503050406030204" pitchFamily="18" charset="0"/>
                          </a:rPr>
                          <m:t>𝟑</m:t>
                        </m:r>
                      </m:num>
                      <m:den>
                        <m:r>
                          <a:rPr lang="en-US" sz="2400" b="1" i="1" smtClean="0">
                            <a:solidFill>
                              <a:srgbClr val="C00000"/>
                            </a:solidFill>
                            <a:latin typeface="Cambria Math" panose="02040503050406030204" pitchFamily="18" charset="0"/>
                          </a:rPr>
                          <m:t>𝟕</m:t>
                        </m:r>
                      </m:den>
                    </m:f>
                  </m:oMath>
                </a14:m>
                <a:r>
                  <a:rPr lang="en-US" sz="2400" b="1">
                    <a:solidFill>
                      <a:srgbClr val="C00000"/>
                    </a:solidFill>
                    <a:latin typeface="Calibri" pitchFamily="34" charset="0"/>
                  </a:rPr>
                  <a:t> = 0.857 ≈ 1. </a:t>
                </a:r>
                <a:r>
                  <a:rPr lang="en-US" sz="2400" b="1">
                    <a:solidFill>
                      <a:schemeClr val="accent6"/>
                    </a:solidFill>
                    <a:latin typeface="Calibri" pitchFamily="34" charset="0"/>
                  </a:rPr>
                  <a:t>As the class width =1, we will enter the classes as 3,4,5,6,7,8,9</a:t>
                </a:r>
                <a:endParaRPr lang="en-US" sz="2400">
                  <a:solidFill>
                    <a:schemeClr val="accent6"/>
                  </a:solidFill>
                  <a:latin typeface="Calibri" pitchFamily="34" charset="0"/>
                </a:endParaRPr>
              </a:p>
            </p:txBody>
          </p:sp>
        </mc:Choice>
        <mc:Fallback xmlns="">
          <p:sp>
            <p:nvSpPr>
              <p:cNvPr id="16" name="Text Box 65"/>
              <p:cNvSpPr txBox="1">
                <a:spLocks noRot="1" noChangeAspect="1" noMove="1" noResize="1" noEditPoints="1" noAdjustHandles="1" noChangeArrowheads="1" noChangeShapeType="1" noTextEdit="1"/>
              </p:cNvSpPr>
              <p:nvPr/>
            </p:nvSpPr>
            <p:spPr bwMode="auto">
              <a:xfrm>
                <a:off x="5045149" y="5462271"/>
                <a:ext cx="7169832" cy="993798"/>
              </a:xfrm>
              <a:prstGeom prst="rect">
                <a:avLst/>
              </a:prstGeom>
              <a:blipFill>
                <a:blip r:embed="rId4"/>
                <a:stretch>
                  <a:fillRect l="-1361" r="-425" b="-1288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r>
                  <a:rPr lang="en-US">
                    <a:noFill/>
                  </a:rPr>
                  <a:t> </a:t>
                </a:r>
              </a:p>
            </p:txBody>
          </p:sp>
        </mc:Fallback>
      </mc:AlternateContent>
      <p:sp>
        <p:nvSpPr>
          <p:cNvPr id="17" name="Text Box 60"/>
          <p:cNvSpPr txBox="1">
            <a:spLocks noChangeArrowheads="1"/>
          </p:cNvSpPr>
          <p:nvPr/>
        </p:nvSpPr>
        <p:spPr bwMode="auto">
          <a:xfrm>
            <a:off x="1019609" y="5275444"/>
            <a:ext cx="3845372" cy="461665"/>
          </a:xfrm>
          <a:prstGeom prst="rect">
            <a:avLst/>
          </a:prstGeom>
          <a:solidFill>
            <a:srgbClr val="FFD961"/>
          </a:solidFill>
          <a:ln>
            <a:noFill/>
          </a:ln>
        </p:spPr>
        <p:txBody>
          <a:bodyPr wrap="square">
            <a:spAutoFit/>
          </a:bodyPr>
          <a:lstStyle>
            <a:defPPr>
              <a:defRPr lang="en-US"/>
            </a:defPPr>
            <a:lvl1pPr>
              <a:spcBef>
                <a:spcPct val="10000"/>
              </a:spcBef>
              <a:buClr>
                <a:schemeClr val="bg2"/>
              </a:buClr>
              <a:buFont typeface="Monotype Sorts" pitchFamily="2" charset="2"/>
              <a:buNone/>
              <a:defRPr sz="2400" b="1">
                <a:solidFill>
                  <a:schemeClr val="accent6"/>
                </a:solidFill>
                <a:latin typeface="Calibri" pitchFamily="34" charset="0"/>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0"/>
              </a:spcBef>
              <a:spcAft>
                <a:spcPct val="0"/>
              </a:spcAft>
              <a:defRPr>
                <a:latin typeface="Arial" charset="0"/>
              </a:defRPr>
            </a:lvl6pPr>
            <a:lvl7pPr marL="2971800" indent="-228600" eaLnBrk="0" fontAlgn="base" hangingPunct="0">
              <a:spcBef>
                <a:spcPct val="0"/>
              </a:spcBef>
              <a:spcAft>
                <a:spcPct val="0"/>
              </a:spcAft>
              <a:defRPr>
                <a:latin typeface="Arial" charset="0"/>
              </a:defRPr>
            </a:lvl7pPr>
            <a:lvl8pPr marL="3429000" indent="-228600" eaLnBrk="0" fontAlgn="base" hangingPunct="0">
              <a:spcBef>
                <a:spcPct val="0"/>
              </a:spcBef>
              <a:spcAft>
                <a:spcPct val="0"/>
              </a:spcAft>
              <a:defRPr>
                <a:latin typeface="Arial" charset="0"/>
              </a:defRPr>
            </a:lvl8pPr>
            <a:lvl9pPr marL="3886200" indent="-228600" eaLnBrk="0" fontAlgn="base" hangingPunct="0">
              <a:spcBef>
                <a:spcPct val="0"/>
              </a:spcBef>
              <a:spcAft>
                <a:spcPct val="0"/>
              </a:spcAft>
              <a:defRPr>
                <a:latin typeface="Arial" charset="0"/>
              </a:defRPr>
            </a:lvl9pPr>
          </a:lstStyle>
          <a:p>
            <a:r>
              <a:rPr lang="en-US"/>
              <a:t>3. Tally the data</a:t>
            </a:r>
          </a:p>
        </p:txBody>
      </p:sp>
      <p:sp>
        <p:nvSpPr>
          <p:cNvPr id="18" name="Text Box 60"/>
          <p:cNvSpPr txBox="1">
            <a:spLocks noChangeArrowheads="1"/>
          </p:cNvSpPr>
          <p:nvPr/>
        </p:nvSpPr>
        <p:spPr bwMode="auto">
          <a:xfrm>
            <a:off x="1019609" y="5959170"/>
            <a:ext cx="3845372" cy="830997"/>
          </a:xfrm>
          <a:prstGeom prst="rect">
            <a:avLst/>
          </a:prstGeom>
          <a:solidFill>
            <a:srgbClr val="FFD961"/>
          </a:solidFill>
          <a:ln>
            <a:noFill/>
          </a:ln>
        </p:spPr>
        <p:txBody>
          <a:bodyPr wrap="square">
            <a:spAutoFit/>
          </a:bodyPr>
          <a:lstStyle>
            <a:defPPr>
              <a:defRPr lang="en-US"/>
            </a:defPPr>
            <a:lvl1pPr>
              <a:spcBef>
                <a:spcPct val="10000"/>
              </a:spcBef>
              <a:buClr>
                <a:schemeClr val="bg2"/>
              </a:buClr>
              <a:buFont typeface="Monotype Sorts" pitchFamily="2" charset="2"/>
              <a:buNone/>
              <a:defRPr sz="2400" b="1">
                <a:solidFill>
                  <a:schemeClr val="accent6"/>
                </a:solidFill>
                <a:latin typeface="Calibri" pitchFamily="34" charset="0"/>
              </a:defRPr>
            </a:lvl1pPr>
            <a:lvl2pPr marL="742950" indent="-285750" eaLnBrk="0" hangingPunct="0">
              <a:defRPr>
                <a:latin typeface="Arial" charset="0"/>
              </a:defRPr>
            </a:lvl2pPr>
            <a:lvl3pPr marL="1143000" indent="-228600" eaLnBrk="0" hangingPunct="0">
              <a:defRPr>
                <a:latin typeface="Arial" charset="0"/>
              </a:defRPr>
            </a:lvl3pPr>
            <a:lvl4pPr marL="1600200" indent="-228600" eaLnBrk="0" hangingPunct="0">
              <a:defRPr>
                <a:latin typeface="Arial" charset="0"/>
              </a:defRPr>
            </a:lvl4pPr>
            <a:lvl5pPr marL="2057400" indent="-228600" eaLnBrk="0" hangingPunct="0">
              <a:defRPr>
                <a:latin typeface="Arial" charset="0"/>
              </a:defRPr>
            </a:lvl5pPr>
            <a:lvl6pPr marL="2514600" indent="-228600" eaLnBrk="0" fontAlgn="base" hangingPunct="0">
              <a:spcBef>
                <a:spcPct val="0"/>
              </a:spcBef>
              <a:spcAft>
                <a:spcPct val="0"/>
              </a:spcAft>
              <a:defRPr>
                <a:latin typeface="Arial" charset="0"/>
              </a:defRPr>
            </a:lvl6pPr>
            <a:lvl7pPr marL="2971800" indent="-228600" eaLnBrk="0" fontAlgn="base" hangingPunct="0">
              <a:spcBef>
                <a:spcPct val="0"/>
              </a:spcBef>
              <a:spcAft>
                <a:spcPct val="0"/>
              </a:spcAft>
              <a:defRPr>
                <a:latin typeface="Arial" charset="0"/>
              </a:defRPr>
            </a:lvl7pPr>
            <a:lvl8pPr marL="3429000" indent="-228600" eaLnBrk="0" fontAlgn="base" hangingPunct="0">
              <a:spcBef>
                <a:spcPct val="0"/>
              </a:spcBef>
              <a:spcAft>
                <a:spcPct val="0"/>
              </a:spcAft>
              <a:defRPr>
                <a:latin typeface="Arial" charset="0"/>
              </a:defRPr>
            </a:lvl8pPr>
            <a:lvl9pPr marL="3886200" indent="-228600" eaLnBrk="0" fontAlgn="base" hangingPunct="0">
              <a:spcBef>
                <a:spcPct val="0"/>
              </a:spcBef>
              <a:spcAft>
                <a:spcPct val="0"/>
              </a:spcAft>
              <a:defRPr>
                <a:latin typeface="Arial" charset="0"/>
              </a:defRPr>
            </a:lvl9pPr>
          </a:lstStyle>
          <a:p>
            <a:r>
              <a:rPr lang="en-US"/>
              <a:t>4. Find the frequency and cumulative frequency</a:t>
            </a:r>
          </a:p>
        </p:txBody>
      </p:sp>
    </p:spTree>
    <p:extLst>
      <p:ext uri="{BB962C8B-B14F-4D97-AF65-F5344CB8AC3E}">
        <p14:creationId xmlns:p14="http://schemas.microsoft.com/office/powerpoint/2010/main" val="291932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barn(inVertical)">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barn(inVertical)">
                                      <p:cBhvr>
                                        <p:cTn id="34" dur="5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barn(inVertical)">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left)">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6" presetClass="entr" presetSubtype="21"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barn(inVertical)">
                                      <p:cBhvr>
                                        <p:cTn id="53" dur="500"/>
                                        <p:tgtEl>
                                          <p:spTgt spid="1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left)">
                                      <p:cBhvr>
                                        <p:cTn id="58" dur="500"/>
                                        <p:tgtEl>
                                          <p:spTgt spid="17"/>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wipe(left)">
                                      <p:cBhvr>
                                        <p:cTn id="6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p:bldP spid="10" grpId="0" animBg="1"/>
      <p:bldP spid="12" grpId="0" animBg="1"/>
      <p:bldP spid="13" grpId="0"/>
      <p:bldP spid="14" grpId="0"/>
      <p:bldP spid="15" grpId="0" animBg="1"/>
      <p:bldP spid="16" grpId="0"/>
      <p:bldP spid="17" grpId="0" animBg="1"/>
      <p:bldP spid="1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5"/>
          <p:cNvSpPr>
            <a:spLocks noGrp="1" noChangeArrowheads="1"/>
          </p:cNvSpPr>
          <p:nvPr>
            <p:ph type="title" idx="4294967295"/>
          </p:nvPr>
        </p:nvSpPr>
        <p:spPr>
          <a:xfrm>
            <a:off x="881154" y="181560"/>
            <a:ext cx="10501746" cy="641350"/>
          </a:xfrm>
        </p:spPr>
        <p:txBody>
          <a:bodyPr>
            <a:noAutofit/>
          </a:bodyPr>
          <a:lstStyle/>
          <a:p>
            <a:pPr eaLnBrk="1" hangingPunct="1"/>
            <a:r>
              <a:rPr lang="en-US" sz="3400" b="1">
                <a:solidFill>
                  <a:srgbClr val="002060"/>
                </a:solidFill>
                <a:latin typeface="Calibri" panose="020F0502020204030204" pitchFamily="34" charset="0"/>
                <a:cs typeface="Calibri" panose="020F0502020204030204" pitchFamily="34" charset="0"/>
              </a:rPr>
              <a:t>Steps to Construct the Ungrouped Frequency Distribution</a:t>
            </a:r>
          </a:p>
        </p:txBody>
      </p:sp>
      <p:pic>
        <p:nvPicPr>
          <p:cNvPr id="3" name="Picture 2"/>
          <p:cNvPicPr>
            <a:picLocks noChangeAspect="1"/>
          </p:cNvPicPr>
          <p:nvPr/>
        </p:nvPicPr>
        <p:blipFill>
          <a:blip r:embed="rId2"/>
          <a:stretch>
            <a:fillRect/>
          </a:stretch>
        </p:blipFill>
        <p:spPr>
          <a:xfrm>
            <a:off x="1615157" y="906954"/>
            <a:ext cx="8561246" cy="3891476"/>
          </a:xfrm>
          <a:prstGeom prst="rect">
            <a:avLst/>
          </a:prstGeom>
        </p:spPr>
      </p:pic>
    </p:spTree>
    <p:extLst>
      <p:ext uri="{BB962C8B-B14F-4D97-AF65-F5344CB8AC3E}">
        <p14:creationId xmlns:p14="http://schemas.microsoft.com/office/powerpoint/2010/main" val="14765573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ph type="title"/>
          </p:nvPr>
        </p:nvSpPr>
        <p:spPr>
          <a:xfrm>
            <a:off x="753237" y="289825"/>
            <a:ext cx="10740673" cy="1175181"/>
          </a:xfrm>
        </p:spPr>
        <p:txBody>
          <a:bodyPr vert="horz" lIns="92075" tIns="46038" rIns="92075" bIns="46038" rtlCol="0" anchor="b">
            <a:noAutofit/>
          </a:bodyPr>
          <a:lstStyle/>
          <a:p>
            <a:pPr>
              <a:defRPr/>
            </a:pPr>
            <a:r>
              <a:rPr lang="en-US" sz="2800" b="1">
                <a:solidFill>
                  <a:srgbClr val="C00000"/>
                </a:solidFill>
                <a:latin typeface="+mj-lt"/>
                <a:cs typeface="Calibri" panose="020F0502020204030204" pitchFamily="34" charset="0"/>
              </a:rPr>
              <a:t>Example 2: </a:t>
            </a:r>
            <a:r>
              <a:rPr lang="en-US" sz="2800">
                <a:solidFill>
                  <a:schemeClr val="accent6"/>
                </a:solidFill>
                <a:latin typeface="+mj-lt"/>
              </a:rPr>
              <a:t>From this grouped frequency distribution, answer the following questions:</a:t>
            </a:r>
            <a:br>
              <a:rPr lang="en-US" sz="2800">
                <a:solidFill>
                  <a:schemeClr val="accent6"/>
                </a:solidFill>
                <a:latin typeface="+mj-lt"/>
              </a:rPr>
            </a:br>
            <a:endParaRPr lang="en-US" sz="2800">
              <a:solidFill>
                <a:schemeClr val="accent6"/>
              </a:solidFill>
              <a:latin typeface="+mj-lt"/>
            </a:endParaRPr>
          </a:p>
        </p:txBody>
      </p:sp>
      <p:pic>
        <p:nvPicPr>
          <p:cNvPr id="3" name="Picture 2"/>
          <p:cNvPicPr>
            <a:picLocks noChangeAspect="1"/>
          </p:cNvPicPr>
          <p:nvPr/>
        </p:nvPicPr>
        <p:blipFill>
          <a:blip r:embed="rId2"/>
          <a:stretch>
            <a:fillRect/>
          </a:stretch>
        </p:blipFill>
        <p:spPr>
          <a:xfrm>
            <a:off x="5486383" y="1122209"/>
            <a:ext cx="6587813" cy="4384963"/>
          </a:xfrm>
          <a:prstGeom prst="rect">
            <a:avLst/>
          </a:prstGeom>
        </p:spPr>
      </p:pic>
      <p:sp>
        <p:nvSpPr>
          <p:cNvPr id="4" name="TextBox 3"/>
          <p:cNvSpPr txBox="1"/>
          <p:nvPr/>
        </p:nvSpPr>
        <p:spPr>
          <a:xfrm>
            <a:off x="621518" y="1397665"/>
            <a:ext cx="4969163" cy="830997"/>
          </a:xfrm>
          <a:prstGeom prst="rect">
            <a:avLst/>
          </a:prstGeom>
          <a:noFill/>
        </p:spPr>
        <p:txBody>
          <a:bodyPr wrap="square" rtlCol="0">
            <a:spAutoFit/>
          </a:bodyPr>
          <a:lstStyle/>
          <a:p>
            <a:r>
              <a:rPr lang="en-US" sz="2400" b="1" i="1">
                <a:solidFill>
                  <a:srgbClr val="002060"/>
                </a:solidFill>
              </a:rPr>
              <a:t>1. What age of dog has the least frequency?</a:t>
            </a:r>
          </a:p>
        </p:txBody>
      </p:sp>
      <p:sp>
        <p:nvSpPr>
          <p:cNvPr id="5" name="TextBox 4"/>
          <p:cNvSpPr txBox="1"/>
          <p:nvPr/>
        </p:nvSpPr>
        <p:spPr>
          <a:xfrm>
            <a:off x="954023" y="2318504"/>
            <a:ext cx="2752436" cy="461665"/>
          </a:xfrm>
          <a:prstGeom prst="rect">
            <a:avLst/>
          </a:prstGeom>
          <a:noFill/>
        </p:spPr>
        <p:txBody>
          <a:bodyPr wrap="square" rtlCol="0">
            <a:spAutoFit/>
          </a:bodyPr>
          <a:lstStyle/>
          <a:p>
            <a:r>
              <a:rPr lang="en-US" sz="2400" b="1" i="1">
                <a:solidFill>
                  <a:srgbClr val="FF0000"/>
                </a:solidFill>
              </a:rPr>
              <a:t>Answer = 6</a:t>
            </a:r>
          </a:p>
        </p:txBody>
      </p:sp>
      <p:sp>
        <p:nvSpPr>
          <p:cNvPr id="6" name="TextBox 5"/>
          <p:cNvSpPr txBox="1"/>
          <p:nvPr/>
        </p:nvSpPr>
        <p:spPr>
          <a:xfrm>
            <a:off x="621518" y="3162061"/>
            <a:ext cx="4969163" cy="830997"/>
          </a:xfrm>
          <a:prstGeom prst="rect">
            <a:avLst/>
          </a:prstGeom>
          <a:noFill/>
        </p:spPr>
        <p:txBody>
          <a:bodyPr wrap="square" rtlCol="0">
            <a:spAutoFit/>
          </a:bodyPr>
          <a:lstStyle/>
          <a:p>
            <a:r>
              <a:rPr lang="en-US" sz="2400" b="1" i="1">
                <a:solidFill>
                  <a:srgbClr val="002060"/>
                </a:solidFill>
              </a:rPr>
              <a:t>2. How many dogs in the shelter is 5 years old or less?</a:t>
            </a:r>
          </a:p>
        </p:txBody>
      </p:sp>
      <p:sp>
        <p:nvSpPr>
          <p:cNvPr id="7" name="TextBox 6"/>
          <p:cNvSpPr txBox="1"/>
          <p:nvPr/>
        </p:nvSpPr>
        <p:spPr>
          <a:xfrm>
            <a:off x="954023" y="4082900"/>
            <a:ext cx="2752436" cy="461665"/>
          </a:xfrm>
          <a:prstGeom prst="rect">
            <a:avLst/>
          </a:prstGeom>
          <a:noFill/>
        </p:spPr>
        <p:txBody>
          <a:bodyPr wrap="square" rtlCol="0">
            <a:spAutoFit/>
          </a:bodyPr>
          <a:lstStyle/>
          <a:p>
            <a:r>
              <a:rPr lang="en-US" sz="2400" b="1" i="1">
                <a:solidFill>
                  <a:srgbClr val="FF0000"/>
                </a:solidFill>
              </a:rPr>
              <a:t>Answer = 10</a:t>
            </a:r>
          </a:p>
        </p:txBody>
      </p:sp>
      <p:sp>
        <p:nvSpPr>
          <p:cNvPr id="8" name="TextBox 7"/>
          <p:cNvSpPr txBox="1"/>
          <p:nvPr/>
        </p:nvSpPr>
        <p:spPr>
          <a:xfrm>
            <a:off x="621518" y="4766017"/>
            <a:ext cx="4969163" cy="830997"/>
          </a:xfrm>
          <a:prstGeom prst="rect">
            <a:avLst/>
          </a:prstGeom>
          <a:noFill/>
        </p:spPr>
        <p:txBody>
          <a:bodyPr wrap="square" rtlCol="0">
            <a:spAutoFit/>
          </a:bodyPr>
          <a:lstStyle/>
          <a:p>
            <a:r>
              <a:rPr lang="en-US" sz="2400" b="1" i="1">
                <a:solidFill>
                  <a:srgbClr val="002060"/>
                </a:solidFill>
              </a:rPr>
              <a:t>3. How many dogs in the shelter is at least 5 years old </a:t>
            </a:r>
          </a:p>
        </p:txBody>
      </p:sp>
      <p:sp>
        <p:nvSpPr>
          <p:cNvPr id="9" name="TextBox 8"/>
          <p:cNvSpPr txBox="1"/>
          <p:nvPr/>
        </p:nvSpPr>
        <p:spPr>
          <a:xfrm>
            <a:off x="926313" y="5686856"/>
            <a:ext cx="2616777" cy="461665"/>
          </a:xfrm>
          <a:prstGeom prst="rect">
            <a:avLst/>
          </a:prstGeom>
          <a:noFill/>
        </p:spPr>
        <p:txBody>
          <a:bodyPr wrap="square" rtlCol="0">
            <a:spAutoFit/>
          </a:bodyPr>
          <a:lstStyle/>
          <a:p>
            <a:r>
              <a:rPr lang="en-US" sz="2400" b="1" i="1">
                <a:solidFill>
                  <a:srgbClr val="FF0000"/>
                </a:solidFill>
              </a:rPr>
              <a:t>Answer = 14</a:t>
            </a:r>
          </a:p>
        </p:txBody>
      </p:sp>
    </p:spTree>
    <p:extLst>
      <p:ext uri="{BB962C8B-B14F-4D97-AF65-F5344CB8AC3E}">
        <p14:creationId xmlns:p14="http://schemas.microsoft.com/office/powerpoint/2010/main" val="790909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3168179"/>
            <a:ext cx="12192000" cy="1200329"/>
          </a:xfrm>
          <a:prstGeom prst="rect">
            <a:avLst/>
          </a:prstGeom>
          <a:noFill/>
        </p:spPr>
        <p:txBody>
          <a:bodyPr wrap="square" rtlCol="0">
            <a:spAutoFit/>
          </a:bodyPr>
          <a:lstStyle/>
          <a:p>
            <a:pPr algn="ctr"/>
            <a:r>
              <a:rPr lang="en-US" sz="7200" b="1">
                <a:solidFill>
                  <a:schemeClr val="bg2"/>
                </a:solidFill>
                <a:latin typeface="Tahoma" panose="020B0604030504040204" pitchFamily="34" charset="0"/>
                <a:ea typeface="Tahoma" panose="020B0604030504040204" pitchFamily="34" charset="0"/>
                <a:cs typeface="Tahoma" panose="020B0604030504040204" pitchFamily="34" charset="0"/>
              </a:rPr>
              <a:t>Thank You</a:t>
            </a:r>
          </a:p>
        </p:txBody>
      </p:sp>
    </p:spTree>
    <p:extLst>
      <p:ext uri="{BB962C8B-B14F-4D97-AF65-F5344CB8AC3E}">
        <p14:creationId xmlns:p14="http://schemas.microsoft.com/office/powerpoint/2010/main" val="3769315409"/>
      </p:ext>
    </p:extLst>
  </p:cSld>
  <p:clrMapOvr>
    <a:masterClrMapping/>
  </p:clrMapOvr>
</p:sld>
</file>

<file path=ppt/theme/theme1.xml><?xml version="1.0" encoding="utf-8"?>
<a:theme xmlns:a="http://schemas.openxmlformats.org/drawingml/2006/main" name="Office Theme">
  <a:themeElements>
    <a:clrScheme name="HCT COLORS">
      <a:dk1>
        <a:srgbClr val="00249C"/>
      </a:dk1>
      <a:lt1>
        <a:srgbClr val="46D6AB"/>
      </a:lt1>
      <a:dk2>
        <a:srgbClr val="00249C"/>
      </a:dk2>
      <a:lt2>
        <a:srgbClr val="FFFFFF"/>
      </a:lt2>
      <a:accent1>
        <a:srgbClr val="BA28BA"/>
      </a:accent1>
      <a:accent2>
        <a:srgbClr val="00A3E1"/>
      </a:accent2>
      <a:accent3>
        <a:srgbClr val="B1E4E2"/>
      </a:accent3>
      <a:accent4>
        <a:srgbClr val="C4E86C"/>
      </a:accent4>
      <a:accent5>
        <a:srgbClr val="F7E948"/>
      </a:accent5>
      <a:accent6>
        <a:srgbClr val="2C2825"/>
      </a:accent6>
      <a:hlink>
        <a:srgbClr val="46D6AB"/>
      </a:hlink>
      <a:folHlink>
        <a:srgbClr val="46D6A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CT-English-PPT" id="{66C1D627-B2B5-CC49-A3B4-7C85DDDC73E2}" vid="{1B779F52-C459-FE44-A2F4-9C273C3439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5D17FD735A15D408BAD2726EB9B08D8" ma:contentTypeVersion="9" ma:contentTypeDescription="Create a new document." ma:contentTypeScope="" ma:versionID="03db12c811eb4c36d2fd864cc384a820">
  <xsd:schema xmlns:xsd="http://www.w3.org/2001/XMLSchema" xmlns:xs="http://www.w3.org/2001/XMLSchema" xmlns:p="http://schemas.microsoft.com/office/2006/metadata/properties" xmlns:ns2="ab15516c-4142-4136-b6b8-60828c6cc00d" targetNamespace="http://schemas.microsoft.com/office/2006/metadata/properties" ma:root="true" ma:fieldsID="23de3073523a5cc0130e9d9b725d9ec5" ns2:_="">
    <xsd:import namespace="ab15516c-4142-4136-b6b8-60828c6cc00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15516c-4142-4136-b6b8-60828c6cc0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4fad014b-9ecf-467c-8055-4c21d3af35f7"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b15516c-4142-4136-b6b8-60828c6cc00d">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B563ED2-E5AD-45F8-A54F-A0C4D245BE24}">
  <ds:schemaRefs>
    <ds:schemaRef ds:uri="ab15516c-4142-4136-b6b8-60828c6cc00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DFAB576-852F-4F10-B4FD-CC105C730F3D}">
  <ds:schemaRefs>
    <ds:schemaRef ds:uri="ab15516c-4142-4136-b6b8-60828c6cc00d"/>
    <ds:schemaRef ds:uri="b13147af-a88e-4eb9-b1f6-01a7646d81c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53933A2-F28B-4B7F-962D-3ED04397707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25</Slides>
  <Notes>0</Notes>
  <HiddenSlides>0</HiddenSlide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CLO 1.2 Organize and Interpret Data Using Frequency Distributions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about if the values of the data are numbers?</vt:lpstr>
      <vt:lpstr>PowerPoint Presentation</vt:lpstr>
      <vt:lpstr>PowerPoint Presentation</vt:lpstr>
      <vt:lpstr>PowerPoint Presentation</vt:lpstr>
      <vt:lpstr>PowerPoint Presentation</vt:lpstr>
      <vt:lpstr>PowerPoint Presentation</vt:lpstr>
      <vt:lpstr>Example 1: Grouped Frequency Distribution</vt:lpstr>
      <vt:lpstr>Example 1: Grouped Frequency Distribution</vt:lpstr>
      <vt:lpstr>Example 1: Grouped Frequency Distribution</vt:lpstr>
      <vt:lpstr>Example 1: Grouped Frequency Distribution</vt:lpstr>
      <vt:lpstr>Example 1: Grouped Frequency Distribution</vt:lpstr>
      <vt:lpstr>Example 1: Grouped Frequency Distribution</vt:lpstr>
      <vt:lpstr>C. Ungrouped Frequency Distribution</vt:lpstr>
      <vt:lpstr>Steps to Construct the Ungrouped Frequency Distribution</vt:lpstr>
      <vt:lpstr>Steps to Construct the Ungrouped Frequency Distribution</vt:lpstr>
      <vt:lpstr>Example 2: From this grouped frequency distribution, answer the following questions: </vt:lpstr>
      <vt:lpstr>PowerPoint Presentation</vt:lpstr>
    </vt:vector>
  </TitlesOfParts>
  <Manager/>
  <Company>Higher Colleges of Technology (HCT)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HCT PowerPoint Presentation Template English</dc:title>
  <dc:subject/>
  <dc:creator>Nap Abdon;Jen Dela Torre</dc:creator>
  <cp:keywords/>
  <dc:description/>
  <cp:revision>2</cp:revision>
  <dcterms:created xsi:type="dcterms:W3CDTF">2021-09-13T06:42:37Z</dcterms:created>
  <dcterms:modified xsi:type="dcterms:W3CDTF">2026-09-22T03:12:48Z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0x01010085D17FD735A15D408BAD2726EB9B08D8</vt:lpwstr>
  </property>
  <property fmtid="{D5CDD505-2E9C-101B-9397-08002B2CF9AE}" pid="3" name="MediaServiceImageTags">
    <vt:lpwstr/>
  </property>
</Properties>
</file>