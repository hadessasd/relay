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8" r:id="rId4"/>
  </p:sldMasterIdLst>
  <p:notesMasterIdLst>
    <p:notesMasterId r:id="rId18"/>
  </p:notesMasterIdLst>
  <p:handoutMasterIdLst>
    <p:handoutMasterId r:id="rId19"/>
  </p:handoutMasterIdLst>
  <p:sldIdLst>
    <p:sldId id="256" r:id="rId5"/>
    <p:sldId id="259" r:id="rId6"/>
    <p:sldId id="271" r:id="rId7"/>
    <p:sldId id="272" r:id="rId8"/>
    <p:sldId id="274" r:id="rId9"/>
    <p:sldId id="275" r:id="rId10"/>
    <p:sldId id="276" r:id="rId11"/>
    <p:sldId id="273" r:id="rId12"/>
    <p:sldId id="277" r:id="rId13"/>
    <p:sldId id="278" r:id="rId14"/>
    <p:sldId id="279" r:id="rId15"/>
    <p:sldId id="280" r:id="rId16"/>
    <p:sldId id="264" r:id="rId17"/>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4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755A94-8B37-DAAB-CAF2-F54DC65C7FEF}" v="26" dt="2023-08-17T08:02:03.291"/>
  </p1510:revLst>
</p1510:revInfo>
</file>

<file path=ppt/tableStyles.xml><?xml version="1.0" encoding="utf-8"?>
<a:tblStyleLst xmlns:a="http://schemas.openxmlformats.org/drawingml/2006/main" def="{0505E3EF-67EA-436B-97B2-0124C06EBD2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30"/>
    <p:restoredTop sz="95928"/>
  </p:normalViewPr>
  <p:slideViewPr>
    <p:cSldViewPr snapToGrid="0" snapToObjects="1">
      <p:cViewPr varScale="1">
        <p:scale>
          <a:sx n="86" d="100"/>
          <a:sy n="86" d="100"/>
        </p:scale>
        <p:origin x="1140"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p:scale>
          <a:sx n="82" d="100"/>
          <a:sy n="82" d="100"/>
        </p:scale>
        <p:origin x="2192" y="1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B969E9E-5433-364A-AE80-1AEC5AC7B265}"/>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dirty="0">
              <a:solidFill>
                <a:srgbClr val="00249C"/>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 name="Date Placeholder 2">
            <a:extLst>
              <a:ext uri="{FF2B5EF4-FFF2-40B4-BE49-F238E27FC236}">
                <a16:creationId xmlns:a16="http://schemas.microsoft.com/office/drawing/2014/main" id="{17FB94F6-AD3A-DE43-A130-ABEDB7411373}"/>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A4057279-2CEF-B646-900B-3D01BA9036F1}" type="datetimeFigureOut">
              <a:rPr lang="en-US" smtClean="0">
                <a:solidFill>
                  <a:srgbClr val="00249C"/>
                </a:solidFill>
                <a:latin typeface="Arial" panose="020B0604020202020204" pitchFamily="34" charset="0"/>
                <a:cs typeface="Arial" panose="020B0604020202020204" pitchFamily="34" charset="0"/>
              </a:rPr>
              <a:t>9/21/2026</a:t>
            </a:fld>
            <a:endParaRPr lang="en-US" dirty="0">
              <a:solidFill>
                <a:srgbClr val="00249C"/>
              </a:solidFill>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C7623312-A5A2-1A4D-85A9-CEEBEFBCC7FB}"/>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dirty="0">
              <a:solidFill>
                <a:srgbClr val="00249C"/>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D3B48DEE-CFA9-F64D-A0B6-2206F0F80A9A}"/>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72104271-2E06-FD46-BD0C-7CEC57662AAF}" type="slidenum">
              <a:rPr lang="en-US" smtClean="0">
                <a:solidFill>
                  <a:srgbClr val="00249C"/>
                </a:solidFill>
                <a:latin typeface="Arial" panose="020B0604020202020204" pitchFamily="34" charset="0"/>
                <a:cs typeface="Arial" panose="020B0604020202020204" pitchFamily="34" charset="0"/>
              </a:rPr>
              <a:t>‹#›</a:t>
            </a:fld>
            <a:endParaRPr lang="en-US" dirty="0">
              <a:solidFill>
                <a:srgbClr val="00249C"/>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61691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a:solidFill>
            <a:schemeClr val="bg1"/>
          </a:solidFill>
        </p:spPr>
        <p:txBody>
          <a:bodyPr vert="horz" lIns="91440" tIns="45720" rIns="91440" bIns="45720" rtlCol="0"/>
          <a:lstStyle>
            <a:lvl1pPr algn="l">
              <a:defRPr sz="1200" b="0" i="0">
                <a:solidFill>
                  <a:srgbClr val="00249C"/>
                </a:solidFill>
                <a:latin typeface="Arial" panose="020B0604020202020204" pitchFamily="34" charset="0"/>
                <a:cs typeface="Arial" panose="020B0604020202020204" pitchFamily="34" charset="0"/>
              </a:defRPr>
            </a:lvl1pPr>
          </a:lstStyle>
          <a:p>
            <a:endParaRPr lang="en-US" dirty="0"/>
          </a:p>
        </p:txBody>
      </p:sp>
      <p:sp>
        <p:nvSpPr>
          <p:cNvPr id="3" name="Date Placeholder 2"/>
          <p:cNvSpPr>
            <a:spLocks noGrp="1"/>
          </p:cNvSpPr>
          <p:nvPr>
            <p:ph type="dt" idx="1"/>
          </p:nvPr>
        </p:nvSpPr>
        <p:spPr>
          <a:xfrm>
            <a:off x="5179484" y="0"/>
            <a:ext cx="3962400" cy="344091"/>
          </a:xfrm>
          <a:prstGeom prst="rect">
            <a:avLst/>
          </a:prstGeom>
          <a:solidFill>
            <a:schemeClr val="bg1"/>
          </a:solidFill>
        </p:spPr>
        <p:txBody>
          <a:bodyPr vert="horz" lIns="91440" tIns="45720" rIns="91440" bIns="45720" rtlCol="0"/>
          <a:lstStyle>
            <a:lvl1pPr algn="r">
              <a:defRPr sz="1200" b="0" i="0">
                <a:solidFill>
                  <a:srgbClr val="00249C"/>
                </a:solidFill>
                <a:latin typeface="Arial" panose="020B0604020202020204" pitchFamily="34" charset="0"/>
                <a:cs typeface="Arial" panose="020B0604020202020204" pitchFamily="34" charset="0"/>
              </a:defRPr>
            </a:lvl1pPr>
          </a:lstStyle>
          <a:p>
            <a:fld id="{26555DB0-BC7F-2748-B071-F07DB245AC5C}" type="datetimeFigureOut">
              <a:rPr lang="en-US" smtClean="0"/>
              <a:pPr/>
              <a:t>9/21/2026</a:t>
            </a:fld>
            <a:endParaRPr lang="en-US" dirty="0"/>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492698"/>
            <a:ext cx="7315200" cy="2700338"/>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6513910"/>
            <a:ext cx="3962400" cy="344090"/>
          </a:xfrm>
          <a:prstGeom prst="rect">
            <a:avLst/>
          </a:prstGeom>
          <a:solidFill>
            <a:schemeClr val="bg1"/>
          </a:solidFill>
        </p:spPr>
        <p:txBody>
          <a:bodyPr vert="horz" lIns="91440" tIns="45720" rIns="91440" bIns="45720" rtlCol="0" anchor="b"/>
          <a:lstStyle>
            <a:lvl1pPr algn="l">
              <a:defRPr sz="1200">
                <a:solidFill>
                  <a:srgbClr val="00249C"/>
                </a:solidFill>
                <a:latin typeface="Arial" panose="020B0604020202020204" pitchFamily="34" charset="0"/>
                <a:cs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5179484" y="6513910"/>
            <a:ext cx="3962400" cy="344090"/>
          </a:xfrm>
          <a:prstGeom prst="rect">
            <a:avLst/>
          </a:prstGeom>
          <a:solidFill>
            <a:schemeClr val="bg1"/>
          </a:solidFill>
        </p:spPr>
        <p:txBody>
          <a:bodyPr vert="horz" lIns="91440" tIns="45720" rIns="91440" bIns="45720" rtlCol="0" anchor="b"/>
          <a:lstStyle>
            <a:lvl1pPr algn="r">
              <a:defRPr sz="1200" b="0" i="0">
                <a:solidFill>
                  <a:srgbClr val="00249C"/>
                </a:solidFill>
                <a:latin typeface="Arial" panose="020B0604020202020204" pitchFamily="34" charset="0"/>
                <a:cs typeface="Arial" panose="020B0604020202020204" pitchFamily="34" charset="0"/>
              </a:defRPr>
            </a:lvl1pPr>
          </a:lstStyle>
          <a:p>
            <a:fld id="{57753AD3-AB46-6045-9BA1-BBC278F09B8C}" type="slidenum">
              <a:rPr lang="en-US" smtClean="0"/>
              <a:pPr/>
              <a:t>‹#›</a:t>
            </a:fld>
            <a:endParaRPr lang="en-US" dirty="0"/>
          </a:p>
        </p:txBody>
      </p:sp>
    </p:spTree>
    <p:extLst>
      <p:ext uri="{BB962C8B-B14F-4D97-AF65-F5344CB8AC3E}">
        <p14:creationId xmlns:p14="http://schemas.microsoft.com/office/powerpoint/2010/main" val="1655833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rgbClr val="00249C"/>
        </a:solidFill>
        <a:latin typeface="Arial" panose="020B0604020202020204" pitchFamily="34" charset="0"/>
        <a:ea typeface="+mn-ea"/>
        <a:cs typeface="Arial" panose="020B0604020202020204" pitchFamily="34" charset="0"/>
      </a:defRPr>
    </a:lvl1pPr>
    <a:lvl2pPr marL="457200" algn="l" defTabSz="914400" rtl="0" eaLnBrk="1" latinLnBrk="0" hangingPunct="1">
      <a:defRPr sz="1200" kern="1200">
        <a:solidFill>
          <a:srgbClr val="00249C"/>
        </a:solidFill>
        <a:latin typeface="Arial" panose="020B0604020202020204" pitchFamily="34" charset="0"/>
        <a:ea typeface="+mn-ea"/>
        <a:cs typeface="Arial" panose="020B0604020202020204" pitchFamily="34" charset="0"/>
      </a:defRPr>
    </a:lvl2pPr>
    <a:lvl3pPr marL="914400" algn="l" defTabSz="914400" rtl="0" eaLnBrk="1" latinLnBrk="0" hangingPunct="1">
      <a:defRPr sz="1200" kern="1200">
        <a:solidFill>
          <a:srgbClr val="00249C"/>
        </a:solidFill>
        <a:latin typeface="Arial" panose="020B0604020202020204" pitchFamily="34" charset="0"/>
        <a:ea typeface="+mn-ea"/>
        <a:cs typeface="Arial" panose="020B0604020202020204" pitchFamily="34" charset="0"/>
      </a:defRPr>
    </a:lvl3pPr>
    <a:lvl4pPr marL="1371600" algn="l" defTabSz="914400" rtl="0" eaLnBrk="1" latinLnBrk="0" hangingPunct="1">
      <a:defRPr sz="1200" kern="1200">
        <a:solidFill>
          <a:srgbClr val="00249C"/>
        </a:solidFill>
        <a:latin typeface="Arial" panose="020B0604020202020204" pitchFamily="34" charset="0"/>
        <a:ea typeface="+mn-ea"/>
        <a:cs typeface="Arial" panose="020B0604020202020204" pitchFamily="34" charset="0"/>
      </a:defRPr>
    </a:lvl4pPr>
    <a:lvl5pPr marL="1828800" algn="l" defTabSz="914400" rtl="0" eaLnBrk="1" latinLnBrk="0" hangingPunct="1">
      <a:defRPr sz="1200" kern="1200">
        <a:solidFill>
          <a:srgbClr val="00249C"/>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jp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7.jpg"/><Relationship Id="rId1" Type="http://schemas.openxmlformats.org/officeDocument/2006/relationships/slideMaster" Target="../slideMasters/slideMaster1.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vider Slides for Sessio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70734C94-E5A8-F84D-A000-4D877B9CC8C2}"/>
              </a:ext>
            </a:extLst>
          </p:cNvPr>
          <p:cNvSpPr>
            <a:spLocks noGrp="1"/>
          </p:cNvSpPr>
          <p:nvPr>
            <p:ph type="ctrTitle" hasCustomPrompt="1"/>
          </p:nvPr>
        </p:nvSpPr>
        <p:spPr>
          <a:xfrm>
            <a:off x="957273" y="3713060"/>
            <a:ext cx="9143999" cy="1006475"/>
          </a:xfrm>
          <a:prstGeom prst="rect">
            <a:avLst/>
          </a:prstGeom>
        </p:spPr>
        <p:txBody>
          <a:bodyPr anchor="t" anchorCtr="0"/>
          <a:lstStyle>
            <a:lvl1pPr algn="l">
              <a:defRPr sz="4500" b="1">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dirty="0"/>
              <a:t>Click to Session title style</a:t>
            </a:r>
          </a:p>
        </p:txBody>
      </p:sp>
      <p:pic>
        <p:nvPicPr>
          <p:cNvPr id="25" name="Graphic 24">
            <a:extLst>
              <a:ext uri="{FF2B5EF4-FFF2-40B4-BE49-F238E27FC236}">
                <a16:creationId xmlns:a16="http://schemas.microsoft.com/office/drawing/2014/main" id="{4E4DC168-AD7A-524E-9D94-2B3F22C5AB1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26" name="Graphic 25">
            <a:extLst>
              <a:ext uri="{FF2B5EF4-FFF2-40B4-BE49-F238E27FC236}">
                <a16:creationId xmlns:a16="http://schemas.microsoft.com/office/drawing/2014/main" id="{8421EEAF-DF6B-B045-AEFE-F3CF6D659E5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28" name="Text Placeholder 27">
            <a:extLst>
              <a:ext uri="{FF2B5EF4-FFF2-40B4-BE49-F238E27FC236}">
                <a16:creationId xmlns:a16="http://schemas.microsoft.com/office/drawing/2014/main" id="{65C43E3D-0D26-234A-9592-5DAA63D12695}"/>
              </a:ext>
            </a:extLst>
          </p:cNvPr>
          <p:cNvSpPr>
            <a:spLocks noGrp="1"/>
          </p:cNvSpPr>
          <p:nvPr>
            <p:ph type="body" sz="quarter" idx="10" hasCustomPrompt="1"/>
          </p:nvPr>
        </p:nvSpPr>
        <p:spPr>
          <a:xfrm>
            <a:off x="957263" y="2962275"/>
            <a:ext cx="8056562" cy="39528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500">
                <a:solidFill>
                  <a:schemeClr val="accent6"/>
                </a:solidFill>
              </a:defRPr>
            </a:lvl1pPr>
          </a:lstStyle>
          <a:p>
            <a:pPr lvl="0"/>
            <a:r>
              <a:rPr lang="en-US" dirty="0"/>
              <a:t>Click to edit Session Details</a:t>
            </a:r>
          </a:p>
          <a:p>
            <a:pPr lvl="0"/>
            <a:endParaRPr lang="en-AE" dirty="0"/>
          </a:p>
        </p:txBody>
      </p:sp>
    </p:spTree>
    <p:extLst>
      <p:ext uri="{BB962C8B-B14F-4D97-AF65-F5344CB8AC3E}">
        <p14:creationId xmlns:p14="http://schemas.microsoft.com/office/powerpoint/2010/main" val="2719560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955675" y="5981617"/>
            <a:ext cx="3138522" cy="365125"/>
          </a:xfrm>
        </p:spPr>
        <p:txBody>
          <a:bodyPr/>
          <a:lstStyle>
            <a:lvl1pPr>
              <a:defRPr sz="1500">
                <a:solidFill>
                  <a:schemeClr val="bg2"/>
                </a:solidFill>
              </a:defRPr>
            </a:lvl1pPr>
          </a:lstStyle>
          <a:p>
            <a:fld id="{9FB76777-9218-4188-BD26-CF1E318BE795}" type="datetime2">
              <a:rPr lang="en-US" smtClean="0"/>
              <a:pPr/>
              <a:t>Monday, September 21, 2026</a:t>
            </a:fld>
            <a:endParaRPr lang="en-AE" dirty="0"/>
          </a:p>
        </p:txBody>
      </p:sp>
      <p:pic>
        <p:nvPicPr>
          <p:cNvPr id="7" name="Graphic 6">
            <a:extLst>
              <a:ext uri="{FF2B5EF4-FFF2-40B4-BE49-F238E27FC236}">
                <a16:creationId xmlns:a16="http://schemas.microsoft.com/office/drawing/2014/main" id="{E0A69106-6879-3A4D-A621-50E8110948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4844" y="351663"/>
            <a:ext cx="3713566" cy="634596"/>
          </a:xfrm>
          <a:prstGeom prst="rect">
            <a:avLst/>
          </a:prstGeom>
        </p:spPr>
      </p:pic>
      <p:sp>
        <p:nvSpPr>
          <p:cNvPr id="8" name="Subtitle 2">
            <a:extLst>
              <a:ext uri="{FF2B5EF4-FFF2-40B4-BE49-F238E27FC236}">
                <a16:creationId xmlns:a16="http://schemas.microsoft.com/office/drawing/2014/main" id="{D8643B33-FF74-2B49-B6EB-01409F1D0D7F}"/>
              </a:ext>
            </a:extLst>
          </p:cNvPr>
          <p:cNvSpPr>
            <a:spLocks noGrp="1"/>
          </p:cNvSpPr>
          <p:nvPr>
            <p:ph type="subTitle" idx="1"/>
          </p:nvPr>
        </p:nvSpPr>
        <p:spPr>
          <a:xfrm>
            <a:off x="955675" y="3945603"/>
            <a:ext cx="9144000" cy="536329"/>
          </a:xfrm>
          <a:prstGeom prst="rect">
            <a:avLst/>
          </a:prstGeom>
        </p:spPr>
        <p:txBody>
          <a:bodyPr/>
          <a:lstStyle>
            <a:lvl1pPr marL="0" indent="0" algn="l">
              <a:buNone/>
              <a:defRPr sz="2500">
                <a:solidFill>
                  <a:schemeClr val="bg1">
                    <a:lumMod val="40000"/>
                    <a:lumOff val="60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3" name="Graphic 12">
            <a:extLst>
              <a:ext uri="{FF2B5EF4-FFF2-40B4-BE49-F238E27FC236}">
                <a16:creationId xmlns:a16="http://schemas.microsoft.com/office/drawing/2014/main" id="{8EF5330E-32F1-7B42-BB39-B2FFE8F8788D}"/>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516979" y="775699"/>
            <a:ext cx="2675021" cy="315139"/>
          </a:xfrm>
          <a:prstGeom prst="rect">
            <a:avLst/>
          </a:prstGeom>
        </p:spPr>
      </p:pic>
      <p:sp>
        <p:nvSpPr>
          <p:cNvPr id="14" name="Title 3">
            <a:extLst>
              <a:ext uri="{FF2B5EF4-FFF2-40B4-BE49-F238E27FC236}">
                <a16:creationId xmlns:a16="http://schemas.microsoft.com/office/drawing/2014/main" id="{591BC0ED-3260-F844-B525-B5B4D2CC78D0}"/>
              </a:ext>
            </a:extLst>
          </p:cNvPr>
          <p:cNvSpPr>
            <a:spLocks noGrp="1"/>
          </p:cNvSpPr>
          <p:nvPr>
            <p:ph type="title" hasCustomPrompt="1"/>
          </p:nvPr>
        </p:nvSpPr>
        <p:spPr>
          <a:xfrm>
            <a:off x="955675" y="3126852"/>
            <a:ext cx="9144000" cy="818751"/>
          </a:xfrm>
        </p:spPr>
        <p:txBody>
          <a:bodyPr anchor="t" anchorCtr="0"/>
          <a:lstStyle>
            <a:lvl1pPr algn="l">
              <a:defRPr>
                <a:solidFill>
                  <a:schemeClr val="bg2"/>
                </a:solidFill>
              </a:defRPr>
            </a:lvl1pPr>
          </a:lstStyle>
          <a:p>
            <a:r>
              <a:rPr lang="en-US" dirty="0"/>
              <a:t>Click to edit master title style</a:t>
            </a:r>
          </a:p>
        </p:txBody>
      </p:sp>
    </p:spTree>
    <p:extLst>
      <p:ext uri="{BB962C8B-B14F-4D97-AF65-F5344CB8AC3E}">
        <p14:creationId xmlns:p14="http://schemas.microsoft.com/office/powerpoint/2010/main" val="3133075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E9241090-81F5-3947-93CB-6896CF7F94E5}"/>
              </a:ext>
            </a:extLst>
          </p:cNvPr>
          <p:cNvSpPr>
            <a:spLocks noGrp="1"/>
          </p:cNvSpPr>
          <p:nvPr>
            <p:ph type="subTitle" idx="1" hasCustomPrompt="1"/>
          </p:nvPr>
        </p:nvSpPr>
        <p:spPr>
          <a:xfrm>
            <a:off x="536339" y="5106074"/>
            <a:ext cx="6971077" cy="698499"/>
          </a:xfrm>
        </p:spPr>
        <p:txBody>
          <a:bodyPr>
            <a:noAutofit/>
          </a:bodyPr>
          <a:lstStyle>
            <a:lvl1pPr marL="0" indent="0" algn="l">
              <a:buNone/>
              <a:defRPr sz="20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2" name="Title 3">
            <a:extLst>
              <a:ext uri="{FF2B5EF4-FFF2-40B4-BE49-F238E27FC236}">
                <a16:creationId xmlns:a16="http://schemas.microsoft.com/office/drawing/2014/main" id="{06DB1578-413F-2C4E-9D70-BBE3D7A5DBD3}"/>
              </a:ext>
            </a:extLst>
          </p:cNvPr>
          <p:cNvSpPr>
            <a:spLocks noGrp="1"/>
          </p:cNvSpPr>
          <p:nvPr>
            <p:ph type="title" hasCustomPrompt="1"/>
          </p:nvPr>
        </p:nvSpPr>
        <p:spPr>
          <a:xfrm>
            <a:off x="536339" y="3607860"/>
            <a:ext cx="5298020" cy="1498214"/>
          </a:xfrm>
        </p:spPr>
        <p:txBody>
          <a:bodyPr/>
          <a:lstStyle>
            <a:lvl1pPr algn="l">
              <a:defRPr>
                <a:solidFill>
                  <a:schemeClr val="tx1"/>
                </a:solidFill>
              </a:defRPr>
            </a:lvl1pPr>
          </a:lstStyle>
          <a:p>
            <a:r>
              <a:rPr lang="en-US" dirty="0"/>
              <a:t>Click to edit master title</a:t>
            </a:r>
          </a:p>
        </p:txBody>
      </p:sp>
      <p:pic>
        <p:nvPicPr>
          <p:cNvPr id="3" name="Graphic 2">
            <a:extLst>
              <a:ext uri="{FF2B5EF4-FFF2-40B4-BE49-F238E27FC236}">
                <a16:creationId xmlns:a16="http://schemas.microsoft.com/office/drawing/2014/main" id="{7B5CCC4E-CABB-0A42-9BDE-60480B081E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865202" y="927260"/>
            <a:ext cx="3362305" cy="773864"/>
          </a:xfrm>
          <a:prstGeom prst="rect">
            <a:avLst/>
          </a:prstGeom>
        </p:spPr>
      </p:pic>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536339" y="6029515"/>
            <a:ext cx="3138522" cy="365125"/>
          </a:xfrm>
        </p:spPr>
        <p:txBody>
          <a:bodyPr/>
          <a:lstStyle>
            <a:lvl1pPr>
              <a:defRPr sz="1500">
                <a:solidFill>
                  <a:schemeClr val="accent6">
                    <a:lumMod val="75000"/>
                    <a:lumOff val="25000"/>
                  </a:schemeClr>
                </a:solidFill>
              </a:defRPr>
            </a:lvl1pPr>
          </a:lstStyle>
          <a:p>
            <a:fld id="{9FB76777-9218-4188-BD26-CF1E318BE795}" type="datetime2">
              <a:rPr lang="en-US" smtClean="0"/>
              <a:pPr/>
              <a:t>Monday, September 21, 2026</a:t>
            </a:fld>
            <a:endParaRPr lang="en-AE" dirty="0"/>
          </a:p>
        </p:txBody>
      </p:sp>
      <p:pic>
        <p:nvPicPr>
          <p:cNvPr id="2" name="Graphic 1">
            <a:extLst>
              <a:ext uri="{FF2B5EF4-FFF2-40B4-BE49-F238E27FC236}">
                <a16:creationId xmlns:a16="http://schemas.microsoft.com/office/drawing/2014/main" id="{D866411B-E8FB-84B0-2D85-1A8A4A8B6CCF}"/>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4868" y="506876"/>
            <a:ext cx="2053825" cy="190169"/>
          </a:xfrm>
          <a:prstGeom prst="rect">
            <a:avLst/>
          </a:prstGeom>
        </p:spPr>
      </p:pic>
    </p:spTree>
    <p:extLst>
      <p:ext uri="{BB962C8B-B14F-4D97-AF65-F5344CB8AC3E}">
        <p14:creationId xmlns:p14="http://schemas.microsoft.com/office/powerpoint/2010/main" val="396293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E9241090-81F5-3947-93CB-6896CF7F94E5}"/>
              </a:ext>
            </a:extLst>
          </p:cNvPr>
          <p:cNvSpPr>
            <a:spLocks noGrp="1"/>
          </p:cNvSpPr>
          <p:nvPr>
            <p:ph type="subTitle" idx="1" hasCustomPrompt="1"/>
          </p:nvPr>
        </p:nvSpPr>
        <p:spPr>
          <a:xfrm>
            <a:off x="536339" y="5106074"/>
            <a:ext cx="6971077" cy="698499"/>
          </a:xfrm>
        </p:spPr>
        <p:txBody>
          <a:bodyPr>
            <a:noAutofit/>
          </a:bodyPr>
          <a:lstStyle>
            <a:lvl1pPr marL="0" indent="0" algn="l">
              <a:buNone/>
              <a:defRPr sz="20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2" name="Title 3">
            <a:extLst>
              <a:ext uri="{FF2B5EF4-FFF2-40B4-BE49-F238E27FC236}">
                <a16:creationId xmlns:a16="http://schemas.microsoft.com/office/drawing/2014/main" id="{06DB1578-413F-2C4E-9D70-BBE3D7A5DBD3}"/>
              </a:ext>
            </a:extLst>
          </p:cNvPr>
          <p:cNvSpPr>
            <a:spLocks noGrp="1"/>
          </p:cNvSpPr>
          <p:nvPr>
            <p:ph type="title" hasCustomPrompt="1"/>
          </p:nvPr>
        </p:nvSpPr>
        <p:spPr>
          <a:xfrm>
            <a:off x="536339" y="3607860"/>
            <a:ext cx="5298020" cy="1498214"/>
          </a:xfrm>
        </p:spPr>
        <p:txBody>
          <a:bodyPr/>
          <a:lstStyle>
            <a:lvl1pPr algn="l">
              <a:defRPr>
                <a:solidFill>
                  <a:schemeClr val="tx1"/>
                </a:solidFill>
              </a:defRPr>
            </a:lvl1pPr>
          </a:lstStyle>
          <a:p>
            <a:r>
              <a:rPr lang="en-US" dirty="0"/>
              <a:t>Click to edit master title style</a:t>
            </a:r>
          </a:p>
        </p:txBody>
      </p:sp>
      <p:pic>
        <p:nvPicPr>
          <p:cNvPr id="3" name="Graphic 2">
            <a:extLst>
              <a:ext uri="{FF2B5EF4-FFF2-40B4-BE49-F238E27FC236}">
                <a16:creationId xmlns:a16="http://schemas.microsoft.com/office/drawing/2014/main" id="{7B5CCC4E-CABB-0A42-9BDE-60480B081E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058490" y="1061074"/>
            <a:ext cx="3362305" cy="773864"/>
          </a:xfrm>
          <a:prstGeom prst="rect">
            <a:avLst/>
          </a:prstGeom>
        </p:spPr>
      </p:pic>
      <p:pic>
        <p:nvPicPr>
          <p:cNvPr id="9" name="Graphic 8">
            <a:extLst>
              <a:ext uri="{FF2B5EF4-FFF2-40B4-BE49-F238E27FC236}">
                <a16:creationId xmlns:a16="http://schemas.microsoft.com/office/drawing/2014/main" id="{7A731196-02F0-084E-A879-3A3165CDCFDF}"/>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45922"/>
            <a:ext cx="2645701" cy="315139"/>
          </a:xfrm>
          <a:prstGeom prst="rect">
            <a:avLst/>
          </a:prstGeom>
        </p:spPr>
      </p:pic>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536339" y="6029515"/>
            <a:ext cx="3138522" cy="365125"/>
          </a:xfrm>
        </p:spPr>
        <p:txBody>
          <a:bodyPr/>
          <a:lstStyle>
            <a:lvl1pPr>
              <a:defRPr sz="1500">
                <a:solidFill>
                  <a:schemeClr val="accent6">
                    <a:lumMod val="75000"/>
                    <a:lumOff val="25000"/>
                  </a:schemeClr>
                </a:solidFill>
              </a:defRPr>
            </a:lvl1pPr>
          </a:lstStyle>
          <a:p>
            <a:fld id="{9FB76777-9218-4188-BD26-CF1E318BE795}" type="datetime2">
              <a:rPr lang="en-US" smtClean="0"/>
              <a:pPr/>
              <a:t>Monday, September 21, 2026</a:t>
            </a:fld>
            <a:endParaRPr lang="en-AE" dirty="0"/>
          </a:p>
        </p:txBody>
      </p:sp>
    </p:spTree>
    <p:extLst>
      <p:ext uri="{BB962C8B-B14F-4D97-AF65-F5344CB8AC3E}">
        <p14:creationId xmlns:p14="http://schemas.microsoft.com/office/powerpoint/2010/main" val="3786211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956140" y="6029515"/>
            <a:ext cx="3138522" cy="365125"/>
          </a:xfrm>
        </p:spPr>
        <p:txBody>
          <a:bodyPr/>
          <a:lstStyle>
            <a:lvl1pPr>
              <a:defRPr sz="1500">
                <a:solidFill>
                  <a:schemeClr val="bg2"/>
                </a:solidFill>
              </a:defRPr>
            </a:lvl1pPr>
          </a:lstStyle>
          <a:p>
            <a:fld id="{9FB76777-9218-4188-BD26-CF1E318BE795}" type="datetime2">
              <a:rPr lang="en-US" smtClean="0"/>
              <a:pPr/>
              <a:t>Monday, September 21, 2026</a:t>
            </a:fld>
            <a:endParaRPr lang="en-AE" dirty="0"/>
          </a:p>
        </p:txBody>
      </p:sp>
      <p:pic>
        <p:nvPicPr>
          <p:cNvPr id="7" name="Graphic 6">
            <a:extLst>
              <a:ext uri="{FF2B5EF4-FFF2-40B4-BE49-F238E27FC236}">
                <a16:creationId xmlns:a16="http://schemas.microsoft.com/office/drawing/2014/main" id="{194BA4BA-37FC-574C-900D-E42453AEA51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7263" y="2371959"/>
            <a:ext cx="4078511" cy="938705"/>
          </a:xfrm>
          <a:prstGeom prst="rect">
            <a:avLst/>
          </a:prstGeom>
        </p:spPr>
      </p:pic>
      <p:sp>
        <p:nvSpPr>
          <p:cNvPr id="8" name="Title 1">
            <a:extLst>
              <a:ext uri="{FF2B5EF4-FFF2-40B4-BE49-F238E27FC236}">
                <a16:creationId xmlns:a16="http://schemas.microsoft.com/office/drawing/2014/main" id="{81495BEB-EE01-9F40-B42D-981879D2A4C3}"/>
              </a:ext>
            </a:extLst>
          </p:cNvPr>
          <p:cNvSpPr>
            <a:spLocks noGrp="1"/>
          </p:cNvSpPr>
          <p:nvPr>
            <p:ph type="ctrTitle"/>
          </p:nvPr>
        </p:nvSpPr>
        <p:spPr>
          <a:xfrm>
            <a:off x="957273" y="3853125"/>
            <a:ext cx="9143999" cy="660171"/>
          </a:xfrm>
          <a:prstGeom prst="rect">
            <a:avLst/>
          </a:prstGeom>
        </p:spPr>
        <p:txBody>
          <a:bodyPr anchor="t" anchorCtr="0"/>
          <a:lstStyle>
            <a:lvl1pPr algn="l">
              <a:defRPr sz="4500" b="1">
                <a:solidFill>
                  <a:schemeClr val="bg2"/>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pic>
        <p:nvPicPr>
          <p:cNvPr id="13" name="Graphic 12">
            <a:extLst>
              <a:ext uri="{FF2B5EF4-FFF2-40B4-BE49-F238E27FC236}">
                <a16:creationId xmlns:a16="http://schemas.microsoft.com/office/drawing/2014/main" id="{A0FB12DA-53D5-A041-A382-0D8BFE86F8C7}"/>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516979" y="775699"/>
            <a:ext cx="2675021" cy="315139"/>
          </a:xfrm>
          <a:prstGeom prst="rect">
            <a:avLst/>
          </a:prstGeom>
        </p:spPr>
      </p:pic>
      <p:sp>
        <p:nvSpPr>
          <p:cNvPr id="14" name="Subtitle 2">
            <a:extLst>
              <a:ext uri="{FF2B5EF4-FFF2-40B4-BE49-F238E27FC236}">
                <a16:creationId xmlns:a16="http://schemas.microsoft.com/office/drawing/2014/main" id="{33EBC9D1-1DA5-1B44-9266-C53077B3DFFA}"/>
              </a:ext>
            </a:extLst>
          </p:cNvPr>
          <p:cNvSpPr>
            <a:spLocks noGrp="1"/>
          </p:cNvSpPr>
          <p:nvPr>
            <p:ph type="subTitle" idx="1"/>
          </p:nvPr>
        </p:nvSpPr>
        <p:spPr>
          <a:xfrm>
            <a:off x="956140" y="4519428"/>
            <a:ext cx="9144000" cy="536329"/>
          </a:xfrm>
          <a:prstGeom prst="rect">
            <a:avLst/>
          </a:prstGeom>
        </p:spPr>
        <p:txBody>
          <a:bodyPr/>
          <a:lstStyle>
            <a:lvl1pPr marL="0" indent="0" algn="l">
              <a:buNone/>
              <a:defRPr sz="2500">
                <a:solidFill>
                  <a:schemeClr val="bg1">
                    <a:lumMod val="40000"/>
                    <a:lumOff val="60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051230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Option#1 with Image">
    <p:bg>
      <p:bgPr>
        <a:solidFill>
          <a:schemeClr val="bg2"/>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6908BEE-A825-DA40-9969-1B02C84DEF7A}"/>
              </a:ext>
            </a:extLst>
          </p:cNvPr>
          <p:cNvSpPr>
            <a:spLocks noGrp="1"/>
          </p:cNvSpPr>
          <p:nvPr>
            <p:ph type="title" hasCustomPrompt="1"/>
          </p:nvPr>
        </p:nvSpPr>
        <p:spPr>
          <a:xfrm>
            <a:off x="704800" y="1207003"/>
            <a:ext cx="5874026" cy="557061"/>
          </a:xfrm>
        </p:spPr>
        <p:txBody>
          <a:bodyPr anchor="t">
            <a:normAutofit/>
          </a:bodyPr>
          <a:lstStyle>
            <a:lvl1pPr>
              <a:defRPr sz="3000">
                <a:solidFill>
                  <a:schemeClr val="tx1"/>
                </a:solidFill>
              </a:defRPr>
            </a:lvl1pPr>
          </a:lstStyle>
          <a:p>
            <a:r>
              <a:rPr lang="en-US" dirty="0"/>
              <a:t>Click to edit title style</a:t>
            </a:r>
          </a:p>
        </p:txBody>
      </p:sp>
      <p:sp>
        <p:nvSpPr>
          <p:cNvPr id="6" name="Subtitle 2">
            <a:extLst>
              <a:ext uri="{FF2B5EF4-FFF2-40B4-BE49-F238E27FC236}">
                <a16:creationId xmlns:a16="http://schemas.microsoft.com/office/drawing/2014/main" id="{B6746524-6D09-2F49-8A69-4823C3DCCD24}"/>
              </a:ext>
            </a:extLst>
          </p:cNvPr>
          <p:cNvSpPr>
            <a:spLocks noGrp="1"/>
          </p:cNvSpPr>
          <p:nvPr>
            <p:ph type="subTitle" idx="1" hasCustomPrompt="1"/>
          </p:nvPr>
        </p:nvSpPr>
        <p:spPr>
          <a:xfrm>
            <a:off x="5390087" y="314797"/>
            <a:ext cx="6120159" cy="315424"/>
          </a:xfrm>
        </p:spPr>
        <p:txBody>
          <a:bodyPr>
            <a:noAutofit/>
          </a:bodyPr>
          <a:lstStyle>
            <a:lvl1pPr marL="0" indent="0" algn="r">
              <a:buNone/>
              <a:defRPr sz="12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Presentation Title</a:t>
            </a:r>
          </a:p>
        </p:txBody>
      </p:sp>
      <p:sp>
        <p:nvSpPr>
          <p:cNvPr id="7" name="Slide Number Placeholder 6">
            <a:extLst>
              <a:ext uri="{FF2B5EF4-FFF2-40B4-BE49-F238E27FC236}">
                <a16:creationId xmlns:a16="http://schemas.microsoft.com/office/drawing/2014/main" id="{03FFED15-3BC1-9A47-85CA-5740A1734EB2}"/>
              </a:ext>
            </a:extLst>
          </p:cNvPr>
          <p:cNvSpPr txBox="1">
            <a:spLocks/>
          </p:cNvSpPr>
          <p:nvPr userDrawn="1"/>
        </p:nvSpPr>
        <p:spPr>
          <a:xfrm>
            <a:off x="11377612" y="248602"/>
            <a:ext cx="814388" cy="365125"/>
          </a:xfrm>
          <a:prstGeom prst="rect">
            <a:avLst/>
          </a:prstGeom>
          <a:noFill/>
        </p:spPr>
        <p:txBody>
          <a:bodyPr vert="horz" lIns="91440" tIns="45720" rIns="91440" bIns="45720" rtlCol="0" anchor="ctr"/>
          <a:lstStyle>
            <a:defPPr>
              <a:defRPr lang="en-US"/>
            </a:defPPr>
            <a:lvl1pPr marL="0" algn="ctr" defTabSz="914400" rtl="0" eaLnBrk="1" latinLnBrk="0" hangingPunct="1">
              <a:defRPr sz="1600" b="0" i="0" kern="12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1C39B3-71BA-C04A-8F90-02179B3D98C0}" type="slidenum">
              <a:rPr lang="en-US" smtClean="0"/>
              <a:pPr/>
              <a:t>‹#›</a:t>
            </a:fld>
            <a:endParaRPr lang="en-US" dirty="0"/>
          </a:p>
        </p:txBody>
      </p:sp>
      <p:pic>
        <p:nvPicPr>
          <p:cNvPr id="9" name="Graphic 8">
            <a:extLst>
              <a:ext uri="{FF2B5EF4-FFF2-40B4-BE49-F238E27FC236}">
                <a16:creationId xmlns:a16="http://schemas.microsoft.com/office/drawing/2014/main" id="{5893B466-AD85-BF49-A335-E853DA6FB0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001500" y="306705"/>
            <a:ext cx="177800" cy="248920"/>
          </a:xfrm>
          <a:prstGeom prst="rect">
            <a:avLst/>
          </a:prstGeom>
        </p:spPr>
      </p:pic>
      <p:pic>
        <p:nvPicPr>
          <p:cNvPr id="12" name="Graphic 11">
            <a:extLst>
              <a:ext uri="{FF2B5EF4-FFF2-40B4-BE49-F238E27FC236}">
                <a16:creationId xmlns:a16="http://schemas.microsoft.com/office/drawing/2014/main" id="{35B54686-6941-2541-B096-11C08B1BDE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13" name="Graphic 12">
            <a:extLst>
              <a:ext uri="{FF2B5EF4-FFF2-40B4-BE49-F238E27FC236}">
                <a16:creationId xmlns:a16="http://schemas.microsoft.com/office/drawing/2014/main" id="{A8808B5C-1859-104A-826C-D3A463154C6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3" name="Text Placeholder 2">
            <a:extLst>
              <a:ext uri="{FF2B5EF4-FFF2-40B4-BE49-F238E27FC236}">
                <a16:creationId xmlns:a16="http://schemas.microsoft.com/office/drawing/2014/main" id="{5B03E28E-79CD-8A43-B374-EF35B43959A1}"/>
              </a:ext>
            </a:extLst>
          </p:cNvPr>
          <p:cNvSpPr>
            <a:spLocks noGrp="1"/>
          </p:cNvSpPr>
          <p:nvPr>
            <p:ph type="body" sz="quarter" idx="10"/>
          </p:nvPr>
        </p:nvSpPr>
        <p:spPr>
          <a:xfrm>
            <a:off x="833439" y="1878013"/>
            <a:ext cx="5745388" cy="3754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dirty="0"/>
          </a:p>
        </p:txBody>
      </p:sp>
      <p:sp>
        <p:nvSpPr>
          <p:cNvPr id="14" name="Picture Placeholder 13">
            <a:extLst>
              <a:ext uri="{FF2B5EF4-FFF2-40B4-BE49-F238E27FC236}">
                <a16:creationId xmlns:a16="http://schemas.microsoft.com/office/drawing/2014/main" id="{83E722FE-E668-314D-A8DF-BAA81BA98D5B}"/>
              </a:ext>
            </a:extLst>
          </p:cNvPr>
          <p:cNvSpPr>
            <a:spLocks noGrp="1"/>
          </p:cNvSpPr>
          <p:nvPr>
            <p:ph type="pic" sz="quarter" idx="11"/>
          </p:nvPr>
        </p:nvSpPr>
        <p:spPr>
          <a:xfrm>
            <a:off x="6758486" y="1206500"/>
            <a:ext cx="4619127" cy="4445000"/>
          </a:xfrm>
        </p:spPr>
        <p:txBody>
          <a:bodyPr/>
          <a:lstStyle>
            <a:lvl1pPr marL="0" indent="0">
              <a:buNone/>
              <a:defRPr/>
            </a:lvl1pPr>
          </a:lstStyle>
          <a:p>
            <a:r>
              <a:rPr lang="en-US"/>
              <a:t>Click icon to add picture</a:t>
            </a:r>
            <a:endParaRPr lang="en-AE" dirty="0"/>
          </a:p>
        </p:txBody>
      </p:sp>
    </p:spTree>
    <p:extLst>
      <p:ext uri="{BB962C8B-B14F-4D97-AF65-F5344CB8AC3E}">
        <p14:creationId xmlns:p14="http://schemas.microsoft.com/office/powerpoint/2010/main" val="3742121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ntent Slide  Option#2 with Graph /Data">
    <p:bg>
      <p:bgPr>
        <a:solidFill>
          <a:schemeClr val="bg2"/>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6908BEE-A825-DA40-9969-1B02C84DEF7A}"/>
              </a:ext>
            </a:extLst>
          </p:cNvPr>
          <p:cNvSpPr>
            <a:spLocks noGrp="1"/>
          </p:cNvSpPr>
          <p:nvPr>
            <p:ph type="title" hasCustomPrompt="1"/>
          </p:nvPr>
        </p:nvSpPr>
        <p:spPr>
          <a:xfrm>
            <a:off x="704800" y="1207003"/>
            <a:ext cx="5874026" cy="557061"/>
          </a:xfrm>
        </p:spPr>
        <p:txBody>
          <a:bodyPr anchor="t">
            <a:normAutofit/>
          </a:bodyPr>
          <a:lstStyle>
            <a:lvl1pPr>
              <a:defRPr sz="3000">
                <a:solidFill>
                  <a:schemeClr val="tx1"/>
                </a:solidFill>
              </a:defRPr>
            </a:lvl1pPr>
          </a:lstStyle>
          <a:p>
            <a:r>
              <a:rPr lang="en-US" dirty="0"/>
              <a:t>Click to Add Graph/Data</a:t>
            </a:r>
          </a:p>
        </p:txBody>
      </p:sp>
      <p:sp>
        <p:nvSpPr>
          <p:cNvPr id="6" name="Subtitle 2">
            <a:extLst>
              <a:ext uri="{FF2B5EF4-FFF2-40B4-BE49-F238E27FC236}">
                <a16:creationId xmlns:a16="http://schemas.microsoft.com/office/drawing/2014/main" id="{B6746524-6D09-2F49-8A69-4823C3DCCD24}"/>
              </a:ext>
            </a:extLst>
          </p:cNvPr>
          <p:cNvSpPr>
            <a:spLocks noGrp="1"/>
          </p:cNvSpPr>
          <p:nvPr>
            <p:ph type="subTitle" idx="1" hasCustomPrompt="1"/>
          </p:nvPr>
        </p:nvSpPr>
        <p:spPr>
          <a:xfrm>
            <a:off x="5390087" y="314797"/>
            <a:ext cx="6120159" cy="315424"/>
          </a:xfrm>
        </p:spPr>
        <p:txBody>
          <a:bodyPr>
            <a:noAutofit/>
          </a:bodyPr>
          <a:lstStyle>
            <a:lvl1pPr marL="0" indent="0" algn="r">
              <a:buNone/>
              <a:defRPr sz="12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Presentation Title</a:t>
            </a:r>
          </a:p>
        </p:txBody>
      </p:sp>
      <p:sp>
        <p:nvSpPr>
          <p:cNvPr id="7" name="Slide Number Placeholder 6">
            <a:extLst>
              <a:ext uri="{FF2B5EF4-FFF2-40B4-BE49-F238E27FC236}">
                <a16:creationId xmlns:a16="http://schemas.microsoft.com/office/drawing/2014/main" id="{03FFED15-3BC1-9A47-85CA-5740A1734EB2}"/>
              </a:ext>
            </a:extLst>
          </p:cNvPr>
          <p:cNvSpPr txBox="1">
            <a:spLocks/>
          </p:cNvSpPr>
          <p:nvPr userDrawn="1"/>
        </p:nvSpPr>
        <p:spPr>
          <a:xfrm>
            <a:off x="11377612" y="248602"/>
            <a:ext cx="814388" cy="365125"/>
          </a:xfrm>
          <a:prstGeom prst="rect">
            <a:avLst/>
          </a:prstGeom>
          <a:noFill/>
        </p:spPr>
        <p:txBody>
          <a:bodyPr vert="horz" lIns="91440" tIns="45720" rIns="91440" bIns="45720" rtlCol="0" anchor="ctr"/>
          <a:lstStyle>
            <a:defPPr>
              <a:defRPr lang="en-US"/>
            </a:defPPr>
            <a:lvl1pPr marL="0" algn="ctr" defTabSz="914400" rtl="0" eaLnBrk="1" latinLnBrk="0" hangingPunct="1">
              <a:defRPr sz="1600" b="0" i="0" kern="12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1C39B3-71BA-C04A-8F90-02179B3D98C0}" type="slidenum">
              <a:rPr lang="en-US" smtClean="0"/>
              <a:pPr/>
              <a:t>‹#›</a:t>
            </a:fld>
            <a:endParaRPr lang="en-US" dirty="0"/>
          </a:p>
        </p:txBody>
      </p:sp>
      <p:pic>
        <p:nvPicPr>
          <p:cNvPr id="9" name="Graphic 8">
            <a:extLst>
              <a:ext uri="{FF2B5EF4-FFF2-40B4-BE49-F238E27FC236}">
                <a16:creationId xmlns:a16="http://schemas.microsoft.com/office/drawing/2014/main" id="{5893B466-AD85-BF49-A335-E853DA6FB0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001500" y="306705"/>
            <a:ext cx="177800" cy="248920"/>
          </a:xfrm>
          <a:prstGeom prst="rect">
            <a:avLst/>
          </a:prstGeom>
        </p:spPr>
      </p:pic>
      <p:pic>
        <p:nvPicPr>
          <p:cNvPr id="12" name="Graphic 11">
            <a:extLst>
              <a:ext uri="{FF2B5EF4-FFF2-40B4-BE49-F238E27FC236}">
                <a16:creationId xmlns:a16="http://schemas.microsoft.com/office/drawing/2014/main" id="{35B54686-6941-2541-B096-11C08B1BDE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13" name="Graphic 12">
            <a:extLst>
              <a:ext uri="{FF2B5EF4-FFF2-40B4-BE49-F238E27FC236}">
                <a16:creationId xmlns:a16="http://schemas.microsoft.com/office/drawing/2014/main" id="{A8808B5C-1859-104A-826C-D3A463154C6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3" name="Text Placeholder 2">
            <a:extLst>
              <a:ext uri="{FF2B5EF4-FFF2-40B4-BE49-F238E27FC236}">
                <a16:creationId xmlns:a16="http://schemas.microsoft.com/office/drawing/2014/main" id="{5B03E28E-79CD-8A43-B374-EF35B43959A1}"/>
              </a:ext>
            </a:extLst>
          </p:cNvPr>
          <p:cNvSpPr>
            <a:spLocks noGrp="1"/>
          </p:cNvSpPr>
          <p:nvPr>
            <p:ph type="body" sz="quarter" idx="10" hasCustomPrompt="1"/>
          </p:nvPr>
        </p:nvSpPr>
        <p:spPr>
          <a:xfrm>
            <a:off x="707473" y="1878013"/>
            <a:ext cx="4054150" cy="3754437"/>
          </a:xfrm>
        </p:spPr>
        <p:txBody>
          <a:bodyPr>
            <a:normAutofit/>
          </a:bodyPr>
          <a:lstStyle>
            <a:lvl1pPr marL="0" indent="0" algn="l">
              <a:lnSpc>
                <a:spcPct val="95000"/>
              </a:lnSpc>
              <a:buFontTx/>
              <a:buNone/>
              <a:defRPr sz="2000"/>
            </a:lvl1pPr>
            <a:lvl2pPr marL="457200" indent="0" algn="l">
              <a:buFontTx/>
              <a:buNone/>
              <a:defRPr/>
            </a:lvl2pPr>
            <a:lvl3pPr marL="914400" indent="0" algn="l">
              <a:buFontTx/>
              <a:buNone/>
              <a:defRPr/>
            </a:lvl3pPr>
            <a:lvl4pPr marL="1371600" indent="0" algn="l">
              <a:buFontTx/>
              <a:buNone/>
              <a:defRPr/>
            </a:lvl4pPr>
            <a:lvl5pPr marL="1828800" indent="0" algn="l">
              <a:buFontTx/>
              <a:buNone/>
              <a:defRPr/>
            </a:lvl5pPr>
          </a:lstStyle>
          <a:p>
            <a:pPr lvl="0"/>
            <a:r>
              <a:rPr lang="en-AE" dirty="0"/>
              <a:t>Add your </a:t>
            </a:r>
            <a:r>
              <a:rPr lang="en-US" dirty="0"/>
              <a:t>An analytical paragraph,  is a form of descriptive writing which is written on the basis of a given chart, graph, data, outline, clues, table etc.</a:t>
            </a:r>
            <a:endParaRPr lang="en-AE" dirty="0"/>
          </a:p>
        </p:txBody>
      </p:sp>
      <p:sp>
        <p:nvSpPr>
          <p:cNvPr id="4" name="Chart Placeholder 3">
            <a:extLst>
              <a:ext uri="{FF2B5EF4-FFF2-40B4-BE49-F238E27FC236}">
                <a16:creationId xmlns:a16="http://schemas.microsoft.com/office/drawing/2014/main" id="{62D93862-01E6-C24F-A335-F79089BEC504}"/>
              </a:ext>
            </a:extLst>
          </p:cNvPr>
          <p:cNvSpPr>
            <a:spLocks noGrp="1"/>
          </p:cNvSpPr>
          <p:nvPr>
            <p:ph type="chart" sz="quarter" idx="11"/>
          </p:nvPr>
        </p:nvSpPr>
        <p:spPr>
          <a:xfrm>
            <a:off x="5138738" y="1878013"/>
            <a:ext cx="6053137" cy="3754437"/>
          </a:xfrm>
        </p:spPr>
        <p:txBody>
          <a:bodyPr/>
          <a:lstStyle/>
          <a:p>
            <a:r>
              <a:rPr lang="en-US"/>
              <a:t>Click icon to add chart</a:t>
            </a:r>
            <a:endParaRPr lang="en-AE"/>
          </a:p>
        </p:txBody>
      </p:sp>
    </p:spTree>
    <p:extLst>
      <p:ext uri="{BB962C8B-B14F-4D97-AF65-F5344CB8AC3E}">
        <p14:creationId xmlns:p14="http://schemas.microsoft.com/office/powerpoint/2010/main" val="986313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ontent Slide  Option#3 with Table">
    <p:bg>
      <p:bgPr>
        <a:solidFill>
          <a:schemeClr val="bg2"/>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6908BEE-A825-DA40-9969-1B02C84DEF7A}"/>
              </a:ext>
            </a:extLst>
          </p:cNvPr>
          <p:cNvSpPr>
            <a:spLocks noGrp="1"/>
          </p:cNvSpPr>
          <p:nvPr>
            <p:ph type="title" hasCustomPrompt="1"/>
          </p:nvPr>
        </p:nvSpPr>
        <p:spPr>
          <a:xfrm>
            <a:off x="704800" y="1207003"/>
            <a:ext cx="5874026" cy="557061"/>
          </a:xfrm>
        </p:spPr>
        <p:txBody>
          <a:bodyPr anchor="t">
            <a:normAutofit/>
          </a:bodyPr>
          <a:lstStyle>
            <a:lvl1pPr>
              <a:defRPr sz="3000">
                <a:solidFill>
                  <a:schemeClr val="tx1"/>
                </a:solidFill>
              </a:defRPr>
            </a:lvl1pPr>
          </a:lstStyle>
          <a:p>
            <a:r>
              <a:rPr lang="en-US" dirty="0"/>
              <a:t>Click to Table Title</a:t>
            </a:r>
          </a:p>
        </p:txBody>
      </p:sp>
      <p:sp>
        <p:nvSpPr>
          <p:cNvPr id="6" name="Subtitle 2">
            <a:extLst>
              <a:ext uri="{FF2B5EF4-FFF2-40B4-BE49-F238E27FC236}">
                <a16:creationId xmlns:a16="http://schemas.microsoft.com/office/drawing/2014/main" id="{B6746524-6D09-2F49-8A69-4823C3DCCD24}"/>
              </a:ext>
            </a:extLst>
          </p:cNvPr>
          <p:cNvSpPr>
            <a:spLocks noGrp="1"/>
          </p:cNvSpPr>
          <p:nvPr>
            <p:ph type="subTitle" idx="1" hasCustomPrompt="1"/>
          </p:nvPr>
        </p:nvSpPr>
        <p:spPr>
          <a:xfrm>
            <a:off x="5390087" y="314797"/>
            <a:ext cx="6120159" cy="315424"/>
          </a:xfrm>
        </p:spPr>
        <p:txBody>
          <a:bodyPr>
            <a:noAutofit/>
          </a:bodyPr>
          <a:lstStyle>
            <a:lvl1pPr marL="0" indent="0" algn="r">
              <a:buNone/>
              <a:defRPr sz="12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Presentation Title</a:t>
            </a:r>
          </a:p>
        </p:txBody>
      </p:sp>
      <p:sp>
        <p:nvSpPr>
          <p:cNvPr id="7" name="Slide Number Placeholder 6">
            <a:extLst>
              <a:ext uri="{FF2B5EF4-FFF2-40B4-BE49-F238E27FC236}">
                <a16:creationId xmlns:a16="http://schemas.microsoft.com/office/drawing/2014/main" id="{03FFED15-3BC1-9A47-85CA-5740A1734EB2}"/>
              </a:ext>
            </a:extLst>
          </p:cNvPr>
          <p:cNvSpPr txBox="1">
            <a:spLocks/>
          </p:cNvSpPr>
          <p:nvPr userDrawn="1"/>
        </p:nvSpPr>
        <p:spPr>
          <a:xfrm>
            <a:off x="11377612" y="248602"/>
            <a:ext cx="814388" cy="365125"/>
          </a:xfrm>
          <a:prstGeom prst="rect">
            <a:avLst/>
          </a:prstGeom>
          <a:noFill/>
        </p:spPr>
        <p:txBody>
          <a:bodyPr vert="horz" lIns="91440" tIns="45720" rIns="91440" bIns="45720" rtlCol="0" anchor="ctr"/>
          <a:lstStyle>
            <a:defPPr>
              <a:defRPr lang="en-US"/>
            </a:defPPr>
            <a:lvl1pPr marL="0" algn="ctr" defTabSz="914400" rtl="0" eaLnBrk="1" latinLnBrk="0" hangingPunct="1">
              <a:defRPr sz="1600" b="0" i="0" kern="12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1C39B3-71BA-C04A-8F90-02179B3D98C0}" type="slidenum">
              <a:rPr lang="en-US" smtClean="0"/>
              <a:pPr/>
              <a:t>‹#›</a:t>
            </a:fld>
            <a:endParaRPr lang="en-US" dirty="0"/>
          </a:p>
        </p:txBody>
      </p:sp>
      <p:pic>
        <p:nvPicPr>
          <p:cNvPr id="9" name="Graphic 8">
            <a:extLst>
              <a:ext uri="{FF2B5EF4-FFF2-40B4-BE49-F238E27FC236}">
                <a16:creationId xmlns:a16="http://schemas.microsoft.com/office/drawing/2014/main" id="{5893B466-AD85-BF49-A335-E853DA6FB0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001500" y="306705"/>
            <a:ext cx="177800" cy="248920"/>
          </a:xfrm>
          <a:prstGeom prst="rect">
            <a:avLst/>
          </a:prstGeom>
        </p:spPr>
      </p:pic>
      <p:pic>
        <p:nvPicPr>
          <p:cNvPr id="12" name="Graphic 11">
            <a:extLst>
              <a:ext uri="{FF2B5EF4-FFF2-40B4-BE49-F238E27FC236}">
                <a16:creationId xmlns:a16="http://schemas.microsoft.com/office/drawing/2014/main" id="{35B54686-6941-2541-B096-11C08B1BDE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13" name="Graphic 12">
            <a:extLst>
              <a:ext uri="{FF2B5EF4-FFF2-40B4-BE49-F238E27FC236}">
                <a16:creationId xmlns:a16="http://schemas.microsoft.com/office/drawing/2014/main" id="{A8808B5C-1859-104A-826C-D3A463154C6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3" name="Text Placeholder 2">
            <a:extLst>
              <a:ext uri="{FF2B5EF4-FFF2-40B4-BE49-F238E27FC236}">
                <a16:creationId xmlns:a16="http://schemas.microsoft.com/office/drawing/2014/main" id="{5B03E28E-79CD-8A43-B374-EF35B43959A1}"/>
              </a:ext>
            </a:extLst>
          </p:cNvPr>
          <p:cNvSpPr>
            <a:spLocks noGrp="1"/>
          </p:cNvSpPr>
          <p:nvPr>
            <p:ph type="body" sz="quarter" idx="10" hasCustomPrompt="1"/>
          </p:nvPr>
        </p:nvSpPr>
        <p:spPr>
          <a:xfrm>
            <a:off x="704800" y="1878013"/>
            <a:ext cx="4054150" cy="3754437"/>
          </a:xfrm>
        </p:spPr>
        <p:txBody>
          <a:bodyPr>
            <a:noAutofit/>
          </a:bodyPr>
          <a:lstStyle>
            <a:lvl1pPr marL="0" indent="0" algn="l">
              <a:lnSpc>
                <a:spcPct val="95000"/>
              </a:lnSpc>
              <a:buFontTx/>
              <a:buNone/>
              <a:defRPr lang="en-US" sz="2000" b="0" i="0" smtClean="0">
                <a:effectLst/>
              </a:defRPr>
            </a:lvl1pPr>
            <a:lvl2pPr marL="457200" indent="0" algn="l">
              <a:buFontTx/>
              <a:buNone/>
              <a:defRPr/>
            </a:lvl2pPr>
            <a:lvl3pPr marL="914400" indent="0" algn="l">
              <a:buFontTx/>
              <a:buNone/>
              <a:defRPr/>
            </a:lvl3pPr>
            <a:lvl4pPr marL="1371600" indent="0" algn="l">
              <a:buFontTx/>
              <a:buNone/>
              <a:defRPr/>
            </a:lvl4pPr>
            <a:lvl5pPr marL="1828800" indent="0" algn="l">
              <a:buFontTx/>
              <a:buNone/>
              <a:defRPr/>
            </a:lvl5pPr>
          </a:lstStyle>
          <a:p>
            <a:pPr lvl="0"/>
            <a:r>
              <a:rPr lang="en-US" dirty="0"/>
              <a:t>A Table refers to any data which is presented in orderly rows across and/or down the page, often enclosed within borders. A Figure refers to any other form of presentation such as a bar or pie chart, a graph, a diagram, a map, a photograph, a line drawing or a sample of material.</a:t>
            </a:r>
            <a:endParaRPr lang="en-AE" dirty="0"/>
          </a:p>
        </p:txBody>
      </p:sp>
      <p:sp>
        <p:nvSpPr>
          <p:cNvPr id="8" name="Table Placeholder 7">
            <a:extLst>
              <a:ext uri="{FF2B5EF4-FFF2-40B4-BE49-F238E27FC236}">
                <a16:creationId xmlns:a16="http://schemas.microsoft.com/office/drawing/2014/main" id="{78A247DE-41CC-5245-986E-449D869DC74D}"/>
              </a:ext>
            </a:extLst>
          </p:cNvPr>
          <p:cNvSpPr>
            <a:spLocks noGrp="1"/>
          </p:cNvSpPr>
          <p:nvPr>
            <p:ph type="tbl" sz="quarter" idx="11"/>
          </p:nvPr>
        </p:nvSpPr>
        <p:spPr>
          <a:xfrm>
            <a:off x="5154613" y="1878013"/>
            <a:ext cx="6356350" cy="3754437"/>
          </a:xfrm>
        </p:spPr>
        <p:txBody>
          <a:bodyPr/>
          <a:lstStyle/>
          <a:p>
            <a:r>
              <a:rPr lang="en-US"/>
              <a:t>Click icon to add table</a:t>
            </a:r>
            <a:endParaRPr lang="en-AE"/>
          </a:p>
        </p:txBody>
      </p:sp>
    </p:spTree>
    <p:extLst>
      <p:ext uri="{BB962C8B-B14F-4D97-AF65-F5344CB8AC3E}">
        <p14:creationId xmlns:p14="http://schemas.microsoft.com/office/powerpoint/2010/main" val="2610840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Slide Option#4 with Infographic">
    <p:bg>
      <p:bgPr>
        <a:solidFill>
          <a:schemeClr val="bg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C46900-ACA7-B546-8A78-DFF39C7FE4BE}"/>
              </a:ext>
            </a:extLst>
          </p:cNvPr>
          <p:cNvSpPr>
            <a:spLocks noGrp="1"/>
          </p:cNvSpPr>
          <p:nvPr>
            <p:ph type="title" hasCustomPrompt="1"/>
          </p:nvPr>
        </p:nvSpPr>
        <p:spPr>
          <a:xfrm>
            <a:off x="704800" y="1207004"/>
            <a:ext cx="9770717" cy="597928"/>
          </a:xfrm>
        </p:spPr>
        <p:txBody>
          <a:bodyPr anchor="t">
            <a:normAutofit/>
          </a:bodyPr>
          <a:lstStyle>
            <a:lvl1pPr>
              <a:defRPr sz="3000">
                <a:solidFill>
                  <a:schemeClr val="tx1"/>
                </a:solidFill>
              </a:defRPr>
            </a:lvl1pPr>
          </a:lstStyle>
          <a:p>
            <a:r>
              <a:rPr lang="en-US" dirty="0"/>
              <a:t>Click to Add Icons/Infographics Title</a:t>
            </a:r>
          </a:p>
        </p:txBody>
      </p:sp>
      <p:pic>
        <p:nvPicPr>
          <p:cNvPr id="10" name="Graphic 9">
            <a:extLst>
              <a:ext uri="{FF2B5EF4-FFF2-40B4-BE49-F238E27FC236}">
                <a16:creationId xmlns:a16="http://schemas.microsoft.com/office/drawing/2014/main" id="{C71104D3-4DE6-8346-AD98-5A101FEABA6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flipH="1">
            <a:off x="11501786" y="73025"/>
            <a:ext cx="406400" cy="260350"/>
          </a:xfrm>
          <a:prstGeom prst="rect">
            <a:avLst/>
          </a:prstGeom>
        </p:spPr>
      </p:pic>
      <p:sp>
        <p:nvSpPr>
          <p:cNvPr id="11" name="Slide Number Placeholder 6">
            <a:extLst>
              <a:ext uri="{FF2B5EF4-FFF2-40B4-BE49-F238E27FC236}">
                <a16:creationId xmlns:a16="http://schemas.microsoft.com/office/drawing/2014/main" id="{7957831C-872D-CF44-8DFE-BC74ADA53052}"/>
              </a:ext>
            </a:extLst>
          </p:cNvPr>
          <p:cNvSpPr>
            <a:spLocks noGrp="1"/>
          </p:cNvSpPr>
          <p:nvPr>
            <p:ph type="sldNum" sz="quarter" idx="12"/>
          </p:nvPr>
        </p:nvSpPr>
        <p:spPr>
          <a:xfrm>
            <a:off x="11297792" y="406400"/>
            <a:ext cx="814388" cy="365125"/>
          </a:xfrm>
          <a:noFill/>
        </p:spPr>
        <p:txBody>
          <a:bodyPr/>
          <a:lstStyle>
            <a:lvl1pPr algn="ctr">
              <a:defRPr sz="1600">
                <a:solidFill>
                  <a:schemeClr val="bg1"/>
                </a:solidFill>
              </a:defRPr>
            </a:lvl1pPr>
          </a:lstStyle>
          <a:p>
            <a:fld id="{A91C39B3-71BA-C04A-8F90-02179B3D98C0}" type="slidenum">
              <a:rPr lang="en-US" smtClean="0"/>
              <a:pPr/>
              <a:t>‹#›</a:t>
            </a:fld>
            <a:endParaRPr lang="en-US" dirty="0"/>
          </a:p>
        </p:txBody>
      </p:sp>
      <p:pic>
        <p:nvPicPr>
          <p:cNvPr id="12" name="Picture 5">
            <a:extLst>
              <a:ext uri="{FF2B5EF4-FFF2-40B4-BE49-F238E27FC236}">
                <a16:creationId xmlns:a16="http://schemas.microsoft.com/office/drawing/2014/main" id="{810453EF-472B-6940-A88C-A88100363B0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9982275" y="5759451"/>
            <a:ext cx="2209725" cy="1098549"/>
          </a:xfrm>
          <a:prstGeom prst="rect">
            <a:avLst/>
          </a:prstGeom>
        </p:spPr>
      </p:pic>
      <p:pic>
        <p:nvPicPr>
          <p:cNvPr id="13" name="Graphic 12">
            <a:extLst>
              <a:ext uri="{FF2B5EF4-FFF2-40B4-BE49-F238E27FC236}">
                <a16:creationId xmlns:a16="http://schemas.microsoft.com/office/drawing/2014/main" id="{7051FCF3-192E-C34F-AAE3-E07D038D817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10248" y="6030989"/>
            <a:ext cx="529126" cy="555472"/>
          </a:xfrm>
          <a:prstGeom prst="rect">
            <a:avLst/>
          </a:prstGeom>
        </p:spPr>
      </p:pic>
      <p:sp>
        <p:nvSpPr>
          <p:cNvPr id="8" name="Text Placeholder 2">
            <a:extLst>
              <a:ext uri="{FF2B5EF4-FFF2-40B4-BE49-F238E27FC236}">
                <a16:creationId xmlns:a16="http://schemas.microsoft.com/office/drawing/2014/main" id="{9F5D8C5A-4EF8-D744-8722-B704B694B773}"/>
              </a:ext>
            </a:extLst>
          </p:cNvPr>
          <p:cNvSpPr>
            <a:spLocks noGrp="1"/>
          </p:cNvSpPr>
          <p:nvPr>
            <p:ph type="body" sz="quarter" idx="10" hasCustomPrompt="1"/>
          </p:nvPr>
        </p:nvSpPr>
        <p:spPr>
          <a:xfrm>
            <a:off x="704800" y="1804931"/>
            <a:ext cx="4441187" cy="4423024"/>
          </a:xfrm>
        </p:spPr>
        <p:txBody>
          <a:bodyPr>
            <a:normAutofit/>
          </a:bodyPr>
          <a:lstStyle>
            <a:lvl1pPr marL="0" marR="0" indent="0" algn="l" defTabSz="914400" rtl="0" eaLnBrk="1" fontAlgn="auto" latinLnBrk="0" hangingPunct="1">
              <a:lnSpc>
                <a:spcPct val="95000"/>
              </a:lnSpc>
              <a:spcBef>
                <a:spcPts val="1000"/>
              </a:spcBef>
              <a:spcAft>
                <a:spcPts val="0"/>
              </a:spcAft>
              <a:buClrTx/>
              <a:buSzTx/>
              <a:buFontTx/>
              <a:buNone/>
              <a:tabLst/>
              <a:defRPr lang="en-US" sz="2000" b="0" i="0" smtClean="0">
                <a:effectLst/>
              </a:defRPr>
            </a:lvl1pPr>
            <a:lvl2pPr marL="457200" indent="0" algn="l">
              <a:buFontTx/>
              <a:buNone/>
              <a:defRPr/>
            </a:lvl2pPr>
            <a:lvl3pPr marL="914400" indent="0" algn="l">
              <a:buFontTx/>
              <a:buNone/>
              <a:defRPr/>
            </a:lvl3pPr>
            <a:lvl4pPr marL="1371600" indent="0" algn="l">
              <a:buFontTx/>
              <a:buNone/>
              <a:defRPr/>
            </a:lvl4pPr>
            <a:lvl5pPr marL="1828800" indent="0" algn="l">
              <a:buFontTx/>
              <a:buNone/>
              <a:defRPr/>
            </a:lvl5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AE" dirty="0"/>
              <a:t>Add your </a:t>
            </a:r>
            <a:r>
              <a:rPr lang="en-US" dirty="0"/>
              <a:t>standard icons or infographics. Which are graphic visual representations of information, data, or knowledge intended to present information quickly and clearly. They can improve cognition by utilizing graphics to enhance the human visual system's ability to see patterns and trends.</a:t>
            </a:r>
            <a:endParaRPr lang="en-AE" dirty="0"/>
          </a:p>
        </p:txBody>
      </p:sp>
    </p:spTree>
    <p:extLst>
      <p:ext uri="{BB962C8B-B14F-4D97-AF65-F5344CB8AC3E}">
        <p14:creationId xmlns:p14="http://schemas.microsoft.com/office/powerpoint/2010/main" val="3533430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losing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0C30162-B6ED-7641-A0EB-BA573B76DA6D}"/>
              </a:ext>
            </a:extLst>
          </p:cNvPr>
          <p:cNvSpPr>
            <a:spLocks noGrp="1"/>
          </p:cNvSpPr>
          <p:nvPr>
            <p:ph type="ctrTitle" hasCustomPrompt="1"/>
          </p:nvPr>
        </p:nvSpPr>
        <p:spPr>
          <a:xfrm>
            <a:off x="0" y="3258981"/>
            <a:ext cx="12192000" cy="1006475"/>
          </a:xfrm>
          <a:prstGeom prst="rect">
            <a:avLst/>
          </a:prstGeom>
        </p:spPr>
        <p:txBody>
          <a:bodyPr anchor="ctr" anchorCtr="0">
            <a:noAutofit/>
          </a:bodyPr>
          <a:lstStyle>
            <a:lvl1pPr algn="ctr">
              <a:defRPr sz="7200" b="1">
                <a:solidFill>
                  <a:schemeClr val="bg2"/>
                </a:solidFill>
                <a:latin typeface="Tahoma" panose="020B0604030504040204" pitchFamily="34" charset="0"/>
                <a:ea typeface="Tahoma" panose="020B0604030504040204" pitchFamily="34" charset="0"/>
                <a:cs typeface="Tahoma" panose="020B0604030504040204" pitchFamily="34" charset="0"/>
              </a:defRPr>
            </a:lvl1pPr>
          </a:lstStyle>
          <a:p>
            <a:r>
              <a:rPr lang="en-US" dirty="0"/>
              <a:t>Thank You</a:t>
            </a:r>
          </a:p>
        </p:txBody>
      </p:sp>
      <p:pic>
        <p:nvPicPr>
          <p:cNvPr id="14" name="Graphic 13">
            <a:extLst>
              <a:ext uri="{FF2B5EF4-FFF2-40B4-BE49-F238E27FC236}">
                <a16:creationId xmlns:a16="http://schemas.microsoft.com/office/drawing/2014/main" id="{C698337F-7DD8-7B42-AE9F-1C15A834B6E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32578" y="1380677"/>
            <a:ext cx="4126844" cy="949829"/>
          </a:xfrm>
          <a:prstGeom prst="rect">
            <a:avLst/>
          </a:prstGeom>
        </p:spPr>
      </p:pic>
      <p:grpSp>
        <p:nvGrpSpPr>
          <p:cNvPr id="3" name="Group 2">
            <a:extLst>
              <a:ext uri="{FF2B5EF4-FFF2-40B4-BE49-F238E27FC236}">
                <a16:creationId xmlns:a16="http://schemas.microsoft.com/office/drawing/2014/main" id="{A15B8D55-1D7F-D740-8AB9-DB23116BE410}"/>
              </a:ext>
            </a:extLst>
          </p:cNvPr>
          <p:cNvGrpSpPr/>
          <p:nvPr userDrawn="1"/>
        </p:nvGrpSpPr>
        <p:grpSpPr>
          <a:xfrm>
            <a:off x="1963849" y="5952904"/>
            <a:ext cx="8456037" cy="400326"/>
            <a:chOff x="1896939" y="5952904"/>
            <a:chExt cx="8456037" cy="400326"/>
          </a:xfrm>
        </p:grpSpPr>
        <p:sp>
          <p:nvSpPr>
            <p:cNvPr id="10" name="TextBox 9">
              <a:extLst>
                <a:ext uri="{FF2B5EF4-FFF2-40B4-BE49-F238E27FC236}">
                  <a16:creationId xmlns:a16="http://schemas.microsoft.com/office/drawing/2014/main" id="{7B799641-4B53-2B4F-86DB-18C35E61614E}"/>
                </a:ext>
              </a:extLst>
            </p:cNvPr>
            <p:cNvSpPr txBox="1"/>
            <p:nvPr userDrawn="1"/>
          </p:nvSpPr>
          <p:spPr>
            <a:xfrm>
              <a:off x="2188374" y="5964056"/>
              <a:ext cx="2659052" cy="353045"/>
            </a:xfrm>
            <a:prstGeom prst="rect">
              <a:avLst/>
            </a:prstGeom>
            <a:noFill/>
          </p:spPr>
          <p:txBody>
            <a:bodyPr wrap="square" rtlCol="0">
              <a:spAutoFit/>
            </a:bodyPr>
            <a:lstStyle/>
            <a:p>
              <a:pPr lvl="0">
                <a:lnSpc>
                  <a:spcPts val="2300"/>
                </a:lnSpc>
              </a:pPr>
              <a:r>
                <a:rPr lang="en-US" sz="1500" b="1" dirty="0">
                  <a:solidFill>
                    <a:schemeClr val="bg2"/>
                  </a:solidFill>
                  <a:latin typeface="Tahoma" panose="020B0604030504040204" pitchFamily="34" charset="0"/>
                  <a:ea typeface="Tahoma" panose="020B0604030504040204" pitchFamily="34" charset="0"/>
                  <a:cs typeface="Tahoma" panose="020B0604030504040204" pitchFamily="34" charset="0"/>
                </a:rPr>
                <a:t>800 </a:t>
              </a:r>
              <a:r>
                <a:rPr lang="en-US" sz="1500" b="1" dirty="0" err="1">
                  <a:solidFill>
                    <a:schemeClr val="bg2"/>
                  </a:solidFill>
                  <a:latin typeface="Tahoma" panose="020B0604030504040204" pitchFamily="34" charset="0"/>
                  <a:ea typeface="Tahoma" panose="020B0604030504040204" pitchFamily="34" charset="0"/>
                  <a:cs typeface="Tahoma" panose="020B0604030504040204" pitchFamily="34" charset="0"/>
                </a:rPr>
                <a:t>MyHCT</a:t>
              </a:r>
              <a:r>
                <a:rPr lang="en-US" sz="1500" b="1" dirty="0">
                  <a:solidFill>
                    <a:schemeClr val="bg2"/>
                  </a:solidFill>
                  <a:latin typeface="Tahoma" panose="020B0604030504040204" pitchFamily="34" charset="0"/>
                  <a:ea typeface="Tahoma" panose="020B0604030504040204" pitchFamily="34" charset="0"/>
                  <a:cs typeface="Tahoma" panose="020B0604030504040204" pitchFamily="34" charset="0"/>
                </a:rPr>
                <a:t> (800 69428)</a:t>
              </a:r>
            </a:p>
          </p:txBody>
        </p:sp>
        <p:pic>
          <p:nvPicPr>
            <p:cNvPr id="11" name="Graphic 10">
              <a:extLst>
                <a:ext uri="{FF2B5EF4-FFF2-40B4-BE49-F238E27FC236}">
                  <a16:creationId xmlns:a16="http://schemas.microsoft.com/office/drawing/2014/main" id="{2334549F-B791-094D-904B-02DFE9589DA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5002299" y="6003908"/>
              <a:ext cx="273124" cy="273124"/>
            </a:xfrm>
            <a:prstGeom prst="rect">
              <a:avLst/>
            </a:prstGeom>
          </p:spPr>
        </p:pic>
        <p:pic>
          <p:nvPicPr>
            <p:cNvPr id="16" name="Graphic 15">
              <a:extLst>
                <a:ext uri="{FF2B5EF4-FFF2-40B4-BE49-F238E27FC236}">
                  <a16:creationId xmlns:a16="http://schemas.microsoft.com/office/drawing/2014/main" id="{B95E0A5D-6B5A-574A-952B-5CCC36F4248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896939" y="6065869"/>
              <a:ext cx="276096" cy="184064"/>
            </a:xfrm>
            <a:prstGeom prst="rect">
              <a:avLst/>
            </a:prstGeom>
          </p:spPr>
        </p:pic>
        <p:sp>
          <p:nvSpPr>
            <p:cNvPr id="17" name="TextBox 16">
              <a:extLst>
                <a:ext uri="{FF2B5EF4-FFF2-40B4-BE49-F238E27FC236}">
                  <a16:creationId xmlns:a16="http://schemas.microsoft.com/office/drawing/2014/main" id="{B2A00D36-E1AC-D74E-998F-CC798B2ACD8B}"/>
                </a:ext>
              </a:extLst>
            </p:cNvPr>
            <p:cNvSpPr txBox="1"/>
            <p:nvPr userDrawn="1"/>
          </p:nvSpPr>
          <p:spPr>
            <a:xfrm>
              <a:off x="5293734" y="5952904"/>
              <a:ext cx="2659052" cy="353045"/>
            </a:xfrm>
            <a:prstGeom prst="rect">
              <a:avLst/>
            </a:prstGeom>
            <a:noFill/>
          </p:spPr>
          <p:txBody>
            <a:bodyPr wrap="square" rtlCol="0">
              <a:spAutoFit/>
            </a:bodyPr>
            <a:lstStyle/>
            <a:p>
              <a:pPr lvl="0">
                <a:lnSpc>
                  <a:spcPts val="2300"/>
                </a:lnSpc>
              </a:pPr>
              <a:r>
                <a:rPr lang="en-US" sz="1500" b="1" dirty="0" err="1">
                  <a:solidFill>
                    <a:schemeClr val="bg2"/>
                  </a:solidFill>
                  <a:latin typeface="Tahoma" panose="020B0604030504040204" pitchFamily="34" charset="0"/>
                  <a:ea typeface="Tahoma" panose="020B0604030504040204" pitchFamily="34" charset="0"/>
                  <a:cs typeface="Tahoma" panose="020B0604030504040204" pitchFamily="34" charset="0"/>
                </a:rPr>
                <a:t>www.hct.ac.ae</a:t>
              </a:r>
              <a:endParaRPr lang="en-US" sz="1500" b="1" dirty="0">
                <a:solidFill>
                  <a:schemeClr val="bg2"/>
                </a:solidFill>
                <a:latin typeface="Tahoma" panose="020B0604030504040204" pitchFamily="34" charset="0"/>
                <a:ea typeface="Tahoma" panose="020B0604030504040204" pitchFamily="34" charset="0"/>
                <a:cs typeface="Tahoma" panose="020B0604030504040204" pitchFamily="34" charset="0"/>
              </a:endParaRPr>
            </a:p>
          </p:txBody>
        </p:sp>
        <p:pic>
          <p:nvPicPr>
            <p:cNvPr id="13" name="Graphic 12">
              <a:extLst>
                <a:ext uri="{FF2B5EF4-FFF2-40B4-BE49-F238E27FC236}">
                  <a16:creationId xmlns:a16="http://schemas.microsoft.com/office/drawing/2014/main" id="{BCEE45B5-14AA-FB49-B39F-4EEAEEE0834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91430" y="5976856"/>
              <a:ext cx="3161546" cy="376374"/>
            </a:xfrm>
            <a:prstGeom prst="rect">
              <a:avLst/>
            </a:prstGeom>
          </p:spPr>
        </p:pic>
      </p:grpSp>
    </p:spTree>
    <p:extLst>
      <p:ext uri="{BB962C8B-B14F-4D97-AF65-F5344CB8AC3E}">
        <p14:creationId xmlns:p14="http://schemas.microsoft.com/office/powerpoint/2010/main" val="1267025233"/>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252A1A-53F2-9E44-9217-EF55FD212434}"/>
              </a:ext>
            </a:extLst>
          </p:cNvPr>
          <p:cNvSpPr>
            <a:spLocks noGrp="1"/>
          </p:cNvSpPr>
          <p:nvPr>
            <p:ph type="title"/>
          </p:nvPr>
        </p:nvSpPr>
        <p:spPr>
          <a:xfrm>
            <a:off x="356840" y="365125"/>
            <a:ext cx="11471616" cy="119062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BEEBABE-8E1F-FD45-BACB-85DFCD7888BA}"/>
              </a:ext>
            </a:extLst>
          </p:cNvPr>
          <p:cNvSpPr>
            <a:spLocks noGrp="1"/>
          </p:cNvSpPr>
          <p:nvPr>
            <p:ph type="body" idx="1"/>
          </p:nvPr>
        </p:nvSpPr>
        <p:spPr>
          <a:xfrm>
            <a:off x="356839" y="1825625"/>
            <a:ext cx="11471617"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C22EEEB-82E9-5B41-A455-E99055A3997A}"/>
              </a:ext>
            </a:extLst>
          </p:cNvPr>
          <p:cNvSpPr>
            <a:spLocks noGrp="1"/>
          </p:cNvSpPr>
          <p:nvPr>
            <p:ph type="dt" sz="half" idx="2"/>
          </p:nvPr>
        </p:nvSpPr>
        <p:spPr>
          <a:xfrm>
            <a:off x="1430790" y="6356350"/>
            <a:ext cx="1633538" cy="365125"/>
          </a:xfrm>
          <a:prstGeom prst="rect">
            <a:avLst/>
          </a:prstGeom>
        </p:spPr>
        <p:txBody>
          <a:bodyPr vert="horz" lIns="91440" tIns="45720" rIns="91440" bIns="45720" rtlCol="0" anchor="ctr"/>
          <a:lstStyle>
            <a:lvl1pPr algn="l">
              <a:defRPr sz="1200" b="0" i="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fld id="{4FFDA522-F4CE-F942-9609-C40C1E1F3554}" type="datetime1">
              <a:rPr lang="en-US" smtClean="0"/>
              <a:t>9/21/2026</a:t>
            </a:fld>
            <a:endParaRPr lang="en-US" dirty="0"/>
          </a:p>
        </p:txBody>
      </p:sp>
      <p:sp>
        <p:nvSpPr>
          <p:cNvPr id="5" name="Footer Placeholder 4">
            <a:extLst>
              <a:ext uri="{FF2B5EF4-FFF2-40B4-BE49-F238E27FC236}">
                <a16:creationId xmlns:a16="http://schemas.microsoft.com/office/drawing/2014/main" id="{CEF76DFF-6753-9D4F-95EE-BAA691F44C16}"/>
              </a:ext>
            </a:extLst>
          </p:cNvPr>
          <p:cNvSpPr>
            <a:spLocks noGrp="1"/>
          </p:cNvSpPr>
          <p:nvPr>
            <p:ph type="ftr" sz="quarter" idx="3"/>
          </p:nvPr>
        </p:nvSpPr>
        <p:spPr>
          <a:xfrm>
            <a:off x="3319119" y="6356350"/>
            <a:ext cx="5148000" cy="365125"/>
          </a:xfrm>
          <a:prstGeom prst="rect">
            <a:avLst/>
          </a:prstGeom>
        </p:spPr>
        <p:txBody>
          <a:bodyPr vert="horz" lIns="91440" tIns="45720" rIns="91440" bIns="45720" rtlCol="0" anchor="ctr"/>
          <a:lstStyle>
            <a:lvl1pPr algn="l">
              <a:defRPr sz="1200" b="0" i="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Footer goes here</a:t>
            </a:r>
            <a:endParaRPr lang="en-US" dirty="0"/>
          </a:p>
        </p:txBody>
      </p:sp>
      <p:sp>
        <p:nvSpPr>
          <p:cNvPr id="6" name="Slide Number Placeholder 5">
            <a:extLst>
              <a:ext uri="{FF2B5EF4-FFF2-40B4-BE49-F238E27FC236}">
                <a16:creationId xmlns:a16="http://schemas.microsoft.com/office/drawing/2014/main" id="{86E950D9-1D75-D24F-9D65-E9F8AAA0ADE9}"/>
              </a:ext>
            </a:extLst>
          </p:cNvPr>
          <p:cNvSpPr>
            <a:spLocks noGrp="1"/>
          </p:cNvSpPr>
          <p:nvPr>
            <p:ph type="sldNum" sz="quarter" idx="4"/>
          </p:nvPr>
        </p:nvSpPr>
        <p:spPr>
          <a:xfrm>
            <a:off x="356839" y="6356350"/>
            <a:ext cx="814388" cy="365125"/>
          </a:xfrm>
          <a:prstGeom prst="rect">
            <a:avLst/>
          </a:prstGeom>
        </p:spPr>
        <p:txBody>
          <a:bodyPr vert="horz" lIns="91440" tIns="45720" rIns="91440" bIns="45720" rtlCol="0" anchor="ctr"/>
          <a:lstStyle>
            <a:lvl1pPr algn="l">
              <a:defRPr sz="1200" b="0" i="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fld id="{A91C39B3-71BA-C04A-8F90-02179B3D98C0}" type="slidenum">
              <a:rPr lang="en-US" smtClean="0"/>
              <a:pPr/>
              <a:t>‹#›</a:t>
            </a:fld>
            <a:endParaRPr lang="en-US" dirty="0"/>
          </a:p>
        </p:txBody>
      </p:sp>
    </p:spTree>
    <p:extLst>
      <p:ext uri="{BB962C8B-B14F-4D97-AF65-F5344CB8AC3E}">
        <p14:creationId xmlns:p14="http://schemas.microsoft.com/office/powerpoint/2010/main" val="388363239"/>
      </p:ext>
    </p:extLst>
  </p:cSld>
  <p:clrMap bg1="lt1" tx1="dk1" bg2="lt2" tx2="dk2" accent1="accent1" accent2="accent2" accent3="accent3" accent4="accent4" accent5="accent5" accent6="accent6" hlink="hlink" folHlink="folHlink"/>
  <p:sldLayoutIdLst>
    <p:sldLayoutId id="2147483793" r:id="rId1"/>
    <p:sldLayoutId id="2147483755" r:id="rId2"/>
    <p:sldLayoutId id="2147483800" r:id="rId3"/>
    <p:sldLayoutId id="2147483798" r:id="rId4"/>
    <p:sldLayoutId id="2147483799" r:id="rId5"/>
    <p:sldLayoutId id="2147483736" r:id="rId6"/>
    <p:sldLayoutId id="2147483794" r:id="rId7"/>
    <p:sldLayoutId id="2147483795" r:id="rId8"/>
    <p:sldLayoutId id="2147483734" r:id="rId9"/>
    <p:sldLayoutId id="2147483779" r:id="rId10"/>
  </p:sldLayoutIdLst>
  <p:hf hdr="0"/>
  <p:txStyles>
    <p:titleStyle>
      <a:lvl1pPr algn="l" defTabSz="914400" rtl="0" eaLnBrk="1" latinLnBrk="0" hangingPunct="1">
        <a:lnSpc>
          <a:spcPct val="90000"/>
        </a:lnSpc>
        <a:spcBef>
          <a:spcPct val="0"/>
        </a:spcBef>
        <a:buNone/>
        <a:defRPr sz="44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https://web.microsoftstream.com/video/5049553b-5c23-4aa1-92dd-ccc5be79404b" TargetMode="External"/><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hyperlink" Target="https://web.microsoftstream.com/video/08132127-8ca6-436d-90e2-14beee395a5e" TargetMode="Externa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38BD092-45EA-8DC6-8D8A-2CC302A86D79}"/>
              </a:ext>
            </a:extLst>
          </p:cNvPr>
          <p:cNvSpPr>
            <a:spLocks noGrp="1"/>
          </p:cNvSpPr>
          <p:nvPr>
            <p:ph type="subTitle" idx="1"/>
          </p:nvPr>
        </p:nvSpPr>
        <p:spPr/>
        <p:txBody>
          <a:bodyPr/>
          <a:lstStyle/>
          <a:p>
            <a:r>
              <a:rPr lang="en-US" dirty="0"/>
              <a:t>BUS 1023: Applied Mathematics for Business</a:t>
            </a:r>
          </a:p>
          <a:p>
            <a:endParaRPr lang="en-US" dirty="0"/>
          </a:p>
        </p:txBody>
      </p:sp>
      <p:sp>
        <p:nvSpPr>
          <p:cNvPr id="3" name="Title 2">
            <a:extLst>
              <a:ext uri="{FF2B5EF4-FFF2-40B4-BE49-F238E27FC236}">
                <a16:creationId xmlns:a16="http://schemas.microsoft.com/office/drawing/2014/main" id="{73617C3F-5B8B-D2CB-5591-8634446633B1}"/>
              </a:ext>
            </a:extLst>
          </p:cNvPr>
          <p:cNvSpPr>
            <a:spLocks noGrp="1"/>
          </p:cNvSpPr>
          <p:nvPr>
            <p:ph type="title"/>
          </p:nvPr>
        </p:nvSpPr>
        <p:spPr/>
        <p:txBody>
          <a:bodyPr>
            <a:noAutofit/>
          </a:bodyPr>
          <a:lstStyle/>
          <a:p>
            <a:pPr rtl="1"/>
            <a:r>
              <a:rPr lang="en-US" sz="3200" dirty="0"/>
              <a:t>CLO 1.1</a:t>
            </a:r>
            <a:br>
              <a:rPr lang="en-US" sz="3200" dirty="0"/>
            </a:b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Demonstrate Knowledge of Statistical Terms and Types of Data</a:t>
            </a:r>
            <a:br>
              <a:rPr lang="en-US" sz="2400" dirty="0">
                <a:latin typeface="Arial" panose="020B0604020202020204" pitchFamily="34" charset="0"/>
                <a:cs typeface="Arial" panose="020B0604020202020204" pitchFamily="34" charset="0"/>
              </a:rPr>
            </a:br>
            <a:endParaRPr lang="en-US" sz="2200" dirty="0"/>
          </a:p>
        </p:txBody>
      </p:sp>
      <p:sp>
        <p:nvSpPr>
          <p:cNvPr id="4" name="Date Placeholder 3">
            <a:extLst>
              <a:ext uri="{FF2B5EF4-FFF2-40B4-BE49-F238E27FC236}">
                <a16:creationId xmlns:a16="http://schemas.microsoft.com/office/drawing/2014/main" id="{54234507-2781-317D-B675-552CAB29EF86}"/>
              </a:ext>
            </a:extLst>
          </p:cNvPr>
          <p:cNvSpPr>
            <a:spLocks noGrp="1"/>
          </p:cNvSpPr>
          <p:nvPr>
            <p:ph type="dt" sz="half" idx="10"/>
          </p:nvPr>
        </p:nvSpPr>
        <p:spPr/>
        <p:txBody>
          <a:bodyPr/>
          <a:lstStyle/>
          <a:p>
            <a:pPr algn="r"/>
            <a:fld id="{9FB76777-9218-4188-BD26-CF1E318BE795}" type="datetime2">
              <a:rPr lang="en-US" smtClean="0"/>
              <a:pPr algn="r"/>
              <a:t>Monday, September 21, 2026</a:t>
            </a:fld>
            <a:endParaRPr lang="en-AE" dirty="0"/>
          </a:p>
        </p:txBody>
      </p:sp>
    </p:spTree>
    <p:extLst>
      <p:ext uri="{BB962C8B-B14F-4D97-AF65-F5344CB8AC3E}">
        <p14:creationId xmlns:p14="http://schemas.microsoft.com/office/powerpoint/2010/main" val="1189355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2787F850-B5CD-4E3D-A29D-3C96089BC3D4}"/>
              </a:ext>
            </a:extLst>
          </p:cNvPr>
          <p:cNvSpPr>
            <a:spLocks noGrp="1"/>
          </p:cNvSpPr>
          <p:nvPr>
            <p:ph type="title"/>
          </p:nvPr>
        </p:nvSpPr>
        <p:spPr>
          <a:xfrm>
            <a:off x="791428" y="898995"/>
            <a:ext cx="5874026" cy="557061"/>
          </a:xfrm>
        </p:spPr>
        <p:txBody>
          <a:bodyPr>
            <a:noAutofit/>
          </a:bodyPr>
          <a:lstStyle/>
          <a:p>
            <a:r>
              <a:rPr lang="en-US" sz="3200" dirty="0">
                <a:solidFill>
                  <a:srgbClr val="FF0000"/>
                </a:solidFill>
              </a:rPr>
              <a:t>Statistics</a:t>
            </a:r>
            <a:r>
              <a:rPr lang="en-US" sz="3200" dirty="0">
                <a:solidFill>
                  <a:schemeClr val="accent6"/>
                </a:solidFill>
              </a:rPr>
              <a:t> involves:</a:t>
            </a:r>
            <a:br>
              <a:rPr lang="en-US" sz="2800" dirty="0">
                <a:solidFill>
                  <a:schemeClr val="accent6"/>
                </a:solidFill>
              </a:rPr>
            </a:br>
            <a:endParaRPr lang="en-US" sz="2800" dirty="0">
              <a:solidFill>
                <a:schemeClr val="accent6"/>
              </a:solidFill>
            </a:endParaRPr>
          </a:p>
        </p:txBody>
      </p:sp>
      <p:sp>
        <p:nvSpPr>
          <p:cNvPr id="10" name="Content Placeholder 2">
            <a:extLst>
              <a:ext uri="{FF2B5EF4-FFF2-40B4-BE49-F238E27FC236}">
                <a16:creationId xmlns:a16="http://schemas.microsoft.com/office/drawing/2014/main" id="{F60C89B8-36C0-4C43-9B58-AE540A6013D8}"/>
              </a:ext>
            </a:extLst>
          </p:cNvPr>
          <p:cNvSpPr txBox="1">
            <a:spLocks/>
          </p:cNvSpPr>
          <p:nvPr/>
        </p:nvSpPr>
        <p:spPr>
          <a:xfrm>
            <a:off x="1290044" y="1681675"/>
            <a:ext cx="7593312" cy="17890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3200" b="1" i="1" dirty="0">
                <a:solidFill>
                  <a:schemeClr val="accent6"/>
                </a:solidFill>
              </a:rPr>
              <a:t> Collecting </a:t>
            </a:r>
            <a:r>
              <a:rPr lang="en-US" sz="3200" i="1" dirty="0">
                <a:solidFill>
                  <a:schemeClr val="accent6"/>
                </a:solidFill>
              </a:rPr>
              <a:t>data.</a:t>
            </a:r>
          </a:p>
          <a:p>
            <a:pPr lvl="1"/>
            <a:r>
              <a:rPr lang="en-US" sz="3200" b="1" i="1" dirty="0">
                <a:solidFill>
                  <a:schemeClr val="accent6"/>
                </a:solidFill>
              </a:rPr>
              <a:t> Organizing </a:t>
            </a:r>
            <a:r>
              <a:rPr lang="en-US" sz="3200" i="1" dirty="0">
                <a:solidFill>
                  <a:schemeClr val="accent6"/>
                </a:solidFill>
              </a:rPr>
              <a:t>and </a:t>
            </a:r>
            <a:r>
              <a:rPr lang="en-US" sz="3200" b="1" i="1" dirty="0">
                <a:solidFill>
                  <a:schemeClr val="accent6"/>
                </a:solidFill>
              </a:rPr>
              <a:t>analyzing</a:t>
            </a:r>
            <a:r>
              <a:rPr lang="en-US" sz="3200" i="1" dirty="0">
                <a:solidFill>
                  <a:schemeClr val="accent6"/>
                </a:solidFill>
              </a:rPr>
              <a:t> data.</a:t>
            </a:r>
          </a:p>
          <a:p>
            <a:pPr lvl="1"/>
            <a:r>
              <a:rPr lang="en-US" sz="3200" i="1" dirty="0">
                <a:solidFill>
                  <a:schemeClr val="accent6"/>
                </a:solidFill>
              </a:rPr>
              <a:t> </a:t>
            </a:r>
            <a:r>
              <a:rPr lang="en-US" sz="3200" b="1" i="1" dirty="0">
                <a:solidFill>
                  <a:schemeClr val="accent6"/>
                </a:solidFill>
              </a:rPr>
              <a:t>Drawing conclusions </a:t>
            </a:r>
            <a:r>
              <a:rPr lang="en-US" sz="3200" i="1" dirty="0">
                <a:solidFill>
                  <a:schemeClr val="accent6"/>
                </a:solidFill>
              </a:rPr>
              <a:t>from data.</a:t>
            </a:r>
          </a:p>
          <a:p>
            <a:pPr>
              <a:buFont typeface="Wingdings" panose="05000000000000000000" pitchFamily="2" charset="2"/>
              <a:buChar char="v"/>
            </a:pPr>
            <a:endParaRPr lang="en-US" sz="3600" i="1" dirty="0">
              <a:solidFill>
                <a:schemeClr val="accent6"/>
              </a:solidFill>
            </a:endParaRPr>
          </a:p>
          <a:p>
            <a:pPr marL="0" indent="0">
              <a:buFont typeface="Arial" panose="020B0604020202020204" pitchFamily="34" charset="0"/>
              <a:buNone/>
            </a:pPr>
            <a:endParaRPr lang="en-US" sz="3600" i="1" dirty="0">
              <a:solidFill>
                <a:schemeClr val="accent6"/>
              </a:solidFill>
            </a:endParaRPr>
          </a:p>
          <a:p>
            <a:pPr marL="0" indent="0">
              <a:buFont typeface="Arial" panose="020B0604020202020204" pitchFamily="34" charset="0"/>
              <a:buNone/>
            </a:pPr>
            <a:endParaRPr lang="en-US" sz="3600" i="1" dirty="0">
              <a:solidFill>
                <a:schemeClr val="accent6"/>
              </a:solidFill>
            </a:endParaRPr>
          </a:p>
          <a:p>
            <a:pPr>
              <a:buFont typeface="Wingdings" panose="05000000000000000000" pitchFamily="2" charset="2"/>
              <a:buChar char="v"/>
            </a:pPr>
            <a:endParaRPr lang="en-US" sz="3600" i="1" dirty="0">
              <a:solidFill>
                <a:schemeClr val="accent6"/>
              </a:solidFill>
            </a:endParaRPr>
          </a:p>
        </p:txBody>
      </p:sp>
      <p:pic>
        <p:nvPicPr>
          <p:cNvPr id="11"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89482" y="3819945"/>
            <a:ext cx="2880870" cy="2497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Action Button: Movie 12">
            <a:hlinkClick r:id="rId3" highlightClick="1"/>
          </p:cNvPr>
          <p:cNvSpPr/>
          <p:nvPr/>
        </p:nvSpPr>
        <p:spPr>
          <a:xfrm>
            <a:off x="751285" y="229814"/>
            <a:ext cx="545433" cy="441267"/>
          </a:xfrm>
          <a:prstGeom prst="actionButtonMovie">
            <a:avLst/>
          </a:prstGeom>
          <a:solidFill>
            <a:srgbClr val="D5E5F3"/>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4747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down)">
                                      <p:cBhvr>
                                        <p:cTn id="7" dur="500"/>
                                        <p:tgtEl>
                                          <p:spTgt spid="10">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wipe(down)">
                                      <p:cBhvr>
                                        <p:cTn id="10" dur="500"/>
                                        <p:tgtEl>
                                          <p:spTgt spid="10">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Effect transition="in" filter="wipe(down)">
                                      <p:cBhvr>
                                        <p:cTn id="13" dur="500"/>
                                        <p:tgtEl>
                                          <p:spTgt spid="10">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352" y="413610"/>
            <a:ext cx="1773019" cy="507353"/>
          </a:xfrm>
        </p:spPr>
        <p:txBody>
          <a:bodyPr>
            <a:normAutofit/>
          </a:bodyPr>
          <a:lstStyle/>
          <a:p>
            <a:r>
              <a:rPr lang="en-US" sz="2400" b="0" i="1" dirty="0">
                <a:solidFill>
                  <a:srgbClr val="C00000"/>
                </a:solidFill>
              </a:rPr>
              <a:t>Example 1:</a:t>
            </a:r>
          </a:p>
        </p:txBody>
      </p:sp>
      <p:sp>
        <p:nvSpPr>
          <p:cNvPr id="3" name="Content Placeholder 2"/>
          <p:cNvSpPr txBox="1">
            <a:spLocks/>
          </p:cNvSpPr>
          <p:nvPr/>
        </p:nvSpPr>
        <p:spPr>
          <a:xfrm>
            <a:off x="624145" y="851518"/>
            <a:ext cx="10924755" cy="789047"/>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Arial" panose="020B0604020202020204" pitchFamily="34" charset="0"/>
              <a:buNone/>
              <a:defRPr sz="1200" b="0" i="0" kern="1200">
                <a:solidFill>
                  <a:schemeClr val="accent6"/>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400" i="1" dirty="0">
                <a:latin typeface="+mj-lt"/>
                <a:cs typeface="Calibri" panose="020F0502020204030204" pitchFamily="34" charset="0"/>
              </a:rPr>
              <a:t> A company produces a million boxes of cereal per day.  It wants to determine the average calories per box of cereal.</a:t>
            </a:r>
          </a:p>
        </p:txBody>
      </p:sp>
      <p:sp>
        <p:nvSpPr>
          <p:cNvPr id="4" name="Content Placeholder 2"/>
          <p:cNvSpPr txBox="1">
            <a:spLocks/>
          </p:cNvSpPr>
          <p:nvPr/>
        </p:nvSpPr>
        <p:spPr>
          <a:xfrm>
            <a:off x="709352" y="2831962"/>
            <a:ext cx="5913438" cy="13144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sz="2400" dirty="0">
                <a:solidFill>
                  <a:schemeClr val="accent6"/>
                </a:solidFill>
              </a:rPr>
              <a:t>They could test </a:t>
            </a:r>
            <a:r>
              <a:rPr lang="en-US" sz="2400" b="1" dirty="0">
                <a:solidFill>
                  <a:schemeClr val="accent6"/>
                </a:solidFill>
              </a:rPr>
              <a:t>all</a:t>
            </a:r>
            <a:r>
              <a:rPr lang="en-US" sz="2400" dirty="0">
                <a:solidFill>
                  <a:schemeClr val="accent6"/>
                </a:solidFill>
              </a:rPr>
              <a:t> of the boxes  produced.</a:t>
            </a:r>
          </a:p>
          <a:p>
            <a:pPr>
              <a:buFont typeface="Arial" panose="020B0604020202020204" pitchFamily="34" charset="0"/>
              <a:buNone/>
            </a:pPr>
            <a:endParaRPr lang="en-US" sz="2400" dirty="0">
              <a:solidFill>
                <a:schemeClr val="accent6"/>
              </a:solidFill>
            </a:endParaRPr>
          </a:p>
          <a:p>
            <a:pPr>
              <a:buFont typeface="Arial" panose="020B0604020202020204" pitchFamily="34" charset="0"/>
              <a:buNone/>
            </a:pPr>
            <a:endParaRPr lang="en-US" sz="2400" dirty="0">
              <a:solidFill>
                <a:schemeClr val="accent6"/>
              </a:solidFill>
            </a:endParaRPr>
          </a:p>
        </p:txBody>
      </p:sp>
      <p:sp>
        <p:nvSpPr>
          <p:cNvPr id="5" name="Content Placeholder 3"/>
          <p:cNvSpPr txBox="1">
            <a:spLocks/>
          </p:cNvSpPr>
          <p:nvPr/>
        </p:nvSpPr>
        <p:spPr>
          <a:xfrm>
            <a:off x="5971020" y="3922745"/>
            <a:ext cx="5779181" cy="12590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dirty="0">
                <a:solidFill>
                  <a:srgbClr val="FF0000"/>
                </a:solidFill>
              </a:rPr>
              <a:t>It would take a lot of time.</a:t>
            </a:r>
          </a:p>
          <a:p>
            <a:pPr>
              <a:buFont typeface="Arial" panose="020B0604020202020204" pitchFamily="34" charset="0"/>
              <a:buNone/>
            </a:pPr>
            <a:r>
              <a:rPr lang="en-US" dirty="0">
                <a:solidFill>
                  <a:srgbClr val="FF0000"/>
                </a:solidFill>
              </a:rPr>
              <a:t>It would use all of the cereal produced. </a:t>
            </a:r>
            <a:endParaRPr lang="en-US" sz="3200" dirty="0"/>
          </a:p>
        </p:txBody>
      </p:sp>
      <p:sp>
        <p:nvSpPr>
          <p:cNvPr id="6" name="Content Placeholder 2"/>
          <p:cNvSpPr txBox="1">
            <a:spLocks/>
          </p:cNvSpPr>
          <p:nvPr/>
        </p:nvSpPr>
        <p:spPr>
          <a:xfrm>
            <a:off x="904634" y="5069883"/>
            <a:ext cx="8794750" cy="1312862"/>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endParaRPr lang="en-US" sz="2400" i="1" dirty="0">
              <a:solidFill>
                <a:schemeClr val="accent6"/>
              </a:solidFill>
            </a:endParaRPr>
          </a:p>
          <a:p>
            <a:pPr>
              <a:buFont typeface="Arial" panose="020B0604020202020204" pitchFamily="34" charset="0"/>
              <a:buNone/>
            </a:pPr>
            <a:endParaRPr lang="en-US" sz="2400" i="1" dirty="0">
              <a:solidFill>
                <a:schemeClr val="accent6"/>
              </a:solidFill>
            </a:endParaRPr>
          </a:p>
          <a:p>
            <a:pPr>
              <a:buFont typeface="Arial" panose="020B0604020202020204" pitchFamily="34" charset="0"/>
              <a:buNone/>
            </a:pPr>
            <a:r>
              <a:rPr lang="en-US" sz="4000" i="1" dirty="0">
                <a:solidFill>
                  <a:schemeClr val="accent6"/>
                </a:solidFill>
              </a:rPr>
              <a:t>* Instead they could use </a:t>
            </a:r>
            <a:r>
              <a:rPr lang="en-US" sz="4000" b="1" i="1" dirty="0">
                <a:solidFill>
                  <a:schemeClr val="accent6"/>
                </a:solidFill>
              </a:rPr>
              <a:t>sample</a:t>
            </a:r>
            <a:r>
              <a:rPr lang="en-US" sz="4000" i="1" dirty="0">
                <a:solidFill>
                  <a:schemeClr val="accent6"/>
                </a:solidFill>
              </a:rPr>
              <a:t> of maybe </a:t>
            </a:r>
            <a:r>
              <a:rPr lang="en-US" sz="4000" b="1" i="1" dirty="0">
                <a:solidFill>
                  <a:schemeClr val="accent6"/>
                </a:solidFill>
              </a:rPr>
              <a:t>50 or 100 boxes</a:t>
            </a:r>
            <a:r>
              <a:rPr lang="en-US" sz="4000" i="1" dirty="0">
                <a:solidFill>
                  <a:schemeClr val="accent6"/>
                </a:solidFill>
              </a:rPr>
              <a:t>. </a:t>
            </a:r>
          </a:p>
          <a:p>
            <a:pPr>
              <a:buFont typeface="Arial" panose="020B0604020202020204" pitchFamily="34" charset="0"/>
              <a:buNone/>
            </a:pPr>
            <a:r>
              <a:rPr lang="en-US" sz="2400" i="1" dirty="0">
                <a:solidFill>
                  <a:schemeClr val="accent6"/>
                </a:solidFill>
              </a:rPr>
              <a:t>.</a:t>
            </a:r>
          </a:p>
          <a:p>
            <a:pPr>
              <a:buFont typeface="Arial" panose="020B0604020202020204" pitchFamily="34" charset="0"/>
              <a:buNone/>
            </a:pPr>
            <a:endParaRPr lang="en-US" sz="2400" i="1" dirty="0">
              <a:solidFill>
                <a:schemeClr val="accent6"/>
              </a:solidFill>
            </a:endParaRPr>
          </a:p>
          <a:p>
            <a:pPr>
              <a:buFont typeface="Arial" panose="020B0604020202020204" pitchFamily="34" charset="0"/>
              <a:buNone/>
            </a:pPr>
            <a:endParaRPr lang="en-US" sz="2400" i="1" dirty="0">
              <a:solidFill>
                <a:schemeClr val="accent6"/>
              </a:solidFill>
            </a:endParaRPr>
          </a:p>
        </p:txBody>
      </p:sp>
      <p:pic>
        <p:nvPicPr>
          <p:cNvPr id="7" name="Picture 6" descr="File:Noto Emoji Oreo 1f914.svg - Wikimedia Common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9434" y="2583436"/>
            <a:ext cx="1339309" cy="1339309"/>
          </a:xfrm>
          <a:prstGeom prst="rect">
            <a:avLst/>
          </a:prstGeom>
        </p:spPr>
      </p:pic>
      <p:sp>
        <p:nvSpPr>
          <p:cNvPr id="8" name="Up-Down Arrow 7"/>
          <p:cNvSpPr/>
          <p:nvPr/>
        </p:nvSpPr>
        <p:spPr>
          <a:xfrm>
            <a:off x="5642909" y="2762217"/>
            <a:ext cx="124565" cy="1534806"/>
          </a:xfrm>
          <a:prstGeom prst="upDown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loud Callout 8"/>
          <p:cNvSpPr/>
          <p:nvPr/>
        </p:nvSpPr>
        <p:spPr>
          <a:xfrm>
            <a:off x="6313021" y="2201442"/>
            <a:ext cx="3386363" cy="1071147"/>
          </a:xfrm>
          <a:prstGeom prst="cloudCallout">
            <a:avLst>
              <a:gd name="adj1" fmla="val -21401"/>
              <a:gd name="adj2" fmla="val 85863"/>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rgbClr val="017E31"/>
                </a:solidFill>
              </a:rPr>
              <a:t>Problems with this solution</a:t>
            </a:r>
          </a:p>
          <a:p>
            <a:pPr algn="ctr"/>
            <a:endParaRPr lang="en-US" dirty="0"/>
          </a:p>
        </p:txBody>
      </p:sp>
      <p:sp>
        <p:nvSpPr>
          <p:cNvPr id="10" name="Content Placeholder 2"/>
          <p:cNvSpPr txBox="1">
            <a:spLocks/>
          </p:cNvSpPr>
          <p:nvPr/>
        </p:nvSpPr>
        <p:spPr>
          <a:xfrm>
            <a:off x="709352" y="2299179"/>
            <a:ext cx="1840420" cy="532783"/>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Arial" panose="020B0604020202020204" pitchFamily="34" charset="0"/>
              <a:buNone/>
              <a:defRPr sz="1200" b="0" i="0" kern="1200">
                <a:solidFill>
                  <a:schemeClr val="accent6"/>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i="1" dirty="0">
                <a:solidFill>
                  <a:srgbClr val="C00000"/>
                </a:solidFill>
                <a:latin typeface="+mj-lt"/>
                <a:cs typeface="Calibri" panose="020F0502020204030204" pitchFamily="34" charset="0"/>
              </a:rPr>
              <a:t>Solution:</a:t>
            </a:r>
          </a:p>
          <a:p>
            <a:pPr algn="l"/>
            <a:endParaRPr lang="en-US" sz="2000" i="1" dirty="0">
              <a:solidFill>
                <a:srgbClr val="C00000"/>
              </a:solidFill>
              <a:latin typeface="+mj-lt"/>
              <a:cs typeface="Calibri" panose="020F0502020204030204" pitchFamily="34" charset="0"/>
            </a:endParaRPr>
          </a:p>
        </p:txBody>
      </p:sp>
    </p:spTree>
    <p:extLst>
      <p:ext uri="{BB962C8B-B14F-4D97-AF65-F5344CB8AC3E}">
        <p14:creationId xmlns:p14="http://schemas.microsoft.com/office/powerpoint/2010/main" val="3680403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down)">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5">
                                            <p:txEl>
                                              <p:pRg st="0" end="0"/>
                                            </p:txEl>
                                          </p:spTgt>
                                        </p:tgtEl>
                                        <p:attrNameLst>
                                          <p:attrName>style.visibility</p:attrName>
                                        </p:attrNameLst>
                                      </p:cBhvr>
                                      <p:to>
                                        <p:strVal val="visible"/>
                                      </p:to>
                                    </p:set>
                                    <p:animEffect transition="in" filter="wipe(down)">
                                      <p:cBhvr>
                                        <p:cTn id="33" dur="500"/>
                                        <p:tgtEl>
                                          <p:spTgt spid="5">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5">
                                            <p:txEl>
                                              <p:pRg st="1" end="1"/>
                                            </p:txEl>
                                          </p:spTgt>
                                        </p:tgtEl>
                                        <p:attrNameLst>
                                          <p:attrName>style.visibility</p:attrName>
                                        </p:attrNameLst>
                                      </p:cBhvr>
                                      <p:to>
                                        <p:strVal val="visible"/>
                                      </p:to>
                                    </p:set>
                                    <p:animEffect transition="in" filter="wipe(down)">
                                      <p:cBhvr>
                                        <p:cTn id="38" dur="500"/>
                                        <p:tgtEl>
                                          <p:spTgt spid="5">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animEffect transition="in" filter="barn(inVertical)">
                                      <p:cBhvr>
                                        <p:cTn id="43" dur="500"/>
                                        <p:tgtEl>
                                          <p:spTgt spid="6">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6">
                                            <p:txEl>
                                              <p:pRg st="3" end="3"/>
                                            </p:txEl>
                                          </p:spTgt>
                                        </p:tgtEl>
                                        <p:attrNameLst>
                                          <p:attrName>style.visibility</p:attrName>
                                        </p:attrNameLst>
                                      </p:cBhvr>
                                      <p:to>
                                        <p:strVal val="visible"/>
                                      </p:to>
                                    </p:set>
                                    <p:animEffect transition="in" filter="barn(inVertical)">
                                      <p:cBhvr>
                                        <p:cTn id="48" dur="500"/>
                                        <p:tgtEl>
                                          <p:spTgt spid="6">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10">
                                            <p:txEl>
                                              <p:pRg st="0" end="0"/>
                                            </p:txEl>
                                          </p:spTgt>
                                        </p:tgtEl>
                                        <p:attrNameLst>
                                          <p:attrName>style.visibility</p:attrName>
                                        </p:attrNameLst>
                                      </p:cBhvr>
                                      <p:to>
                                        <p:strVal val="visible"/>
                                      </p:to>
                                    </p:set>
                                    <p:animEffect transition="in" filter="wipe(down)">
                                      <p:cBhvr>
                                        <p:cTn id="53"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build="p"/>
      <p:bldP spid="6" grpId="0" build="p"/>
      <p:bldP spid="8" grpId="0" animBg="1"/>
      <p:bldP spid="9" grpId="0" animBg="1"/>
      <p:bldP spid="1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2705" y="1899910"/>
            <a:ext cx="5019675" cy="3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1991" y="2511821"/>
            <a:ext cx="4962525"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Flowchart: Punched Tape 3"/>
          <p:cNvSpPr/>
          <p:nvPr/>
        </p:nvSpPr>
        <p:spPr>
          <a:xfrm>
            <a:off x="3618637" y="363500"/>
            <a:ext cx="5084616" cy="1267691"/>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2"/>
                </a:solidFill>
              </a:rPr>
              <a:t>SAMPLE vs POPULATION</a:t>
            </a:r>
          </a:p>
        </p:txBody>
      </p:sp>
    </p:spTree>
    <p:extLst>
      <p:ext uri="{BB962C8B-B14F-4D97-AF65-F5344CB8AC3E}">
        <p14:creationId xmlns:p14="http://schemas.microsoft.com/office/powerpoint/2010/main" val="4046507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ppt_x"/>
                                          </p:val>
                                        </p:tav>
                                        <p:tav tm="100000">
                                          <p:val>
                                            <p:strVal val="#ppt_x"/>
                                          </p:val>
                                        </p:tav>
                                      </p:tavLst>
                                    </p:anim>
                                    <p:anim calcmode="lin" valueType="num">
                                      <p:cBhvr additive="base">
                                        <p:cTn id="1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arn(inVertical)">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709352" y="821133"/>
            <a:ext cx="10971350" cy="1465502"/>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Arial" panose="020B0604020202020204" pitchFamily="34" charset="0"/>
              <a:buNone/>
              <a:defRPr sz="1200" b="0" i="0" kern="1200">
                <a:solidFill>
                  <a:schemeClr val="accent6"/>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2400" i="1" dirty="0"/>
              <a:t>Etisalat wants to ask the employees of businesses in Sharjah their opinions of internet services. Etisalat chose 30 companies and asked the employees in a questionnaire, about the levels of services provided by the company.</a:t>
            </a:r>
          </a:p>
        </p:txBody>
      </p:sp>
      <p:sp>
        <p:nvSpPr>
          <p:cNvPr id="3" name="Content Placeholder 3"/>
          <p:cNvSpPr txBox="1">
            <a:spLocks/>
          </p:cNvSpPr>
          <p:nvPr/>
        </p:nvSpPr>
        <p:spPr>
          <a:xfrm>
            <a:off x="1078329" y="2286635"/>
            <a:ext cx="10233396" cy="2527384"/>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accent6"/>
                </a:solidFill>
              </a:rPr>
              <a:t>What is the </a:t>
            </a:r>
            <a:r>
              <a:rPr lang="en-US" b="1" u="sng" dirty="0">
                <a:solidFill>
                  <a:schemeClr val="accent6"/>
                </a:solidFill>
              </a:rPr>
              <a:t>population</a:t>
            </a:r>
            <a:r>
              <a:rPr lang="en-US" dirty="0">
                <a:solidFill>
                  <a:schemeClr val="accent6"/>
                </a:solidFill>
              </a:rPr>
              <a:t>?</a:t>
            </a:r>
          </a:p>
          <a:p>
            <a:pPr>
              <a:buFont typeface="Arial" panose="020B0604020202020204" pitchFamily="34" charset="0"/>
              <a:buNone/>
            </a:pPr>
            <a:r>
              <a:rPr lang="en-US" b="1" dirty="0">
                <a:solidFill>
                  <a:srgbClr val="FF0000"/>
                </a:solidFill>
              </a:rPr>
              <a:t>   the employees of all businesses in Sharjah.</a:t>
            </a:r>
          </a:p>
          <a:p>
            <a:pPr>
              <a:buFont typeface="Arial" panose="020B0604020202020204" pitchFamily="34" charset="0"/>
              <a:buNone/>
            </a:pPr>
            <a:endParaRPr lang="en-US" dirty="0"/>
          </a:p>
          <a:p>
            <a:r>
              <a:rPr lang="en-US" dirty="0">
                <a:solidFill>
                  <a:schemeClr val="accent6"/>
                </a:solidFill>
              </a:rPr>
              <a:t>What is the </a:t>
            </a:r>
            <a:r>
              <a:rPr lang="en-US" b="1" u="sng" dirty="0">
                <a:solidFill>
                  <a:schemeClr val="accent6"/>
                </a:solidFill>
              </a:rPr>
              <a:t>sample</a:t>
            </a:r>
            <a:r>
              <a:rPr lang="en-US" dirty="0">
                <a:solidFill>
                  <a:schemeClr val="accent6"/>
                </a:solidFill>
              </a:rPr>
              <a:t>?</a:t>
            </a:r>
          </a:p>
          <a:p>
            <a:pPr>
              <a:buFont typeface="Arial" panose="020B0604020202020204" pitchFamily="34" charset="0"/>
              <a:buNone/>
            </a:pPr>
            <a:r>
              <a:rPr lang="en-US" b="1" dirty="0">
                <a:solidFill>
                  <a:srgbClr val="FF0000"/>
                </a:solidFill>
              </a:rPr>
              <a:t>   the employees of the 30 companies in Sharjah selected by Etisalat.</a:t>
            </a:r>
          </a:p>
          <a:p>
            <a:pPr>
              <a:buFont typeface="Arial" panose="020B0604020202020204" pitchFamily="34" charset="0"/>
              <a:buNone/>
            </a:pPr>
            <a:endParaRPr lang="en-US" dirty="0"/>
          </a:p>
        </p:txBody>
      </p:sp>
      <p:sp>
        <p:nvSpPr>
          <p:cNvPr id="4" name="Title 1"/>
          <p:cNvSpPr>
            <a:spLocks noGrp="1"/>
          </p:cNvSpPr>
          <p:nvPr>
            <p:ph type="title"/>
          </p:nvPr>
        </p:nvSpPr>
        <p:spPr>
          <a:xfrm>
            <a:off x="709352" y="272263"/>
            <a:ext cx="1773019" cy="507353"/>
          </a:xfrm>
        </p:spPr>
        <p:txBody>
          <a:bodyPr>
            <a:normAutofit/>
          </a:bodyPr>
          <a:lstStyle/>
          <a:p>
            <a:r>
              <a:rPr lang="en-US" sz="2400" b="0" i="1" dirty="0">
                <a:solidFill>
                  <a:srgbClr val="C00000"/>
                </a:solidFill>
              </a:rPr>
              <a:t>Example 2.</a:t>
            </a:r>
          </a:p>
        </p:txBody>
      </p:sp>
    </p:spTree>
    <p:extLst>
      <p:ext uri="{BB962C8B-B14F-4D97-AF65-F5344CB8AC3E}">
        <p14:creationId xmlns:p14="http://schemas.microsoft.com/office/powerpoint/2010/main" val="143801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4651" y="240090"/>
            <a:ext cx="3345411" cy="993973"/>
          </a:xfrm>
        </p:spPr>
        <p:txBody>
          <a:bodyPr/>
          <a:lstStyle/>
          <a:p>
            <a:r>
              <a:rPr lang="en-US" b="1" dirty="0">
                <a:solidFill>
                  <a:srgbClr val="C00000"/>
                </a:solidFill>
              </a:rPr>
              <a:t>Data:</a:t>
            </a:r>
          </a:p>
        </p:txBody>
      </p:sp>
      <p:sp>
        <p:nvSpPr>
          <p:cNvPr id="3" name="Content Placeholder 2"/>
          <p:cNvSpPr txBox="1">
            <a:spLocks/>
          </p:cNvSpPr>
          <p:nvPr/>
        </p:nvSpPr>
        <p:spPr>
          <a:xfrm>
            <a:off x="1481971" y="560428"/>
            <a:ext cx="9851506" cy="4454926"/>
          </a:xfrm>
          <a:prstGeom prst="rect">
            <a:avLst/>
          </a:prstGeom>
        </p:spPr>
        <p:txBody>
          <a:bodyPr vert="horz" lIns="91440" tIns="45720" rIns="91440" bIns="45720" rtlCol="0" anchor="t">
            <a:noAutofit/>
          </a:bodyPr>
          <a:lstStyle>
            <a:lvl1pPr marL="0" indent="0" algn="r" defTabSz="914400" rtl="0" eaLnBrk="1" latinLnBrk="0" hangingPunct="1">
              <a:lnSpc>
                <a:spcPct val="90000"/>
              </a:lnSpc>
              <a:spcBef>
                <a:spcPts val="1000"/>
              </a:spcBef>
              <a:buFont typeface="Arial" panose="020B0604020202020204" pitchFamily="34" charset="0"/>
              <a:buNone/>
              <a:defRPr sz="1200" b="0" i="0" kern="1200">
                <a:solidFill>
                  <a:schemeClr val="accent6"/>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2400" b="1" dirty="0"/>
              <a:t>Data</a:t>
            </a:r>
            <a:endParaRPr lang="en-US" sz="2200" b="1" dirty="0"/>
          </a:p>
          <a:p>
            <a:endParaRPr lang="en-US" sz="2200" dirty="0"/>
          </a:p>
          <a:p>
            <a:r>
              <a:rPr lang="en-US" sz="2200" dirty="0"/>
              <a:t>                                                                   </a:t>
            </a:r>
          </a:p>
          <a:p>
            <a:endParaRPr lang="en-US" sz="2200" dirty="0"/>
          </a:p>
          <a:p>
            <a:endParaRPr lang="en-US" sz="2200" dirty="0"/>
          </a:p>
          <a:p>
            <a:endParaRPr lang="en-US" sz="2200" dirty="0"/>
          </a:p>
          <a:p>
            <a:pPr algn="ctr"/>
            <a:r>
              <a:rPr lang="en-US" sz="2200" dirty="0">
                <a:latin typeface="Tahoma"/>
                <a:ea typeface="Tahoma"/>
                <a:cs typeface="Tahoma"/>
              </a:rPr>
              <a:t>Data can be classified into </a:t>
            </a:r>
            <a:r>
              <a:rPr lang="en-US" sz="2200" b="1" dirty="0">
                <a:solidFill>
                  <a:srgbClr val="FF0000"/>
                </a:solidFill>
                <a:latin typeface="Tahoma"/>
                <a:ea typeface="Tahoma"/>
                <a:cs typeface="Tahoma"/>
              </a:rPr>
              <a:t>qualitative</a:t>
            </a:r>
            <a:r>
              <a:rPr lang="en-US" sz="2200" dirty="0">
                <a:solidFill>
                  <a:srgbClr val="FF0000"/>
                </a:solidFill>
                <a:latin typeface="Tahoma"/>
                <a:ea typeface="Tahoma"/>
                <a:cs typeface="Tahoma"/>
              </a:rPr>
              <a:t> </a:t>
            </a:r>
            <a:r>
              <a:rPr lang="en-US" sz="2200" dirty="0">
                <a:latin typeface="Tahoma"/>
                <a:ea typeface="Tahoma"/>
                <a:cs typeface="Tahoma"/>
              </a:rPr>
              <a:t>or </a:t>
            </a:r>
            <a:r>
              <a:rPr lang="en-US" sz="2200" b="1" dirty="0">
                <a:solidFill>
                  <a:srgbClr val="FF0000"/>
                </a:solidFill>
                <a:latin typeface="Tahoma"/>
                <a:ea typeface="Tahoma"/>
                <a:cs typeface="Tahoma"/>
              </a:rPr>
              <a:t>quantitative</a:t>
            </a:r>
            <a:r>
              <a:rPr lang="en-US" sz="2200" dirty="0">
                <a:solidFill>
                  <a:srgbClr val="FF0000"/>
                </a:solidFill>
                <a:latin typeface="Tahoma"/>
                <a:ea typeface="Tahoma"/>
                <a:cs typeface="Tahoma"/>
              </a:rPr>
              <a:t> </a:t>
            </a:r>
            <a:r>
              <a:rPr lang="en-US" sz="2200" dirty="0">
                <a:latin typeface="Tahoma"/>
                <a:ea typeface="Tahoma"/>
                <a:cs typeface="Tahoma"/>
              </a:rPr>
              <a:t>data.   </a:t>
            </a:r>
            <a:endParaRPr lang="en-US" sz="2200" dirty="0">
              <a:solidFill>
                <a:srgbClr val="2C2825"/>
              </a:solidFill>
            </a:endParaRPr>
          </a:p>
          <a:p>
            <a:pPr algn="ctr"/>
            <a:endParaRPr lang="en-US" sz="2200" dirty="0">
              <a:solidFill>
                <a:srgbClr val="2C2825"/>
              </a:solidFill>
              <a:latin typeface="Tahoma"/>
              <a:ea typeface="Tahoma"/>
              <a:cs typeface="Tahoma"/>
            </a:endParaRPr>
          </a:p>
          <a:p>
            <a:pPr algn="ctr"/>
            <a:r>
              <a:rPr lang="en-US" sz="2200" b="1" dirty="0">
                <a:solidFill>
                  <a:srgbClr val="7030A0"/>
                </a:solidFill>
              </a:rPr>
              <a:t>quantity</a:t>
            </a:r>
            <a:r>
              <a:rPr lang="en-US" sz="2200" dirty="0"/>
              <a:t> is the amount of something.</a:t>
            </a:r>
          </a:p>
          <a:p>
            <a:pPr algn="ctr"/>
            <a:r>
              <a:rPr lang="en-US" sz="2200" b="1" dirty="0">
                <a:solidFill>
                  <a:srgbClr val="7030A0"/>
                </a:solidFill>
              </a:rPr>
              <a:t>quality</a:t>
            </a:r>
            <a:r>
              <a:rPr lang="en-US" sz="2200" dirty="0"/>
              <a:t> is the characteristics of data</a:t>
            </a:r>
          </a:p>
        </p:txBody>
      </p:sp>
      <p:cxnSp>
        <p:nvCxnSpPr>
          <p:cNvPr id="4" name="Straight Arrow Connector 3"/>
          <p:cNvCxnSpPr>
            <a:cxnSpLocks/>
          </p:cNvCxnSpPr>
          <p:nvPr/>
        </p:nvCxnSpPr>
        <p:spPr>
          <a:xfrm flipH="1">
            <a:off x="4945550" y="913475"/>
            <a:ext cx="1462174" cy="800944"/>
          </a:xfrm>
          <a:prstGeom prst="straightConnector1">
            <a:avLst/>
          </a:prstGeom>
          <a:ln w="762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6385407" y="914948"/>
            <a:ext cx="1517535" cy="810676"/>
          </a:xfrm>
          <a:prstGeom prst="straightConnector1">
            <a:avLst/>
          </a:prstGeom>
          <a:ln w="762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 name="Rounded Rectangle 5"/>
          <p:cNvSpPr/>
          <p:nvPr/>
        </p:nvSpPr>
        <p:spPr>
          <a:xfrm>
            <a:off x="3747132" y="1725624"/>
            <a:ext cx="2396836" cy="617448"/>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70C0"/>
                </a:solidFill>
              </a:rPr>
              <a:t>qualitative</a:t>
            </a:r>
          </a:p>
        </p:txBody>
      </p:sp>
      <p:sp>
        <p:nvSpPr>
          <p:cNvPr id="7" name="Rounded Rectangle 6"/>
          <p:cNvSpPr/>
          <p:nvPr/>
        </p:nvSpPr>
        <p:spPr>
          <a:xfrm>
            <a:off x="6571010" y="1692865"/>
            <a:ext cx="2479964" cy="660556"/>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70C0"/>
                </a:solidFill>
              </a:rPr>
              <a:t>quantitative</a:t>
            </a:r>
          </a:p>
        </p:txBody>
      </p:sp>
      <p:sp>
        <p:nvSpPr>
          <p:cNvPr id="8" name="Explosion 1 7"/>
          <p:cNvSpPr/>
          <p:nvPr/>
        </p:nvSpPr>
        <p:spPr>
          <a:xfrm rot="20203908">
            <a:off x="1004133" y="886135"/>
            <a:ext cx="2660363" cy="1605525"/>
          </a:xfrm>
          <a:prstGeom prst="irregularSeal1">
            <a:avLst/>
          </a:prstGeom>
          <a:solidFill>
            <a:srgbClr val="FFC000"/>
          </a:solidFill>
          <a:ln w="127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1" dirty="0">
              <a:solidFill>
                <a:schemeClr val="accent6">
                  <a:lumMod val="50000"/>
                </a:schemeClr>
              </a:solidFill>
            </a:endParaRPr>
          </a:p>
          <a:p>
            <a:pPr algn="ctr"/>
            <a:r>
              <a:rPr lang="en-US" b="1" i="1" dirty="0">
                <a:solidFill>
                  <a:schemeClr val="accent6">
                    <a:lumMod val="50000"/>
                  </a:schemeClr>
                </a:solidFill>
              </a:rPr>
              <a:t>Remember:</a:t>
            </a:r>
          </a:p>
          <a:p>
            <a:pPr algn="ctr"/>
            <a:endParaRPr lang="en-US" dirty="0"/>
          </a:p>
        </p:txBody>
      </p:sp>
      <p:sp>
        <p:nvSpPr>
          <p:cNvPr id="10" name="TextBox 9">
            <a:extLst>
              <a:ext uri="{FF2B5EF4-FFF2-40B4-BE49-F238E27FC236}">
                <a16:creationId xmlns:a16="http://schemas.microsoft.com/office/drawing/2014/main" id="{9F6F194E-3E69-9E4D-6BD0-0E3918D6180A}"/>
              </a:ext>
            </a:extLst>
          </p:cNvPr>
          <p:cNvSpPr txBox="1"/>
          <p:nvPr/>
        </p:nvSpPr>
        <p:spPr>
          <a:xfrm>
            <a:off x="992842" y="5015753"/>
            <a:ext cx="10845051"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FF0000"/>
                </a:solidFill>
                <a:latin typeface="Google Sans"/>
              </a:rPr>
              <a:t>Data </a:t>
            </a:r>
            <a:r>
              <a:rPr lang="en-US" sz="2000">
                <a:solidFill>
                  <a:srgbClr val="040C28"/>
                </a:solidFill>
                <a:latin typeface="Google Sans"/>
              </a:rPr>
              <a:t>refers to a set of values, which are usually organized by variables (what is being measured) and observational units (members of the sample/population)</a:t>
            </a:r>
            <a:r>
              <a:rPr lang="en-US" sz="2000">
                <a:solidFill>
                  <a:srgbClr val="202124"/>
                </a:solidFill>
                <a:latin typeface="Google Sans"/>
              </a:rPr>
              <a:t>.</a:t>
            </a:r>
          </a:p>
          <a:p>
            <a:endParaRPr lang="en-US"/>
          </a:p>
          <a:p>
            <a:r>
              <a:rPr lang="en-US" sz="2000" b="1">
                <a:solidFill>
                  <a:srgbClr val="FF0000"/>
                </a:solidFill>
              </a:rPr>
              <a:t>Variable</a:t>
            </a:r>
            <a:r>
              <a:rPr lang="en-US" sz="2000">
                <a:solidFill>
                  <a:schemeClr val="accent6"/>
                </a:solidFill>
              </a:rPr>
              <a:t> is a characteristic or attribute of a subject that can assume different values (from data collected in survey or experiments).</a:t>
            </a:r>
          </a:p>
        </p:txBody>
      </p:sp>
    </p:spTree>
    <p:extLst>
      <p:ext uri="{BB962C8B-B14F-4D97-AF65-F5344CB8AC3E}">
        <p14:creationId xmlns:p14="http://schemas.microsoft.com/office/powerpoint/2010/main" val="1404935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3">
                                            <p:txEl>
                                              <p:pRg st="2" end="2"/>
                                            </p:txEl>
                                          </p:spTgt>
                                        </p:tgtEl>
                                        <p:attrNameLst>
                                          <p:attrName>style.visibility</p:attrName>
                                        </p:attrNameLst>
                                      </p:cBhvr>
                                      <p:to>
                                        <p:strVal val="visible"/>
                                      </p:to>
                                    </p:set>
                                    <p:animEffect transition="in" filter="wipe(down)">
                                      <p:cBhvr>
                                        <p:cTn id="38" dur="500"/>
                                        <p:tgtEl>
                                          <p:spTgt spid="3">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wipe(down)">
                                      <p:cBhvr>
                                        <p:cTn id="43" dur="500"/>
                                        <p:tgtEl>
                                          <p:spTgt spid="3">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wipe(down)">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wipe(down)">
                                      <p:cBhvr>
                                        <p:cTn id="5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1354" y="276845"/>
            <a:ext cx="7129793" cy="1052390"/>
          </a:xfrm>
        </p:spPr>
        <p:txBody>
          <a:bodyPr>
            <a:normAutofit/>
          </a:bodyPr>
          <a:lstStyle/>
          <a:p>
            <a:r>
              <a:rPr lang="en-US" sz="2800" b="1" dirty="0">
                <a:solidFill>
                  <a:srgbClr val="C00000"/>
                </a:solidFill>
              </a:rPr>
              <a:t>Qualitative and Quantitative Dat</a:t>
            </a:r>
            <a:r>
              <a:rPr lang="en-US" sz="2800" dirty="0">
                <a:solidFill>
                  <a:srgbClr val="C00000"/>
                </a:solidFill>
              </a:rPr>
              <a:t>a:</a:t>
            </a:r>
            <a:endParaRPr lang="en-US" sz="2800" b="1" dirty="0">
              <a:solidFill>
                <a:srgbClr val="C00000"/>
              </a:solidFill>
            </a:endParaRPr>
          </a:p>
        </p:txBody>
      </p:sp>
      <p:sp>
        <p:nvSpPr>
          <p:cNvPr id="3" name="Content Placeholder 2"/>
          <p:cNvSpPr txBox="1">
            <a:spLocks/>
          </p:cNvSpPr>
          <p:nvPr/>
        </p:nvSpPr>
        <p:spPr>
          <a:xfrm>
            <a:off x="1341654" y="1176632"/>
            <a:ext cx="10689924" cy="4023360"/>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sz="1200" b="0" i="0" kern="1200">
                <a:solidFill>
                  <a:schemeClr val="accent6"/>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400" b="1" dirty="0">
                <a:solidFill>
                  <a:srgbClr val="C00000"/>
                </a:solidFill>
              </a:rPr>
              <a:t>Quantitative</a:t>
            </a:r>
            <a:r>
              <a:rPr lang="en-US" sz="2400" dirty="0"/>
              <a:t> data involve numerical measurements.</a:t>
            </a:r>
          </a:p>
          <a:p>
            <a:pPr algn="l"/>
            <a:endParaRPr lang="en-US" sz="2400" dirty="0"/>
          </a:p>
          <a:p>
            <a:pPr lvl="1" algn="l"/>
            <a:r>
              <a:rPr lang="en-US" sz="2400" i="1" dirty="0">
                <a:solidFill>
                  <a:schemeClr val="bg1">
                    <a:lumMod val="75000"/>
                  </a:schemeClr>
                </a:solidFill>
              </a:rPr>
              <a:t>Examples:</a:t>
            </a:r>
          </a:p>
          <a:p>
            <a:pPr lvl="2" algn="l"/>
            <a:r>
              <a:rPr lang="en-US" sz="2400" i="1" dirty="0">
                <a:solidFill>
                  <a:srgbClr val="0033CC"/>
                </a:solidFill>
              </a:rPr>
              <a:t>Height, weight, speed, and number of students at the college.</a:t>
            </a:r>
          </a:p>
          <a:p>
            <a:pPr algn="l"/>
            <a:endParaRPr lang="en-US" sz="2400" b="1" dirty="0">
              <a:solidFill>
                <a:srgbClr val="FF0000"/>
              </a:solidFill>
            </a:endParaRPr>
          </a:p>
          <a:p>
            <a:pPr algn="l"/>
            <a:r>
              <a:rPr lang="en-US" sz="2400" b="1" dirty="0">
                <a:solidFill>
                  <a:srgbClr val="C00000"/>
                </a:solidFill>
              </a:rPr>
              <a:t>Qualitative</a:t>
            </a:r>
            <a:r>
              <a:rPr lang="en-US" sz="2400" dirty="0"/>
              <a:t> data involve measurements of qualities/physical characteristics.</a:t>
            </a:r>
          </a:p>
          <a:p>
            <a:pPr algn="l"/>
            <a:endParaRPr lang="en-US" sz="2400" dirty="0">
              <a:solidFill>
                <a:schemeClr val="bg1">
                  <a:lumMod val="75000"/>
                </a:schemeClr>
              </a:solidFill>
            </a:endParaRPr>
          </a:p>
          <a:p>
            <a:pPr lvl="1" algn="l"/>
            <a:r>
              <a:rPr lang="en-US" sz="2400" i="1" dirty="0">
                <a:solidFill>
                  <a:schemeClr val="bg1">
                    <a:lumMod val="75000"/>
                  </a:schemeClr>
                </a:solidFill>
              </a:rPr>
              <a:t>Examples:</a:t>
            </a:r>
          </a:p>
          <a:p>
            <a:pPr lvl="2" algn="l"/>
            <a:r>
              <a:rPr lang="en-US" sz="2400" i="1" dirty="0">
                <a:solidFill>
                  <a:srgbClr val="0033CC"/>
                </a:solidFill>
              </a:rPr>
              <a:t>Gender, occupation, nationality, color.</a:t>
            </a:r>
          </a:p>
          <a:p>
            <a:pPr algn="l"/>
            <a:endParaRPr lang="en-US" sz="2400" b="1" dirty="0">
              <a:solidFill>
                <a:srgbClr val="FF0000"/>
              </a:solidFill>
            </a:endParaRPr>
          </a:p>
          <a:p>
            <a:pPr algn="l"/>
            <a:endParaRPr lang="en-US" sz="2400" dirty="0"/>
          </a:p>
        </p:txBody>
      </p:sp>
      <p:sp>
        <p:nvSpPr>
          <p:cNvPr id="4" name="Action Button: Movie 3">
            <a:hlinkClick r:id="rId2" highlightClick="1"/>
          </p:cNvPr>
          <p:cNvSpPr/>
          <p:nvPr/>
        </p:nvSpPr>
        <p:spPr>
          <a:xfrm>
            <a:off x="685921" y="276845"/>
            <a:ext cx="545433" cy="441267"/>
          </a:xfrm>
          <a:prstGeom prst="actionButtonMovie">
            <a:avLst/>
          </a:prstGeom>
          <a:solidFill>
            <a:srgbClr val="D5E5F3"/>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2607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left)">
                                      <p:cBhvr>
                                        <p:cTn id="10" dur="500"/>
                                        <p:tgtEl>
                                          <p:spTgt spid="3">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left)">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wipe(left)">
                                      <p:cBhvr>
                                        <p:cTn id="18" dur="500"/>
                                        <p:tgtEl>
                                          <p:spTgt spid="3">
                                            <p:txEl>
                                              <p:pRg st="5" end="5"/>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wipe(left)">
                                      <p:cBhvr>
                                        <p:cTn id="21" dur="500"/>
                                        <p:tgtEl>
                                          <p:spTgt spid="3">
                                            <p:txEl>
                                              <p:pRg st="7" end="7"/>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wipe(left)">
                                      <p:cBhvr>
                                        <p:cTn id="2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042" y="-66832"/>
            <a:ext cx="6495341" cy="730430"/>
          </a:xfrm>
        </p:spPr>
        <p:txBody>
          <a:bodyPr>
            <a:normAutofit fontScale="90000"/>
          </a:bodyPr>
          <a:lstStyle/>
          <a:p>
            <a:br>
              <a:rPr lang="en-US" b="0" u="sng" dirty="0">
                <a:solidFill>
                  <a:srgbClr val="C00000"/>
                </a:solidFill>
              </a:rPr>
            </a:br>
            <a:r>
              <a:rPr lang="en-US" sz="2700" b="0" dirty="0">
                <a:solidFill>
                  <a:srgbClr val="C00000"/>
                </a:solidFill>
              </a:rPr>
              <a:t>Examples: Qualitative or Quantitative Data?</a:t>
            </a:r>
            <a:br>
              <a:rPr lang="en-US" b="0" u="sng" dirty="0">
                <a:solidFill>
                  <a:srgbClr val="C00000"/>
                </a:solidFill>
              </a:rPr>
            </a:br>
            <a:endParaRPr lang="en-US" b="0" u="sng" dirty="0">
              <a:solidFill>
                <a:srgbClr val="C00000"/>
              </a:solidFill>
            </a:endParaRPr>
          </a:p>
        </p:txBody>
      </p:sp>
      <p:sp>
        <p:nvSpPr>
          <p:cNvPr id="3" name="Content Placeholder 2"/>
          <p:cNvSpPr txBox="1">
            <a:spLocks/>
          </p:cNvSpPr>
          <p:nvPr/>
        </p:nvSpPr>
        <p:spPr>
          <a:xfrm>
            <a:off x="847899" y="1130658"/>
            <a:ext cx="6622421" cy="4696691"/>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sz="1200" b="0" i="0" kern="1200">
                <a:solidFill>
                  <a:schemeClr val="accent6"/>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i="1" dirty="0"/>
              <a:t>1. The weather today is cloudy.</a:t>
            </a:r>
          </a:p>
          <a:p>
            <a:pPr algn="l"/>
            <a:endParaRPr lang="en-US" sz="2000" i="1" dirty="0"/>
          </a:p>
          <a:p>
            <a:pPr algn="l"/>
            <a:r>
              <a:rPr lang="en-US" sz="2000" i="1" dirty="0"/>
              <a:t>2. The average weight of Diploma students is 60 kg.</a:t>
            </a:r>
          </a:p>
          <a:p>
            <a:pPr algn="l"/>
            <a:endParaRPr lang="en-US" sz="2000" i="1" dirty="0"/>
          </a:p>
          <a:p>
            <a:pPr algn="l"/>
            <a:r>
              <a:rPr lang="en-US" sz="2000" i="1" dirty="0"/>
              <a:t>3. My student number is H000482190.</a:t>
            </a:r>
          </a:p>
          <a:p>
            <a:pPr algn="l"/>
            <a:endParaRPr lang="en-US" sz="2000" i="1" dirty="0"/>
          </a:p>
          <a:p>
            <a:pPr algn="l"/>
            <a:r>
              <a:rPr lang="en-US" sz="2000" i="1" dirty="0"/>
              <a:t>4. The average score on a math  test is 77%.</a:t>
            </a:r>
          </a:p>
          <a:p>
            <a:pPr algn="l"/>
            <a:endParaRPr lang="en-US" sz="2000" i="1" dirty="0"/>
          </a:p>
          <a:p>
            <a:pPr algn="l"/>
            <a:r>
              <a:rPr lang="en-US" sz="2000" i="1" dirty="0"/>
              <a:t>5.Most students in the class like </a:t>
            </a:r>
          </a:p>
          <a:p>
            <a:pPr algn="l"/>
            <a:r>
              <a:rPr lang="en-US" sz="2000" i="1" dirty="0"/>
              <a:t>mathematics.</a:t>
            </a:r>
          </a:p>
        </p:txBody>
      </p:sp>
      <p:sp>
        <p:nvSpPr>
          <p:cNvPr id="4" name="Content Placeholder 3"/>
          <p:cNvSpPr txBox="1">
            <a:spLocks/>
          </p:cNvSpPr>
          <p:nvPr/>
        </p:nvSpPr>
        <p:spPr>
          <a:xfrm>
            <a:off x="7354533" y="1130658"/>
            <a:ext cx="4837467" cy="41078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sz="2000" b="1" dirty="0">
                <a:solidFill>
                  <a:srgbClr val="FF0000"/>
                </a:solidFill>
              </a:rPr>
              <a:t>Qualitative</a:t>
            </a:r>
          </a:p>
          <a:p>
            <a:pPr>
              <a:buFont typeface="Arial" panose="020B0604020202020204" pitchFamily="34" charset="0"/>
              <a:buNone/>
            </a:pPr>
            <a:endParaRPr lang="en-US" sz="2000" b="1" dirty="0">
              <a:solidFill>
                <a:srgbClr val="FF0000"/>
              </a:solidFill>
            </a:endParaRPr>
          </a:p>
          <a:p>
            <a:pPr>
              <a:buFont typeface="Arial" panose="020B0604020202020204" pitchFamily="34" charset="0"/>
              <a:buNone/>
            </a:pPr>
            <a:r>
              <a:rPr lang="en-US" sz="2000" b="1" dirty="0">
                <a:solidFill>
                  <a:srgbClr val="FF0000"/>
                </a:solidFill>
              </a:rPr>
              <a:t>Quantitative</a:t>
            </a:r>
          </a:p>
          <a:p>
            <a:pPr>
              <a:buFont typeface="Arial" panose="020B0604020202020204" pitchFamily="34" charset="0"/>
              <a:buNone/>
            </a:pPr>
            <a:endParaRPr lang="en-US" sz="2000" b="1" dirty="0">
              <a:solidFill>
                <a:srgbClr val="FF0000"/>
              </a:solidFill>
            </a:endParaRPr>
          </a:p>
          <a:p>
            <a:pPr>
              <a:buFont typeface="Arial" panose="020B0604020202020204" pitchFamily="34" charset="0"/>
              <a:buNone/>
            </a:pPr>
            <a:r>
              <a:rPr lang="en-US" sz="2000" b="1" dirty="0">
                <a:solidFill>
                  <a:srgbClr val="FF0000"/>
                </a:solidFill>
              </a:rPr>
              <a:t>Qualitative</a:t>
            </a:r>
          </a:p>
          <a:p>
            <a:pPr>
              <a:buFont typeface="Arial" panose="020B0604020202020204" pitchFamily="34" charset="0"/>
              <a:buNone/>
            </a:pPr>
            <a:r>
              <a:rPr lang="en-US" sz="1600" i="1" dirty="0">
                <a:solidFill>
                  <a:schemeClr val="bg1">
                    <a:lumMod val="75000"/>
                  </a:schemeClr>
                </a:solidFill>
              </a:rPr>
              <a:t>(</a:t>
            </a:r>
            <a:r>
              <a:rPr lang="en-US" sz="1600" i="1" u="sng" dirty="0">
                <a:solidFill>
                  <a:schemeClr val="bg1">
                    <a:lumMod val="75000"/>
                  </a:schemeClr>
                </a:solidFill>
              </a:rPr>
              <a:t>ID number </a:t>
            </a:r>
            <a:r>
              <a:rPr lang="en-US" sz="1600" i="1" dirty="0">
                <a:solidFill>
                  <a:schemeClr val="bg1">
                    <a:lumMod val="75000"/>
                  </a:schemeClr>
                </a:solidFill>
              </a:rPr>
              <a:t>is not a measurement.)</a:t>
            </a:r>
          </a:p>
          <a:p>
            <a:pPr>
              <a:buFont typeface="Arial" panose="020B0604020202020204" pitchFamily="34" charset="0"/>
              <a:buNone/>
            </a:pPr>
            <a:r>
              <a:rPr lang="en-US" sz="2000" b="1" dirty="0">
                <a:solidFill>
                  <a:srgbClr val="FF0000"/>
                </a:solidFill>
              </a:rPr>
              <a:t>Quantitative</a:t>
            </a:r>
          </a:p>
          <a:p>
            <a:pPr>
              <a:buFont typeface="Arial" panose="020B0604020202020204" pitchFamily="34" charset="0"/>
              <a:buNone/>
            </a:pPr>
            <a:endParaRPr lang="en-US" sz="2000" b="1" dirty="0">
              <a:solidFill>
                <a:srgbClr val="FF0000"/>
              </a:solidFill>
            </a:endParaRPr>
          </a:p>
          <a:p>
            <a:pPr>
              <a:buFont typeface="Arial" panose="020B0604020202020204" pitchFamily="34" charset="0"/>
              <a:buNone/>
            </a:pPr>
            <a:r>
              <a:rPr lang="en-US" sz="2000" b="1" dirty="0">
                <a:solidFill>
                  <a:srgbClr val="FF0000"/>
                </a:solidFill>
              </a:rPr>
              <a:t>Qualitative</a:t>
            </a:r>
          </a:p>
        </p:txBody>
      </p:sp>
      <p:sp>
        <p:nvSpPr>
          <p:cNvPr id="5" name="Up-Down Arrow 4"/>
          <p:cNvSpPr/>
          <p:nvPr/>
        </p:nvSpPr>
        <p:spPr>
          <a:xfrm>
            <a:off x="7002983" y="894060"/>
            <a:ext cx="304800" cy="4933289"/>
          </a:xfrm>
          <a:prstGeom prst="upDown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Tree>
    <p:extLst>
      <p:ext uri="{BB962C8B-B14F-4D97-AF65-F5344CB8AC3E}">
        <p14:creationId xmlns:p14="http://schemas.microsoft.com/office/powerpoint/2010/main" val="3966591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down)">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wipe(down)">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wipe(down)">
                                      <p:cBhvr>
                                        <p:cTn id="32" dur="500"/>
                                        <p:tgtEl>
                                          <p:spTgt spid="3">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animEffect transition="in" filter="wipe(down)">
                                      <p:cBhvr>
                                        <p:cTn id="43" dur="500"/>
                                        <p:tgtEl>
                                          <p:spTgt spid="4">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4">
                                            <p:txEl>
                                              <p:pRg st="2" end="2"/>
                                            </p:txEl>
                                          </p:spTgt>
                                        </p:tgtEl>
                                        <p:attrNameLst>
                                          <p:attrName>style.visibility</p:attrName>
                                        </p:attrNameLst>
                                      </p:cBhvr>
                                      <p:to>
                                        <p:strVal val="visible"/>
                                      </p:to>
                                    </p:set>
                                    <p:animEffect transition="in" filter="wipe(down)">
                                      <p:cBhvr>
                                        <p:cTn id="48" dur="500"/>
                                        <p:tgtEl>
                                          <p:spTgt spid="4">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4">
                                            <p:txEl>
                                              <p:pRg st="4" end="4"/>
                                            </p:txEl>
                                          </p:spTgt>
                                        </p:tgtEl>
                                        <p:attrNameLst>
                                          <p:attrName>style.visibility</p:attrName>
                                        </p:attrNameLst>
                                      </p:cBhvr>
                                      <p:to>
                                        <p:strVal val="visible"/>
                                      </p:to>
                                    </p:set>
                                    <p:animEffect transition="in" filter="wipe(down)">
                                      <p:cBhvr>
                                        <p:cTn id="53" dur="500"/>
                                        <p:tgtEl>
                                          <p:spTgt spid="4">
                                            <p:txEl>
                                              <p:pRg st="4" end="4"/>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4">
                                            <p:txEl>
                                              <p:pRg st="5" end="5"/>
                                            </p:txEl>
                                          </p:spTgt>
                                        </p:tgtEl>
                                        <p:attrNameLst>
                                          <p:attrName>style.visibility</p:attrName>
                                        </p:attrNameLst>
                                      </p:cBhvr>
                                      <p:to>
                                        <p:strVal val="visible"/>
                                      </p:to>
                                    </p:set>
                                    <p:animEffect transition="in" filter="wipe(down)">
                                      <p:cBhvr>
                                        <p:cTn id="58" dur="500"/>
                                        <p:tgtEl>
                                          <p:spTgt spid="4">
                                            <p:txEl>
                                              <p:pRg st="5"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4">
                                            <p:txEl>
                                              <p:pRg st="6" end="6"/>
                                            </p:txEl>
                                          </p:spTgt>
                                        </p:tgtEl>
                                        <p:attrNameLst>
                                          <p:attrName>style.visibility</p:attrName>
                                        </p:attrNameLst>
                                      </p:cBhvr>
                                      <p:to>
                                        <p:strVal val="visible"/>
                                      </p:to>
                                    </p:set>
                                    <p:animEffect transition="in" filter="wipe(down)">
                                      <p:cBhvr>
                                        <p:cTn id="63" dur="500"/>
                                        <p:tgtEl>
                                          <p:spTgt spid="4">
                                            <p:txEl>
                                              <p:pRg st="6" end="6"/>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4">
                                            <p:txEl>
                                              <p:pRg st="8" end="8"/>
                                            </p:txEl>
                                          </p:spTgt>
                                        </p:tgtEl>
                                        <p:attrNameLst>
                                          <p:attrName>style.visibility</p:attrName>
                                        </p:attrNameLst>
                                      </p:cBhvr>
                                      <p:to>
                                        <p:strVal val="visible"/>
                                      </p:to>
                                    </p:set>
                                    <p:animEffect transition="in" filter="wipe(down)">
                                      <p:cBhvr>
                                        <p:cTn id="68"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51156" y="1102951"/>
            <a:ext cx="8559892" cy="4703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1"/>
          <p:cNvSpPr>
            <a:spLocks noGrp="1"/>
          </p:cNvSpPr>
          <p:nvPr>
            <p:ph type="title"/>
          </p:nvPr>
        </p:nvSpPr>
        <p:spPr>
          <a:xfrm>
            <a:off x="764479" y="250941"/>
            <a:ext cx="6282245" cy="654350"/>
          </a:xfrm>
        </p:spPr>
        <p:txBody>
          <a:bodyPr>
            <a:normAutofit fontScale="90000"/>
          </a:bodyPr>
          <a:lstStyle/>
          <a:p>
            <a:r>
              <a:rPr lang="en-US" b="1" dirty="0">
                <a:solidFill>
                  <a:srgbClr val="C00000"/>
                </a:solidFill>
              </a:rPr>
              <a:t>Discrete and Continuous Variables</a:t>
            </a:r>
          </a:p>
        </p:txBody>
      </p:sp>
    </p:spTree>
    <p:extLst>
      <p:ext uri="{BB962C8B-B14F-4D97-AF65-F5344CB8AC3E}">
        <p14:creationId xmlns:p14="http://schemas.microsoft.com/office/powerpoint/2010/main" val="511160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986444" y="1097394"/>
            <a:ext cx="9820102" cy="4023360"/>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sz="1200" b="0" i="0" kern="1200">
                <a:solidFill>
                  <a:schemeClr val="accent6"/>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400" b="1" dirty="0">
                <a:solidFill>
                  <a:srgbClr val="FF0000"/>
                </a:solidFill>
              </a:rPr>
              <a:t>Discrete variable </a:t>
            </a:r>
            <a:r>
              <a:rPr lang="en-US" sz="2400" i="1" dirty="0"/>
              <a:t>is the result of counting something and is </a:t>
            </a:r>
            <a:r>
              <a:rPr lang="en-US" sz="2400" b="1" i="1" dirty="0">
                <a:solidFill>
                  <a:schemeClr val="bg1">
                    <a:lumMod val="75000"/>
                  </a:schemeClr>
                </a:solidFill>
              </a:rPr>
              <a:t>always</a:t>
            </a:r>
            <a:r>
              <a:rPr lang="en-US" sz="2400" i="1" dirty="0">
                <a:solidFill>
                  <a:schemeClr val="bg1">
                    <a:lumMod val="75000"/>
                  </a:schemeClr>
                </a:solidFill>
              </a:rPr>
              <a:t> </a:t>
            </a:r>
            <a:r>
              <a:rPr lang="en-US" sz="2400" b="1" i="1" dirty="0">
                <a:solidFill>
                  <a:schemeClr val="bg1">
                    <a:lumMod val="75000"/>
                  </a:schemeClr>
                </a:solidFill>
              </a:rPr>
              <a:t>a whole number value.</a:t>
            </a:r>
          </a:p>
          <a:p>
            <a:pPr algn="l"/>
            <a:endParaRPr lang="en-US" sz="2400" i="1" dirty="0">
              <a:solidFill>
                <a:srgbClr val="FF0000"/>
              </a:solidFill>
            </a:endParaRPr>
          </a:p>
          <a:p>
            <a:pPr algn="l"/>
            <a:r>
              <a:rPr lang="en-US" sz="2400" i="1" dirty="0">
                <a:solidFill>
                  <a:srgbClr val="C00000"/>
                </a:solidFill>
              </a:rPr>
              <a:t> Examples:  </a:t>
            </a:r>
          </a:p>
          <a:p>
            <a:pPr lvl="1" algn="l"/>
            <a:r>
              <a:rPr lang="en-US" sz="2400" dirty="0">
                <a:solidFill>
                  <a:schemeClr val="accent6"/>
                </a:solidFill>
              </a:rPr>
              <a:t>number of students in a class.</a:t>
            </a:r>
          </a:p>
          <a:p>
            <a:pPr lvl="1" algn="l"/>
            <a:r>
              <a:rPr lang="en-US" sz="2400" dirty="0">
                <a:solidFill>
                  <a:schemeClr val="accent6"/>
                </a:solidFill>
              </a:rPr>
              <a:t>number of pens in the supply room.</a:t>
            </a:r>
          </a:p>
          <a:p>
            <a:pPr algn="l"/>
            <a:r>
              <a:rPr lang="en-US" sz="2400" dirty="0"/>
              <a:t>               </a:t>
            </a:r>
          </a:p>
        </p:txBody>
      </p:sp>
      <p:sp>
        <p:nvSpPr>
          <p:cNvPr id="3" name="Title 1"/>
          <p:cNvSpPr>
            <a:spLocks noGrp="1"/>
          </p:cNvSpPr>
          <p:nvPr>
            <p:ph type="title"/>
          </p:nvPr>
        </p:nvSpPr>
        <p:spPr>
          <a:xfrm>
            <a:off x="774104" y="270192"/>
            <a:ext cx="6282245" cy="654350"/>
          </a:xfrm>
        </p:spPr>
        <p:txBody>
          <a:bodyPr>
            <a:normAutofit/>
          </a:bodyPr>
          <a:lstStyle/>
          <a:p>
            <a:r>
              <a:rPr lang="en-US" sz="3200" b="1" dirty="0">
                <a:solidFill>
                  <a:srgbClr val="C00000"/>
                </a:solidFill>
              </a:rPr>
              <a:t>Discrete Variables</a:t>
            </a:r>
          </a:p>
        </p:txBody>
      </p:sp>
    </p:spTree>
    <p:extLst>
      <p:ext uri="{BB962C8B-B14F-4D97-AF65-F5344CB8AC3E}">
        <p14:creationId xmlns:p14="http://schemas.microsoft.com/office/powerpoint/2010/main" val="3736202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
                                            <p:txEl>
                                              <p:pRg st="0" end="0"/>
                                            </p:txEl>
                                          </p:spTgt>
                                        </p:tgtEl>
                                      </p:cBhvr>
                                    </p:animEffect>
                                    <p:animScale>
                                      <p:cBhvr>
                                        <p:cTn id="7" dur="250" autoRev="1" fill="hold"/>
                                        <p:tgtEl>
                                          <p:spTgt spid="2">
                                            <p:txEl>
                                              <p:pRg st="0" end="0"/>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2">
                                            <p:txEl>
                                              <p:pRg st="2" end="2"/>
                                            </p:txEl>
                                          </p:spTgt>
                                        </p:tgtEl>
                                      </p:cBhvr>
                                    </p:animEffect>
                                    <p:animScale>
                                      <p:cBhvr>
                                        <p:cTn id="12" dur="250" autoRev="1" fill="hold"/>
                                        <p:tgtEl>
                                          <p:spTgt spid="2">
                                            <p:txEl>
                                              <p:pRg st="2" end="2"/>
                                            </p:txEl>
                                          </p:spTgt>
                                        </p:tgtEl>
                                      </p:cBhvr>
                                      <p:by x="105000" y="105000"/>
                                    </p:animScale>
                                  </p:childTnLst>
                                </p:cTn>
                              </p:par>
                              <p:par>
                                <p:cTn id="13" presetID="26" presetClass="emph" presetSubtype="0" fill="hold" grpId="0" nodeType="withEffect">
                                  <p:stCondLst>
                                    <p:cond delay="0"/>
                                  </p:stCondLst>
                                  <p:childTnLst>
                                    <p:animEffect transition="out" filter="fade">
                                      <p:cBhvr>
                                        <p:cTn id="14" dur="500" tmFilter="0, 0; .2, .5; .8, .5; 1, 0"/>
                                        <p:tgtEl>
                                          <p:spTgt spid="2">
                                            <p:txEl>
                                              <p:pRg st="3" end="3"/>
                                            </p:txEl>
                                          </p:spTgt>
                                        </p:tgtEl>
                                      </p:cBhvr>
                                    </p:animEffect>
                                    <p:animScale>
                                      <p:cBhvr>
                                        <p:cTn id="15" dur="250" autoRev="1" fill="hold"/>
                                        <p:tgtEl>
                                          <p:spTgt spid="2">
                                            <p:txEl>
                                              <p:pRg st="3" end="3"/>
                                            </p:txEl>
                                          </p:spTgt>
                                        </p:tgtEl>
                                      </p:cBhvr>
                                      <p:by x="105000" y="105000"/>
                                    </p:animScale>
                                  </p:childTnLst>
                                </p:cTn>
                              </p:par>
                              <p:par>
                                <p:cTn id="16" presetID="26" presetClass="emph" presetSubtype="0" fill="hold" grpId="0" nodeType="withEffect">
                                  <p:stCondLst>
                                    <p:cond delay="0"/>
                                  </p:stCondLst>
                                  <p:childTnLst>
                                    <p:animEffect transition="out" filter="fade">
                                      <p:cBhvr>
                                        <p:cTn id="17" dur="500" tmFilter="0, 0; .2, .5; .8, .5; 1, 0"/>
                                        <p:tgtEl>
                                          <p:spTgt spid="2">
                                            <p:txEl>
                                              <p:pRg st="4" end="4"/>
                                            </p:txEl>
                                          </p:spTgt>
                                        </p:tgtEl>
                                      </p:cBhvr>
                                    </p:animEffect>
                                    <p:animScale>
                                      <p:cBhvr>
                                        <p:cTn id="18" dur="250" autoRev="1" fill="hold"/>
                                        <p:tgtEl>
                                          <p:spTgt spid="2">
                                            <p:txEl>
                                              <p:pRg st="4" end="4"/>
                                            </p:txEl>
                                          </p:spTgt>
                                        </p:tgtEl>
                                      </p:cBhvr>
                                      <p:by x="105000" y="105000"/>
                                    </p:animScale>
                                  </p:childTnLst>
                                </p:cTn>
                              </p:par>
                            </p:childTnLst>
                          </p:cTn>
                        </p:par>
                      </p:childTnLst>
                    </p:cTn>
                  </p:par>
                  <p:par>
                    <p:cTn id="19" fill="hold">
                      <p:stCondLst>
                        <p:cond delay="indefinite"/>
                      </p:stCondLst>
                      <p:childTnLst>
                        <p:par>
                          <p:cTn id="20" fill="hold">
                            <p:stCondLst>
                              <p:cond delay="0"/>
                            </p:stCondLst>
                            <p:childTnLst>
                              <p:par>
                                <p:cTn id="21" presetID="26" presetClass="emph" presetSubtype="0" fill="hold" grpId="0" nodeType="clickEffect">
                                  <p:stCondLst>
                                    <p:cond delay="0"/>
                                  </p:stCondLst>
                                  <p:childTnLst>
                                    <p:animEffect transition="out" filter="fade">
                                      <p:cBhvr>
                                        <p:cTn id="22" dur="500" tmFilter="0, 0; .2, .5; .8, .5; 1, 0"/>
                                        <p:tgtEl>
                                          <p:spTgt spid="2">
                                            <p:txEl>
                                              <p:pRg st="5" end="5"/>
                                            </p:txEl>
                                          </p:spTgt>
                                        </p:tgtEl>
                                      </p:cBhvr>
                                    </p:animEffect>
                                    <p:animScale>
                                      <p:cBhvr>
                                        <p:cTn id="23" dur="250" autoRev="1" fill="hold"/>
                                        <p:tgtEl>
                                          <p:spTgt spid="2">
                                            <p:txEl>
                                              <p:pRg st="5" end="5"/>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947358" y="1125261"/>
            <a:ext cx="11109273" cy="4191000"/>
          </a:xfrm>
          <a:prstGeom prst="rect">
            <a:avLst/>
          </a:prstGeom>
        </p:spPr>
        <p:txBody>
          <a:bodyPr vert="horz" lIns="91440" tIns="45720" rIns="91440" bIns="45720" rtlCol="0">
            <a:noAutofit/>
          </a:bodyPr>
          <a:lstStyle>
            <a:lvl1pPr marL="0" indent="0" algn="r" defTabSz="914400" rtl="0" eaLnBrk="1" latinLnBrk="0" hangingPunct="1">
              <a:lnSpc>
                <a:spcPct val="90000"/>
              </a:lnSpc>
              <a:spcBef>
                <a:spcPts val="1000"/>
              </a:spcBef>
              <a:buFont typeface="Arial" panose="020B0604020202020204" pitchFamily="34" charset="0"/>
              <a:buNone/>
              <a:defRPr sz="1200" b="0" i="0" kern="1200">
                <a:solidFill>
                  <a:schemeClr val="accent6"/>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400" dirty="0"/>
              <a:t>A </a:t>
            </a:r>
            <a:r>
              <a:rPr lang="en-US" sz="2400" b="1" dirty="0">
                <a:solidFill>
                  <a:srgbClr val="FF0000"/>
                </a:solidFill>
              </a:rPr>
              <a:t>continuous variable </a:t>
            </a:r>
            <a:r>
              <a:rPr lang="en-US" sz="2400" i="1" dirty="0"/>
              <a:t>is one that is measured and </a:t>
            </a:r>
            <a:r>
              <a:rPr lang="en-US" sz="2400" b="1" i="1" dirty="0">
                <a:solidFill>
                  <a:schemeClr val="bg1">
                    <a:lumMod val="75000"/>
                  </a:schemeClr>
                </a:solidFill>
              </a:rPr>
              <a:t>can change over time.</a:t>
            </a:r>
          </a:p>
          <a:p>
            <a:pPr algn="l"/>
            <a:endParaRPr lang="en-US" sz="2400" b="1" i="1" dirty="0">
              <a:solidFill>
                <a:schemeClr val="accent3">
                  <a:lumMod val="75000"/>
                </a:schemeClr>
              </a:solidFill>
            </a:endParaRPr>
          </a:p>
          <a:p>
            <a:pPr algn="l"/>
            <a:r>
              <a:rPr lang="en-US" sz="2400" i="1" dirty="0">
                <a:solidFill>
                  <a:srgbClr val="C00000"/>
                </a:solidFill>
              </a:rPr>
              <a:t> Examples:  </a:t>
            </a:r>
          </a:p>
          <a:p>
            <a:pPr lvl="1" algn="l"/>
            <a:r>
              <a:rPr lang="en-US" sz="2400" dirty="0"/>
              <a:t> </a:t>
            </a:r>
            <a:r>
              <a:rPr lang="en-US" sz="2400" dirty="0">
                <a:solidFill>
                  <a:schemeClr val="accent6"/>
                </a:solidFill>
              </a:rPr>
              <a:t>Height of a student in the class.</a:t>
            </a:r>
          </a:p>
          <a:p>
            <a:pPr lvl="1" algn="l"/>
            <a:r>
              <a:rPr lang="en-US" sz="2400" dirty="0">
                <a:solidFill>
                  <a:schemeClr val="accent6"/>
                </a:solidFill>
              </a:rPr>
              <a:t> Length of time required to do a test.</a:t>
            </a:r>
          </a:p>
          <a:p>
            <a:pPr lvl="1" algn="l"/>
            <a:r>
              <a:rPr lang="en-US" sz="2400" dirty="0">
                <a:solidFill>
                  <a:schemeClr val="accent6"/>
                </a:solidFill>
              </a:rPr>
              <a:t> Distance to Abu Dhabi to Dubai.</a:t>
            </a:r>
          </a:p>
          <a:p>
            <a:pPr algn="l"/>
            <a:endParaRPr lang="en-US" sz="2400" dirty="0"/>
          </a:p>
        </p:txBody>
      </p:sp>
      <p:sp>
        <p:nvSpPr>
          <p:cNvPr id="3" name="Title 1"/>
          <p:cNvSpPr>
            <a:spLocks noGrp="1"/>
          </p:cNvSpPr>
          <p:nvPr>
            <p:ph type="title"/>
          </p:nvPr>
        </p:nvSpPr>
        <p:spPr>
          <a:xfrm>
            <a:off x="822230" y="279816"/>
            <a:ext cx="6282245" cy="654350"/>
          </a:xfrm>
        </p:spPr>
        <p:txBody>
          <a:bodyPr>
            <a:normAutofit/>
          </a:bodyPr>
          <a:lstStyle/>
          <a:p>
            <a:r>
              <a:rPr lang="en-US" sz="3200" b="1" dirty="0">
                <a:solidFill>
                  <a:srgbClr val="C00000"/>
                </a:solidFill>
              </a:rPr>
              <a:t>Continuous Variables</a:t>
            </a:r>
          </a:p>
        </p:txBody>
      </p:sp>
    </p:spTree>
    <p:extLst>
      <p:ext uri="{BB962C8B-B14F-4D97-AF65-F5344CB8AC3E}">
        <p14:creationId xmlns:p14="http://schemas.microsoft.com/office/powerpoint/2010/main" val="2986387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
                                            <p:txEl>
                                              <p:pRg st="0" end="0"/>
                                            </p:txEl>
                                          </p:spTgt>
                                        </p:tgtEl>
                                      </p:cBhvr>
                                    </p:animEffect>
                                    <p:animScale>
                                      <p:cBhvr>
                                        <p:cTn id="7" dur="250" autoRev="1" fill="hold"/>
                                        <p:tgtEl>
                                          <p:spTgt spid="2">
                                            <p:txEl>
                                              <p:pRg st="0" end="0"/>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2">
                                            <p:txEl>
                                              <p:pRg st="2" end="2"/>
                                            </p:txEl>
                                          </p:spTgt>
                                        </p:tgtEl>
                                      </p:cBhvr>
                                    </p:animEffect>
                                    <p:animScale>
                                      <p:cBhvr>
                                        <p:cTn id="12" dur="250" autoRev="1" fill="hold"/>
                                        <p:tgtEl>
                                          <p:spTgt spid="2">
                                            <p:txEl>
                                              <p:pRg st="2" end="2"/>
                                            </p:txEl>
                                          </p:spTgt>
                                        </p:tgtEl>
                                      </p:cBhvr>
                                      <p:by x="105000" y="105000"/>
                                    </p:animScale>
                                  </p:childTnLst>
                                </p:cTn>
                              </p:par>
                              <p:par>
                                <p:cTn id="13" presetID="26" presetClass="emph" presetSubtype="0" fill="hold" grpId="0" nodeType="withEffect">
                                  <p:stCondLst>
                                    <p:cond delay="0"/>
                                  </p:stCondLst>
                                  <p:childTnLst>
                                    <p:animEffect transition="out" filter="fade">
                                      <p:cBhvr>
                                        <p:cTn id="14" dur="500" tmFilter="0, 0; .2, .5; .8, .5; 1, 0"/>
                                        <p:tgtEl>
                                          <p:spTgt spid="2">
                                            <p:txEl>
                                              <p:pRg st="3" end="3"/>
                                            </p:txEl>
                                          </p:spTgt>
                                        </p:tgtEl>
                                      </p:cBhvr>
                                    </p:animEffect>
                                    <p:animScale>
                                      <p:cBhvr>
                                        <p:cTn id="15" dur="250" autoRev="1" fill="hold"/>
                                        <p:tgtEl>
                                          <p:spTgt spid="2">
                                            <p:txEl>
                                              <p:pRg st="3" end="3"/>
                                            </p:txEl>
                                          </p:spTgt>
                                        </p:tgtEl>
                                      </p:cBhvr>
                                      <p:by x="105000" y="105000"/>
                                    </p:animScale>
                                  </p:childTnLst>
                                </p:cTn>
                              </p:par>
                              <p:par>
                                <p:cTn id="16" presetID="26" presetClass="emph" presetSubtype="0" fill="hold" grpId="0" nodeType="withEffect">
                                  <p:stCondLst>
                                    <p:cond delay="0"/>
                                  </p:stCondLst>
                                  <p:childTnLst>
                                    <p:animEffect transition="out" filter="fade">
                                      <p:cBhvr>
                                        <p:cTn id="17" dur="500" tmFilter="0, 0; .2, .5; .8, .5; 1, 0"/>
                                        <p:tgtEl>
                                          <p:spTgt spid="2">
                                            <p:txEl>
                                              <p:pRg st="4" end="4"/>
                                            </p:txEl>
                                          </p:spTgt>
                                        </p:tgtEl>
                                      </p:cBhvr>
                                    </p:animEffect>
                                    <p:animScale>
                                      <p:cBhvr>
                                        <p:cTn id="18" dur="250" autoRev="1" fill="hold"/>
                                        <p:tgtEl>
                                          <p:spTgt spid="2">
                                            <p:txEl>
                                              <p:pRg st="4" end="4"/>
                                            </p:txEl>
                                          </p:spTgt>
                                        </p:tgtEl>
                                      </p:cBhvr>
                                      <p:by x="105000" y="105000"/>
                                    </p:animScale>
                                  </p:childTnLst>
                                </p:cTn>
                              </p:par>
                              <p:par>
                                <p:cTn id="19" presetID="26" presetClass="emph" presetSubtype="0" fill="hold" grpId="0" nodeType="withEffect">
                                  <p:stCondLst>
                                    <p:cond delay="0"/>
                                  </p:stCondLst>
                                  <p:childTnLst>
                                    <p:animEffect transition="out" filter="fade">
                                      <p:cBhvr>
                                        <p:cTn id="20" dur="500" tmFilter="0, 0; .2, .5; .8, .5; 1, 0"/>
                                        <p:tgtEl>
                                          <p:spTgt spid="2">
                                            <p:txEl>
                                              <p:pRg st="5" end="5"/>
                                            </p:txEl>
                                          </p:spTgt>
                                        </p:tgtEl>
                                      </p:cBhvr>
                                    </p:animEffect>
                                    <p:animScale>
                                      <p:cBhvr>
                                        <p:cTn id="21" dur="250" autoRev="1" fill="hold"/>
                                        <p:tgtEl>
                                          <p:spTgt spid="2">
                                            <p:txEl>
                                              <p:pRg st="5" end="5"/>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8147" y="358310"/>
            <a:ext cx="7386959" cy="682427"/>
          </a:xfrm>
        </p:spPr>
        <p:txBody>
          <a:bodyPr>
            <a:noAutofit/>
          </a:bodyPr>
          <a:lstStyle/>
          <a:p>
            <a:r>
              <a:rPr lang="en-US" sz="2800" b="0" dirty="0">
                <a:solidFill>
                  <a:srgbClr val="C00000"/>
                </a:solidFill>
              </a:rPr>
              <a:t>Examples: Discrete or Continuous Variables</a:t>
            </a:r>
          </a:p>
        </p:txBody>
      </p:sp>
      <p:sp>
        <p:nvSpPr>
          <p:cNvPr id="3" name="Content Placeholder 2"/>
          <p:cNvSpPr txBox="1">
            <a:spLocks/>
          </p:cNvSpPr>
          <p:nvPr/>
        </p:nvSpPr>
        <p:spPr>
          <a:xfrm>
            <a:off x="1097279" y="1316345"/>
            <a:ext cx="7107827" cy="4023360"/>
          </a:xfrm>
          <a:prstGeom prst="rect">
            <a:avLst/>
          </a:prstGeom>
        </p:spPr>
        <p:txBody>
          <a:bodyPr vert="horz" lIns="91440" tIns="45720" rIns="91440" bIns="45720" rtlCol="0">
            <a:normAutofit/>
          </a:bodyPr>
          <a:lstStyle>
            <a:lvl1pPr marL="0" indent="0" algn="r" defTabSz="914400" rtl="0" eaLnBrk="1" latinLnBrk="0" hangingPunct="1">
              <a:lnSpc>
                <a:spcPct val="90000"/>
              </a:lnSpc>
              <a:spcBef>
                <a:spcPts val="1000"/>
              </a:spcBef>
              <a:buFont typeface="Arial" panose="020B0604020202020204" pitchFamily="34" charset="0"/>
              <a:buNone/>
              <a:defRPr sz="1200" b="0" i="0" kern="1200">
                <a:solidFill>
                  <a:schemeClr val="accent6"/>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400" i="1" dirty="0"/>
              <a:t>1. The weight of a chicken.</a:t>
            </a:r>
          </a:p>
          <a:p>
            <a:pPr algn="l"/>
            <a:endParaRPr lang="en-US" sz="2400" i="1" dirty="0"/>
          </a:p>
          <a:p>
            <a:pPr algn="l"/>
            <a:r>
              <a:rPr lang="en-US" sz="2400" i="1" dirty="0"/>
              <a:t>2. The number of pizzas sold last week.</a:t>
            </a:r>
          </a:p>
          <a:p>
            <a:pPr algn="l"/>
            <a:endParaRPr lang="en-US" sz="2400" i="1" dirty="0"/>
          </a:p>
          <a:p>
            <a:pPr algn="l"/>
            <a:r>
              <a:rPr lang="en-US" sz="2400" i="1" dirty="0"/>
              <a:t>3. The number of teachers at RKW.</a:t>
            </a:r>
          </a:p>
          <a:p>
            <a:pPr algn="l"/>
            <a:endParaRPr lang="en-US" sz="2400" i="1" dirty="0"/>
          </a:p>
          <a:p>
            <a:pPr algn="l"/>
            <a:r>
              <a:rPr lang="en-US" sz="2400" i="1" dirty="0"/>
              <a:t>4. The capacity of a water glass.</a:t>
            </a:r>
          </a:p>
        </p:txBody>
      </p:sp>
      <p:sp>
        <p:nvSpPr>
          <p:cNvPr id="4" name="Content Placeholder 3"/>
          <p:cNvSpPr txBox="1">
            <a:spLocks/>
          </p:cNvSpPr>
          <p:nvPr/>
        </p:nvSpPr>
        <p:spPr>
          <a:xfrm>
            <a:off x="8036747" y="1391058"/>
            <a:ext cx="2284153" cy="54309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sz="2400" b="1" dirty="0">
                <a:latin typeface="+mj-lt"/>
              </a:rPr>
              <a:t> </a:t>
            </a:r>
            <a:r>
              <a:rPr lang="en-US" sz="2400" b="1" dirty="0">
                <a:solidFill>
                  <a:srgbClr val="FF0000"/>
                </a:solidFill>
                <a:latin typeface="+mj-lt"/>
              </a:rPr>
              <a:t>Continuous</a:t>
            </a:r>
          </a:p>
        </p:txBody>
      </p:sp>
      <p:sp>
        <p:nvSpPr>
          <p:cNvPr id="5" name="Up-Down Arrow 4"/>
          <p:cNvSpPr/>
          <p:nvPr/>
        </p:nvSpPr>
        <p:spPr>
          <a:xfrm>
            <a:off x="7298871" y="1148072"/>
            <a:ext cx="304800" cy="3564011"/>
          </a:xfrm>
          <a:prstGeom prst="upDown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b="1"/>
          </a:p>
        </p:txBody>
      </p:sp>
      <p:sp>
        <p:nvSpPr>
          <p:cNvPr id="6" name="Content Placeholder 3"/>
          <p:cNvSpPr txBox="1">
            <a:spLocks/>
          </p:cNvSpPr>
          <p:nvPr/>
        </p:nvSpPr>
        <p:spPr>
          <a:xfrm>
            <a:off x="8036748" y="3914086"/>
            <a:ext cx="2284153" cy="5430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b="1" dirty="0"/>
              <a:t> </a:t>
            </a:r>
            <a:r>
              <a:rPr lang="en-US" b="1" dirty="0">
                <a:solidFill>
                  <a:srgbClr val="FF0000"/>
                </a:solidFill>
              </a:rPr>
              <a:t>Continuous</a:t>
            </a:r>
          </a:p>
        </p:txBody>
      </p:sp>
      <p:sp>
        <p:nvSpPr>
          <p:cNvPr id="7" name="Content Placeholder 3"/>
          <p:cNvSpPr txBox="1">
            <a:spLocks/>
          </p:cNvSpPr>
          <p:nvPr/>
        </p:nvSpPr>
        <p:spPr>
          <a:xfrm>
            <a:off x="8036750" y="2193354"/>
            <a:ext cx="2284153" cy="5430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b="1" dirty="0"/>
              <a:t> </a:t>
            </a:r>
            <a:r>
              <a:rPr lang="en-US" b="1" dirty="0">
                <a:solidFill>
                  <a:srgbClr val="FF0000"/>
                </a:solidFill>
              </a:rPr>
              <a:t>Discrete</a:t>
            </a:r>
          </a:p>
        </p:txBody>
      </p:sp>
      <p:sp>
        <p:nvSpPr>
          <p:cNvPr id="8" name="Content Placeholder 3"/>
          <p:cNvSpPr txBox="1">
            <a:spLocks/>
          </p:cNvSpPr>
          <p:nvPr/>
        </p:nvSpPr>
        <p:spPr>
          <a:xfrm>
            <a:off x="8036749" y="3029693"/>
            <a:ext cx="2284153" cy="5430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b="1" dirty="0"/>
              <a:t> </a:t>
            </a:r>
            <a:r>
              <a:rPr lang="en-US" b="1" dirty="0">
                <a:solidFill>
                  <a:srgbClr val="FF0000"/>
                </a:solidFill>
              </a:rPr>
              <a:t>Discrete</a:t>
            </a:r>
          </a:p>
        </p:txBody>
      </p:sp>
    </p:spTree>
    <p:extLst>
      <p:ext uri="{BB962C8B-B14F-4D97-AF65-F5344CB8AC3E}">
        <p14:creationId xmlns:p14="http://schemas.microsoft.com/office/powerpoint/2010/main" val="2137122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down)">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animEffect transition="in" filter="wipe(down)">
                                      <p:cBhvr>
                                        <p:cTn id="33" dur="500"/>
                                        <p:tgtEl>
                                          <p:spTgt spid="4">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7">
                                            <p:txEl>
                                              <p:pRg st="0" end="0"/>
                                            </p:txEl>
                                          </p:spTgt>
                                        </p:tgtEl>
                                        <p:attrNameLst>
                                          <p:attrName>style.visibility</p:attrName>
                                        </p:attrNameLst>
                                      </p:cBhvr>
                                      <p:to>
                                        <p:strVal val="visible"/>
                                      </p:to>
                                    </p:set>
                                    <p:animEffect transition="in" filter="wipe(down)">
                                      <p:cBhvr>
                                        <p:cTn id="38" dur="500"/>
                                        <p:tgtEl>
                                          <p:spTgt spid="7">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8">
                                            <p:txEl>
                                              <p:pRg st="0" end="0"/>
                                            </p:txEl>
                                          </p:spTgt>
                                        </p:tgtEl>
                                        <p:attrNameLst>
                                          <p:attrName>style.visibility</p:attrName>
                                        </p:attrNameLst>
                                      </p:cBhvr>
                                      <p:to>
                                        <p:strVal val="visible"/>
                                      </p:to>
                                    </p:set>
                                    <p:animEffect transition="in" filter="wipe(down)">
                                      <p:cBhvr>
                                        <p:cTn id="43" dur="500"/>
                                        <p:tgtEl>
                                          <p:spTgt spid="8">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6">
                                            <p:txEl>
                                              <p:pRg st="0" end="0"/>
                                            </p:txEl>
                                          </p:spTgt>
                                        </p:tgtEl>
                                        <p:attrNameLst>
                                          <p:attrName>style.visibility</p:attrName>
                                        </p:attrNameLst>
                                      </p:cBhvr>
                                      <p:to>
                                        <p:strVal val="visible"/>
                                      </p:to>
                                    </p:set>
                                    <p:animEffect transition="in" filter="wipe(down)">
                                      <p:cBhvr>
                                        <p:cTn id="48"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animBg="1"/>
      <p:bldP spid="6" grpId="0" build="p"/>
      <p:bldP spid="7" grpId="0" build="p"/>
      <p:bldP spid="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3168179"/>
            <a:ext cx="12192000" cy="1200329"/>
          </a:xfrm>
          <a:prstGeom prst="rect">
            <a:avLst/>
          </a:prstGeom>
          <a:noFill/>
        </p:spPr>
        <p:txBody>
          <a:bodyPr wrap="square" rtlCol="0">
            <a:spAutoFit/>
          </a:bodyPr>
          <a:lstStyle/>
          <a:p>
            <a:pPr algn="ctr"/>
            <a:r>
              <a:rPr lang="en-US" sz="7200" b="1" dirty="0">
                <a:solidFill>
                  <a:schemeClr val="bg2"/>
                </a:solidFill>
                <a:latin typeface="Tahoma" panose="020B0604030504040204" pitchFamily="34" charset="0"/>
                <a:ea typeface="Tahoma" panose="020B0604030504040204" pitchFamily="34" charset="0"/>
                <a:cs typeface="Tahoma" panose="020B0604030504040204" pitchFamily="34" charset="0"/>
              </a:rPr>
              <a:t>Thank You</a:t>
            </a:r>
          </a:p>
        </p:txBody>
      </p:sp>
    </p:spTree>
    <p:extLst>
      <p:ext uri="{BB962C8B-B14F-4D97-AF65-F5344CB8AC3E}">
        <p14:creationId xmlns:p14="http://schemas.microsoft.com/office/powerpoint/2010/main" val="3769315409"/>
      </p:ext>
    </p:extLst>
  </p:cSld>
  <p:clrMapOvr>
    <a:masterClrMapping/>
  </p:clrMapOvr>
</p:sld>
</file>

<file path=ppt/theme/theme1.xml><?xml version="1.0" encoding="utf-8"?>
<a:theme xmlns:a="http://schemas.openxmlformats.org/drawingml/2006/main" name="Office Theme">
  <a:themeElements>
    <a:clrScheme name="HCT COLORS">
      <a:dk1>
        <a:srgbClr val="00249C"/>
      </a:dk1>
      <a:lt1>
        <a:srgbClr val="46D6AB"/>
      </a:lt1>
      <a:dk2>
        <a:srgbClr val="00249C"/>
      </a:dk2>
      <a:lt2>
        <a:srgbClr val="FFFFFF"/>
      </a:lt2>
      <a:accent1>
        <a:srgbClr val="BA28BA"/>
      </a:accent1>
      <a:accent2>
        <a:srgbClr val="00A3E1"/>
      </a:accent2>
      <a:accent3>
        <a:srgbClr val="B1E4E2"/>
      </a:accent3>
      <a:accent4>
        <a:srgbClr val="C4E86C"/>
      </a:accent4>
      <a:accent5>
        <a:srgbClr val="F7E948"/>
      </a:accent5>
      <a:accent6>
        <a:srgbClr val="2C2825"/>
      </a:accent6>
      <a:hlink>
        <a:srgbClr val="46D6AB"/>
      </a:hlink>
      <a:folHlink>
        <a:srgbClr val="46D6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CT-English-PPT" id="{66C1D627-B2B5-CC49-A3B4-7C85DDDC73E2}" vid="{1B779F52-C459-FE44-A2F4-9C273C3439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5D17FD735A15D408BAD2726EB9B08D8" ma:contentTypeVersion="9" ma:contentTypeDescription="Create a new document." ma:contentTypeScope="" ma:versionID="03db12c811eb4c36d2fd864cc384a820">
  <xsd:schema xmlns:xsd="http://www.w3.org/2001/XMLSchema" xmlns:xs="http://www.w3.org/2001/XMLSchema" xmlns:p="http://schemas.microsoft.com/office/2006/metadata/properties" xmlns:ns2="ab15516c-4142-4136-b6b8-60828c6cc00d" targetNamespace="http://schemas.microsoft.com/office/2006/metadata/properties" ma:root="true" ma:fieldsID="23de3073523a5cc0130e9d9b725d9ec5" ns2:_="">
    <xsd:import namespace="ab15516c-4142-4136-b6b8-60828c6cc00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15516c-4142-4136-b6b8-60828c6cc0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fad014b-9ecf-467c-8055-4c21d3af35f7"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b15516c-4142-4136-b6b8-60828c6cc00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53933A2-F28B-4B7F-962D-3ED043977078}">
  <ds:schemaRefs>
    <ds:schemaRef ds:uri="http://schemas.microsoft.com/sharepoint/v3/contenttype/forms"/>
  </ds:schemaRefs>
</ds:datastoreItem>
</file>

<file path=customXml/itemProps2.xml><?xml version="1.0" encoding="utf-8"?>
<ds:datastoreItem xmlns:ds="http://schemas.openxmlformats.org/officeDocument/2006/customXml" ds:itemID="{479BF8C5-C095-4CC1-B785-904A2AE551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b15516c-4142-4136-b6b8-60828c6cc0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DFAB576-852F-4F10-B4FD-CC105C730F3D}">
  <ds:schemaRefs>
    <ds:schemaRef ds:uri="http://purl.org/dc/elements/1.1/"/>
    <ds:schemaRef ds:uri="http://www.w3.org/XML/1998/namespace"/>
    <ds:schemaRef ds:uri="http://schemas.openxmlformats.org/package/2006/metadata/core-properties"/>
    <ds:schemaRef ds:uri="http://schemas.microsoft.com/office/2006/documentManagement/types"/>
    <ds:schemaRef ds:uri="http://purl.org/dc/dcmitype/"/>
    <ds:schemaRef ds:uri="http://purl.org/dc/terms/"/>
    <ds:schemaRef ds:uri="http://schemas.microsoft.com/office/infopath/2007/PartnerControls"/>
    <ds:schemaRef ds:uri="b13147af-a88e-4eb9-b1f6-01a7646d81c3"/>
    <ds:schemaRef ds:uri="http://schemas.microsoft.com/office/2006/metadata/properties"/>
    <ds:schemaRef ds:uri="ab15516c-4142-4136-b6b8-60828c6cc00d"/>
  </ds:schemaRefs>
</ds:datastoreItem>
</file>

<file path=docProps/app.xml><?xml version="1.0" encoding="utf-8"?>
<Properties xmlns="http://schemas.openxmlformats.org/officeDocument/2006/extended-properties" xmlns:vt="http://schemas.openxmlformats.org/officeDocument/2006/docPropsVTypes">
  <Template/>
  <TotalTime>181</TotalTime>
  <Words>534</Words>
  <Application>Microsoft Office PowerPoint</Application>
  <PresentationFormat>Widescreen</PresentationFormat>
  <Paragraphs>104</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CLO 1.1  Demonstrate Knowledge of Statistical Terms and Types of Data </vt:lpstr>
      <vt:lpstr>Statistics involves: </vt:lpstr>
      <vt:lpstr>Example 1:</vt:lpstr>
      <vt:lpstr>PowerPoint Presentation</vt:lpstr>
      <vt:lpstr>Example 2.</vt:lpstr>
      <vt:lpstr>Data:</vt:lpstr>
      <vt:lpstr>Qualitative and Quantitative Data:</vt:lpstr>
      <vt:lpstr> Examples: Qualitative or Quantitative Data? </vt:lpstr>
      <vt:lpstr>Discrete and Continuous Variables</vt:lpstr>
      <vt:lpstr>Discrete Variables</vt:lpstr>
      <vt:lpstr>Continuous Variables</vt:lpstr>
      <vt:lpstr>Examples: Discrete or Continuous Variables</vt:lpstr>
      <vt:lpstr>PowerPoint Presentation</vt:lpstr>
    </vt:vector>
  </TitlesOfParts>
  <Manager/>
  <Company>Higher Colleges of Technology (HCT)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HCT PowerPoint Presentation Template English</dc:title>
  <dc:subject/>
  <dc:creator>Nap Abdon;Jen Dela Torre</dc:creator>
  <cp:keywords/>
  <dc:description/>
  <cp:lastModifiedBy>Hisham Hanfy</cp:lastModifiedBy>
  <cp:revision>36</cp:revision>
  <dcterms:created xsi:type="dcterms:W3CDTF">2021-09-13T06:42:37Z</dcterms:created>
  <dcterms:modified xsi:type="dcterms:W3CDTF">2026-09-22T03:12:16Z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0x01010085D17FD735A15D408BAD2726EB9B08D8</vt:lpwstr>
  </property>
</Properties>
</file>